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68" r:id="rId6"/>
    <p:sldId id="259" r:id="rId7"/>
    <p:sldId id="260" r:id="rId8"/>
    <p:sldId id="269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19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9EECAA-D589-8F6F-ECF6-367CC2581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03B74C1-1EEB-59CF-E5B5-ABAD3A947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2094A0-469E-C078-D47A-99903ABD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6DB848-2921-FC1A-0CEF-E2496604D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890C91-31D1-6E06-8970-52C266F3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7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62E43-9DE0-FE23-AB2D-7C96FC42C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190871-AAAA-80CB-CC4E-9F0BBC97E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07DD99-74A8-BD71-8A96-33AEECD3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EAF72C-6E19-0374-FE77-20B0B48E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6DAE7A-676A-DCA7-92CF-04E4A4CB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78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699F71-D0C3-1CB8-FC60-87A21B58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791A7E-8322-BD41-C5C4-64FE8B645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9AA571-B7AB-49D2-F6B6-AE677F55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B4F737-7DFA-CE53-BB5A-D3A12466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24D3E7-97A6-8A51-5EB0-A1A7345D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526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10945F-733B-6B0A-095B-81C38CF1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4A8F79-B5AC-F119-071B-FA5A1CACC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80EFE5-3ABE-489E-A916-F07D79DFF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57805C-9F1C-E128-5AF8-529BCCB3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89FC62-709E-C64F-D689-32353A04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72AAC0-0B66-62E6-2266-6D9AD7FE1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52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2E4916-402E-F7EC-8903-25CBECC63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706C9C-B38E-C649-53F0-DAB2F03D9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F6409C-B915-2920-6D1B-6F9017319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E198CB-AA69-F077-677D-3C4C7F0F5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30808A-8B09-7755-D18F-783556F9E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E1DC7BA-0329-3B40-31FF-8841D8DCB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3786573-DC89-95B3-7810-FCD922AB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462CA16-6F0A-AA62-F3CE-E4484453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2426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F212E6-8DB6-9BFC-65E4-E0A6C042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EEC2737-B39D-96DF-1DA1-EADE8DADE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244AAE-F49C-0C83-F642-0FB02809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1D1374F-3474-991B-F2B2-35929B79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065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21FDBBB-AC41-3C1E-ACDB-078931CD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A3E645-A27F-5CCB-164F-500EE13C0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F18BAA-7065-793B-BF54-D81707698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56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CEBE88-FEEE-AB63-74A2-D6DD8953F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4821B0-5748-5479-A1E7-9033106F5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24C4B6-27D1-CC71-5873-391B276EE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48DB26D-C5A3-FBE5-9ACE-37ECF087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13576E-3BBE-AD44-7767-34A29208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85405D-93A5-DCE6-5839-30C8D30F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23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97593-47DF-C7FD-C830-5CAFBD7A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6FF11FB-0E24-4DBD-43C9-0B590F782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D9BCDE-0581-6906-B36B-9C3233A1D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2948F0-01BA-6680-1FF0-6DB292C4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28021F-1FB0-FA5C-5290-CB7B75653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901B11-2253-179E-E249-65B92355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003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2F9C66-868E-96EA-EF76-6E531A0B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FF88CB3-A6B2-963B-235F-FCCF7C73A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25AAA1-71DB-3793-2F3A-9C1BFB76C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DB34AE-C8DA-BBF2-6AD6-34EB3156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62D906-C4FC-C5BC-92AC-EB4F095A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615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5B76CF-44E5-3BD2-A75A-9160EFF72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C3D8EA5-6EE4-0D93-761B-99044D387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C5E449-0FF1-6130-8E19-A423B3B2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84B74D-DEA4-8E3D-5920-7FA544C8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6ED9F8-FFD7-C4F9-4F21-7B922E8C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045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D5FCBA0-F1FB-8042-9585-9AB6990A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14DA22-FB3E-132F-0855-657BC05AE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628079-8524-31F0-AEC0-E2689C2E0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40A93-6B65-4FAD-8AB2-B37D7A1AD896}" type="datetimeFigureOut">
              <a:rPr lang="de-DE" smtClean="0"/>
              <a:t>05.08.2024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1AC183-23B3-AD9A-E31D-90856E7D1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660454-FD04-2A41-E256-7F226095C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C7909-CFCF-4373-B58F-EC2007D00E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6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B6239C4C-7EC0-400A-982F-118837364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376620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9996211-9CB9-8AD4-EC4A-D576B4C2D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6209"/>
            <a:ext cx="5020574" cy="310179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728D360-1648-4463-D1CA-435036D29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336" y="3755490"/>
            <a:ext cx="5020574" cy="310251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5E0CE307-F8AF-4F3A-D973-8F6F9D58F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61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DC78AD-B14A-C15C-757A-DDFAB9776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600" dirty="0"/>
              <a:t>Fall 9016278 </a:t>
            </a:r>
          </a:p>
          <a:p>
            <a:pPr lvl="1"/>
            <a:r>
              <a:rPr lang="de-DE" sz="1600" dirty="0"/>
              <a:t>GOT: 7TV 235,8 , 2TV 192,6 , d3: 178,8 , d7: 244,8 </a:t>
            </a:r>
          </a:p>
          <a:p>
            <a:pPr lvl="1"/>
            <a:r>
              <a:rPr lang="de-DE" sz="1600" dirty="0"/>
              <a:t>Auch bei </a:t>
            </a:r>
            <a:r>
              <a:rPr lang="de-DE" sz="1600" dirty="0" err="1"/>
              <a:t>gpt</a:t>
            </a:r>
            <a:r>
              <a:rPr lang="de-DE" sz="1600" dirty="0"/>
              <a:t>, </a:t>
            </a:r>
            <a:r>
              <a:rPr lang="de-DE" sz="1600" dirty="0" err="1"/>
              <a:t>ggt</a:t>
            </a:r>
            <a:r>
              <a:rPr lang="de-DE" sz="1600" dirty="0"/>
              <a:t>, </a:t>
            </a:r>
            <a:r>
              <a:rPr lang="de-DE" sz="1600" dirty="0" err="1"/>
              <a:t>bili</a:t>
            </a:r>
            <a:r>
              <a:rPr lang="de-DE" sz="1600" dirty="0"/>
              <a:t>, </a:t>
            </a:r>
            <a:r>
              <a:rPr lang="de-DE" sz="1600" dirty="0" err="1"/>
              <a:t>crp</a:t>
            </a:r>
            <a:r>
              <a:rPr lang="de-DE" sz="1600" dirty="0"/>
              <a:t> stark erhöhte Werte vor Krankheitsbeginn und erhöhte Werte nach Krankheitsbeginn</a:t>
            </a:r>
          </a:p>
          <a:p>
            <a:pPr lvl="1"/>
            <a:r>
              <a:rPr lang="de-DE" sz="1600" dirty="0"/>
              <a:t>Hb, </a:t>
            </a:r>
            <a:r>
              <a:rPr lang="de-DE" sz="1600" dirty="0" err="1"/>
              <a:t>Erys</a:t>
            </a:r>
            <a:r>
              <a:rPr lang="de-DE" sz="1600" dirty="0"/>
              <a:t>, </a:t>
            </a:r>
            <a:r>
              <a:rPr lang="de-DE" sz="1600" dirty="0" err="1"/>
              <a:t>hkt</a:t>
            </a:r>
            <a:r>
              <a:rPr lang="de-DE" sz="1600" dirty="0"/>
              <a:t> normal</a:t>
            </a:r>
          </a:p>
          <a:p>
            <a:pPr lvl="1"/>
            <a:r>
              <a:rPr lang="de-DE" sz="1600" dirty="0" err="1"/>
              <a:t>Hst</a:t>
            </a:r>
            <a:r>
              <a:rPr lang="de-DE" sz="1600" dirty="0"/>
              <a:t>, </a:t>
            </a:r>
            <a:r>
              <a:rPr lang="de-DE" sz="1600" dirty="0" err="1"/>
              <a:t>Thrombos</a:t>
            </a:r>
            <a:r>
              <a:rPr lang="de-DE" sz="1600" dirty="0"/>
              <a:t> bereits vor Krankheitsbeginn leicht erhöht</a:t>
            </a:r>
          </a:p>
          <a:p>
            <a:pPr lvl="1"/>
            <a:r>
              <a:rPr lang="de-DE" sz="1600" dirty="0"/>
              <a:t>Vorerkrankungen: Diabetes, abnormale </a:t>
            </a:r>
            <a:r>
              <a:rPr lang="de-DE" sz="1600" dirty="0" err="1"/>
              <a:t>Erythropoiese</a:t>
            </a:r>
            <a:r>
              <a:rPr lang="de-DE" sz="1600" dirty="0"/>
              <a:t>, rheumatoide Arthritis</a:t>
            </a:r>
          </a:p>
          <a:p>
            <a:pPr lvl="1"/>
            <a:r>
              <a:rPr lang="de-DE" sz="1600" dirty="0"/>
              <a:t>Keine Infos zur </a:t>
            </a:r>
            <a:r>
              <a:rPr lang="de-DE" sz="1600" dirty="0" err="1"/>
              <a:t>Diclo</a:t>
            </a:r>
            <a:r>
              <a:rPr lang="de-DE" sz="1600" dirty="0"/>
              <a:t>-Einnahme</a:t>
            </a:r>
          </a:p>
          <a:p>
            <a:pPr lvl="1"/>
            <a:r>
              <a:rPr lang="de-DE" sz="1600" dirty="0"/>
              <a:t>Begleitmedikation: ASS, </a:t>
            </a:r>
          </a:p>
          <a:p>
            <a:pPr lvl="1"/>
            <a:r>
              <a:rPr lang="de-DE" sz="1600" dirty="0"/>
              <a:t>Reaktion: </a:t>
            </a:r>
            <a:r>
              <a:rPr lang="de-DE" sz="1600" dirty="0" err="1"/>
              <a:t>Malasie</a:t>
            </a:r>
            <a:r>
              <a:rPr lang="de-DE" sz="1600" dirty="0"/>
              <a:t>, Schwindel, Übelkeit, Pruritus, Ikterus</a:t>
            </a:r>
          </a:p>
          <a:p>
            <a:pPr lvl="1"/>
            <a:endParaRPr lang="de-DE" sz="1600" dirty="0"/>
          </a:p>
          <a:p>
            <a:pPr lvl="1"/>
            <a:r>
              <a:rPr lang="de-DE" sz="1600" dirty="0"/>
              <a:t>Pat. wurde am 8. Oktober wegen Reaktion eingeliefert, oben steht aber, dass </a:t>
            </a:r>
            <a:r>
              <a:rPr lang="de-DE" sz="1600" dirty="0" err="1"/>
              <a:t>Reakton</a:t>
            </a:r>
            <a:r>
              <a:rPr lang="de-DE" sz="1600" dirty="0"/>
              <a:t> erst am 15. Oktober angefangen hat (dies ist wahrscheinlich falsch und passt nicht zum Narrativ)</a:t>
            </a:r>
          </a:p>
        </p:txBody>
      </p:sp>
    </p:spTree>
    <p:extLst>
      <p:ext uri="{BB962C8B-B14F-4D97-AF65-F5344CB8AC3E}">
        <p14:creationId xmlns:p14="http://schemas.microsoft.com/office/powerpoint/2010/main" val="883722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FA44E83-BA54-5DFB-AF76-B7D670087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FCE3AE8-7BF2-E890-FBD3-1D0245436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C28A4AA-838C-03FD-DF92-951CC8785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3CE836C-7B5D-0904-E70C-19E50150B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23EB93D-254C-3A5D-BDBE-C02EB1194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7531B04-A48C-8AB3-28F2-9CBBD7A18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12" y="0"/>
            <a:ext cx="5468397" cy="337924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AB08FF3-0D27-68B5-F700-023012F53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57562BF-E203-3C36-6AEF-28D95663A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72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D821EDA-7AAE-22EF-33D7-BDE8C1D2F754}"/>
              </a:ext>
            </a:extLst>
          </p:cNvPr>
          <p:cNvSpPr txBox="1"/>
          <p:nvPr/>
        </p:nvSpPr>
        <p:spPr>
          <a:xfrm>
            <a:off x="1479550" y="882650"/>
            <a:ext cx="81948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Fall 97009212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Pat. hatte OP wg. Spinalkanalstenose, bekam daraufhin </a:t>
            </a:r>
            <a:r>
              <a:rPr lang="de-DE" dirty="0" err="1"/>
              <a:t>Diclofenac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2 Fl. Bier/Tag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Kein Hinweis auf </a:t>
            </a:r>
            <a:r>
              <a:rPr lang="de-DE" dirty="0" err="1"/>
              <a:t>Hepatits</a:t>
            </a:r>
            <a:r>
              <a:rPr lang="de-DE" dirty="0"/>
              <a:t> (Erregerdiagnostik: abgelaufene Infektion oder Impfung)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647u/l für </a:t>
            </a:r>
            <a:r>
              <a:rPr lang="de-DE" dirty="0" err="1"/>
              <a:t>ggt</a:t>
            </a:r>
            <a:r>
              <a:rPr lang="de-DE" dirty="0"/>
              <a:t> wurde </a:t>
            </a:r>
            <a:r>
              <a:rPr lang="de-DE" dirty="0" err="1"/>
              <a:t>wsh</a:t>
            </a:r>
            <a:r>
              <a:rPr lang="de-DE" dirty="0"/>
              <a:t>. Versehentlich eingetragen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759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E9653DE-EF21-CC4E-3548-22D907C20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7E0FACE-AAB0-938A-9AAE-C820E1BB9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B4006ED-F2B6-400A-BF46-73A2B53DD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6384971-E6EC-4774-2091-231623609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42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158E14E-0F06-21EF-9529-2FFC47F21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A65793E-A03A-B209-3CCC-824AA114A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2586029-742A-DC39-BC76-F5CD443C9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9A5715D-F0D8-0532-A3ED-2B9DDC7027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886" y="3473422"/>
            <a:ext cx="5477023" cy="338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78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C3B7366-9711-758E-7F1B-BEA9FBD0A2FB}"/>
              </a:ext>
            </a:extLst>
          </p:cNvPr>
          <p:cNvSpPr txBox="1"/>
          <p:nvPr/>
        </p:nvSpPr>
        <p:spPr>
          <a:xfrm>
            <a:off x="1242060" y="1264920"/>
            <a:ext cx="1098198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Fall 3909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Wert AP </a:t>
            </a:r>
            <a:r>
              <a:rPr lang="de-DE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267,6</a:t>
            </a:r>
            <a:r>
              <a:rPr lang="de-DE" dirty="0"/>
              <a:t> nicht </a:t>
            </a:r>
            <a:r>
              <a:rPr lang="de-DE" dirty="0" err="1"/>
              <a:t>meh</a:t>
            </a:r>
            <a:r>
              <a:rPr lang="de-DE" dirty="0"/>
              <a:t> nachvollziehbar, dafür fehlt Wert 300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dirty="0"/>
              <a:t>Fall 99901293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Pat. kam ins Krankenhaus für elektiven Eingriff: Gelenkersatz bei </a:t>
            </a:r>
            <a:r>
              <a:rPr lang="de-DE" dirty="0" err="1"/>
              <a:t>Coxarthrose</a:t>
            </a:r>
            <a:r>
              <a:rPr lang="de-DE" dirty="0"/>
              <a:t>, 4 Tage später </a:t>
            </a:r>
            <a:r>
              <a:rPr lang="de-DE" dirty="0" err="1"/>
              <a:t>Arzneimittelreaktoin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Keine Infos weshalb AP davor bereits erhöht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Vorerkrankungen: </a:t>
            </a:r>
            <a:r>
              <a:rPr lang="de-DE" u="sng" dirty="0" err="1"/>
              <a:t>hepatorenales</a:t>
            </a:r>
            <a:r>
              <a:rPr lang="de-DE" u="sng" dirty="0"/>
              <a:t> Syndrom</a:t>
            </a:r>
            <a:r>
              <a:rPr lang="de-DE" dirty="0"/>
              <a:t>, Herzinsuffizienz, </a:t>
            </a:r>
            <a:r>
              <a:rPr lang="de-DE" dirty="0" err="1"/>
              <a:t>copd</a:t>
            </a:r>
            <a:r>
              <a:rPr lang="de-DE" dirty="0"/>
              <a:t>, </a:t>
            </a:r>
            <a:r>
              <a:rPr lang="de-DE" dirty="0" err="1"/>
              <a:t>pneumonie</a:t>
            </a:r>
            <a:r>
              <a:rPr lang="de-DE" dirty="0"/>
              <a:t>, </a:t>
            </a:r>
            <a:r>
              <a:rPr lang="de-DE" dirty="0" err="1"/>
              <a:t>Coxarthrose</a:t>
            </a:r>
            <a:r>
              <a:rPr lang="de-DE" dirty="0"/>
              <a:t>, Arthritis</a:t>
            </a:r>
          </a:p>
        </p:txBody>
      </p:sp>
    </p:spTree>
    <p:extLst>
      <p:ext uri="{BB962C8B-B14F-4D97-AF65-F5344CB8AC3E}">
        <p14:creationId xmlns:p14="http://schemas.microsoft.com/office/powerpoint/2010/main" val="1231317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C80F603-3D76-96F2-8DFE-3BE8370F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6400165-480E-9BB1-F8E9-9359D615E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D8BE86A-9EA2-A92C-70B3-FDB8DC395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8998"/>
            <a:ext cx="5548912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C577659-569F-61FA-C52C-E9B7FF0F6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15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5DE6F84-6E43-8B27-D4B5-479B0AE72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A456FA1-C3A4-00DF-5865-969DB73A9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5D4FD04-2962-7C69-641C-76C510FF5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75200"/>
            <a:ext cx="5474148" cy="33828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A2BF8D5-838B-4B95-C404-4698CBB89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762" y="3475200"/>
            <a:ext cx="5474148" cy="33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58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3129F99-EB14-EF6B-7FEB-68AFA8143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1B3CC4D-60E7-AAFC-928D-3F5D71C85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E81619D-1A81-781F-E46B-9A8D0E495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D8E1F50-4D5D-55B8-4D81-545C67186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100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67E305D-2A04-9749-1BCB-627AC7956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612170" cy="346809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A9B8CD2-9D53-476A-C3E7-23174B97D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A7FA80C-C181-9E05-A33F-37EF337A1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7CA6AC3-B409-8B45-2046-B090CE643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260" y="3468092"/>
            <a:ext cx="5485650" cy="338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01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C3437AC-E1D3-6D0C-35CA-877204DF0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53" y="0"/>
            <a:ext cx="5548910" cy="3429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5D1CD5A2-4C65-AB29-830C-E687E81AE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984" y="0"/>
            <a:ext cx="5640925" cy="348586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481394D-F642-BCC3-933A-38A314B86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85862"/>
            <a:ext cx="5456894" cy="337213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93CBFF1-1B71-E7DE-B14A-83120AFBF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35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EC3CE0D-4629-5A48-6FC4-A7C67527D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69D7024-A8D2-4F3D-3D21-47278F14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C86CCF5-F542-EEF5-97FE-DFFB84084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54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Breitbild</PresentationFormat>
  <Paragraphs>24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5</cp:revision>
  <dcterms:created xsi:type="dcterms:W3CDTF">2024-07-31T21:35:19Z</dcterms:created>
  <dcterms:modified xsi:type="dcterms:W3CDTF">2024-08-05T22:07:13Z</dcterms:modified>
</cp:coreProperties>
</file>