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0" r:id="rId2"/>
    <p:sldId id="261" r:id="rId3"/>
    <p:sldId id="256" r:id="rId4"/>
    <p:sldId id="263" r:id="rId5"/>
    <p:sldId id="259" r:id="rId6"/>
    <p:sldId id="258" r:id="rId7"/>
    <p:sldId id="262" r:id="rId8"/>
  </p:sldIdLst>
  <p:sldSz cx="10817225"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023" autoAdjust="0"/>
    <p:restoredTop sz="94660"/>
  </p:normalViewPr>
  <p:slideViewPr>
    <p:cSldViewPr snapToGrid="0">
      <p:cViewPr>
        <p:scale>
          <a:sx n="125" d="100"/>
          <a:sy n="125" d="100"/>
        </p:scale>
        <p:origin x="120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811292" y="1995312"/>
            <a:ext cx="9194641" cy="4244622"/>
          </a:xfrm>
        </p:spPr>
        <p:txBody>
          <a:bodyPr anchor="b"/>
          <a:lstStyle>
            <a:lvl1pPr algn="ctr">
              <a:defRPr sz="7098"/>
            </a:lvl1pPr>
          </a:lstStyle>
          <a:p>
            <a:r>
              <a:rPr lang="de-DE"/>
              <a:t>Mastertitelformat bearbeiten</a:t>
            </a:r>
            <a:endParaRPr lang="en-US" dirty="0"/>
          </a:p>
        </p:txBody>
      </p:sp>
      <p:sp>
        <p:nvSpPr>
          <p:cNvPr id="3" name="Subtitle 2"/>
          <p:cNvSpPr>
            <a:spLocks noGrp="1"/>
          </p:cNvSpPr>
          <p:nvPr>
            <p:ph type="subTitle" idx="1"/>
          </p:nvPr>
        </p:nvSpPr>
        <p:spPr>
          <a:xfrm>
            <a:off x="1352153" y="6403623"/>
            <a:ext cx="8112919" cy="2943577"/>
          </a:xfrm>
        </p:spPr>
        <p:txBody>
          <a:bodyPr/>
          <a:lstStyle>
            <a:lvl1pPr marL="0" indent="0" algn="ctr">
              <a:buNone/>
              <a:defRPr sz="2839"/>
            </a:lvl1pPr>
            <a:lvl2pPr marL="540868" indent="0" algn="ctr">
              <a:buNone/>
              <a:defRPr sz="2366"/>
            </a:lvl2pPr>
            <a:lvl3pPr marL="1081735" indent="0" algn="ctr">
              <a:buNone/>
              <a:defRPr sz="2129"/>
            </a:lvl3pPr>
            <a:lvl4pPr marL="1622603" indent="0" algn="ctr">
              <a:buNone/>
              <a:defRPr sz="1893"/>
            </a:lvl4pPr>
            <a:lvl5pPr marL="2163470" indent="0" algn="ctr">
              <a:buNone/>
              <a:defRPr sz="1893"/>
            </a:lvl5pPr>
            <a:lvl6pPr marL="2704338" indent="0" algn="ctr">
              <a:buNone/>
              <a:defRPr sz="1893"/>
            </a:lvl6pPr>
            <a:lvl7pPr marL="3245206" indent="0" algn="ctr">
              <a:buNone/>
              <a:defRPr sz="1893"/>
            </a:lvl7pPr>
            <a:lvl8pPr marL="3786073" indent="0" algn="ctr">
              <a:buNone/>
              <a:defRPr sz="1893"/>
            </a:lvl8pPr>
            <a:lvl9pPr marL="4326941" indent="0" algn="ctr">
              <a:buNone/>
              <a:defRPr sz="1893"/>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E18684F6-193E-4564-8CF2-248B90A67447}" type="datetimeFigureOut">
              <a:rPr lang="de-DE" smtClean="0"/>
              <a:t>06.12.2024</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81F795A4-DEF9-4A19-8690-AD80F0EDA95D}" type="slidenum">
              <a:rPr lang="de-DE" smtClean="0"/>
              <a:t>‹Nr.›</a:t>
            </a:fld>
            <a:endParaRPr lang="de-DE"/>
          </a:p>
        </p:txBody>
      </p:sp>
    </p:spTree>
    <p:extLst>
      <p:ext uri="{BB962C8B-B14F-4D97-AF65-F5344CB8AC3E}">
        <p14:creationId xmlns:p14="http://schemas.microsoft.com/office/powerpoint/2010/main" val="2096797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E18684F6-193E-4564-8CF2-248B90A67447}" type="datetimeFigureOut">
              <a:rPr lang="de-DE" smtClean="0"/>
              <a:t>06.12.2024</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81F795A4-DEF9-4A19-8690-AD80F0EDA95D}" type="slidenum">
              <a:rPr lang="de-DE" smtClean="0"/>
              <a:t>‹Nr.›</a:t>
            </a:fld>
            <a:endParaRPr lang="de-DE"/>
          </a:p>
        </p:txBody>
      </p:sp>
    </p:spTree>
    <p:extLst>
      <p:ext uri="{BB962C8B-B14F-4D97-AF65-F5344CB8AC3E}">
        <p14:creationId xmlns:p14="http://schemas.microsoft.com/office/powerpoint/2010/main" val="1965843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38051" y="3039537"/>
            <a:ext cx="9329857" cy="5071532"/>
          </a:xfrm>
        </p:spPr>
        <p:txBody>
          <a:bodyPr anchor="b"/>
          <a:lstStyle>
            <a:lvl1pPr>
              <a:defRPr sz="7098"/>
            </a:lvl1pPr>
          </a:lstStyle>
          <a:p>
            <a:r>
              <a:rPr lang="de-DE"/>
              <a:t>Mastertitelformat bearbeiten</a:t>
            </a:r>
            <a:endParaRPr lang="en-US" dirty="0"/>
          </a:p>
        </p:txBody>
      </p:sp>
      <p:sp>
        <p:nvSpPr>
          <p:cNvPr id="3" name="Text Placeholder 2"/>
          <p:cNvSpPr>
            <a:spLocks noGrp="1"/>
          </p:cNvSpPr>
          <p:nvPr>
            <p:ph type="body" idx="1"/>
          </p:nvPr>
        </p:nvSpPr>
        <p:spPr>
          <a:xfrm>
            <a:off x="738051" y="8159048"/>
            <a:ext cx="9329857" cy="2666999"/>
          </a:xfrm>
        </p:spPr>
        <p:txBody>
          <a:bodyPr/>
          <a:lstStyle>
            <a:lvl1pPr marL="0" indent="0">
              <a:buNone/>
              <a:defRPr sz="2839">
                <a:solidFill>
                  <a:schemeClr val="tx1"/>
                </a:solidFill>
              </a:defRPr>
            </a:lvl1pPr>
            <a:lvl2pPr marL="540868" indent="0">
              <a:buNone/>
              <a:defRPr sz="2366">
                <a:solidFill>
                  <a:schemeClr val="tx1">
                    <a:tint val="75000"/>
                  </a:schemeClr>
                </a:solidFill>
              </a:defRPr>
            </a:lvl2pPr>
            <a:lvl3pPr marL="1081735" indent="0">
              <a:buNone/>
              <a:defRPr sz="2129">
                <a:solidFill>
                  <a:schemeClr val="tx1">
                    <a:tint val="75000"/>
                  </a:schemeClr>
                </a:solidFill>
              </a:defRPr>
            </a:lvl3pPr>
            <a:lvl4pPr marL="1622603" indent="0">
              <a:buNone/>
              <a:defRPr sz="1893">
                <a:solidFill>
                  <a:schemeClr val="tx1">
                    <a:tint val="75000"/>
                  </a:schemeClr>
                </a:solidFill>
              </a:defRPr>
            </a:lvl4pPr>
            <a:lvl5pPr marL="2163470" indent="0">
              <a:buNone/>
              <a:defRPr sz="1893">
                <a:solidFill>
                  <a:schemeClr val="tx1">
                    <a:tint val="75000"/>
                  </a:schemeClr>
                </a:solidFill>
              </a:defRPr>
            </a:lvl5pPr>
            <a:lvl6pPr marL="2704338" indent="0">
              <a:buNone/>
              <a:defRPr sz="1893">
                <a:solidFill>
                  <a:schemeClr val="tx1">
                    <a:tint val="75000"/>
                  </a:schemeClr>
                </a:solidFill>
              </a:defRPr>
            </a:lvl6pPr>
            <a:lvl7pPr marL="3245206" indent="0">
              <a:buNone/>
              <a:defRPr sz="1893">
                <a:solidFill>
                  <a:schemeClr val="tx1">
                    <a:tint val="75000"/>
                  </a:schemeClr>
                </a:solidFill>
              </a:defRPr>
            </a:lvl7pPr>
            <a:lvl8pPr marL="3786073" indent="0">
              <a:buNone/>
              <a:defRPr sz="1893">
                <a:solidFill>
                  <a:schemeClr val="tx1">
                    <a:tint val="75000"/>
                  </a:schemeClr>
                </a:solidFill>
              </a:defRPr>
            </a:lvl8pPr>
            <a:lvl9pPr marL="4326941" indent="0">
              <a:buNone/>
              <a:defRPr sz="1893">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E18684F6-193E-4564-8CF2-248B90A67447}" type="datetimeFigureOut">
              <a:rPr lang="de-DE" smtClean="0"/>
              <a:t>06.12.2024</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81F795A4-DEF9-4A19-8690-AD80F0EDA95D}" type="slidenum">
              <a:rPr lang="de-DE" smtClean="0"/>
              <a:t>‹Nr.›</a:t>
            </a:fld>
            <a:endParaRPr lang="de-DE"/>
          </a:p>
        </p:txBody>
      </p:sp>
    </p:spTree>
    <p:extLst>
      <p:ext uri="{BB962C8B-B14F-4D97-AF65-F5344CB8AC3E}">
        <p14:creationId xmlns:p14="http://schemas.microsoft.com/office/powerpoint/2010/main" val="566600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743684" y="3245556"/>
            <a:ext cx="4597321" cy="773571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5476220" y="3245556"/>
            <a:ext cx="4597321" cy="773571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E18684F6-193E-4564-8CF2-248B90A67447}" type="datetimeFigureOut">
              <a:rPr lang="de-DE" smtClean="0"/>
              <a:t>06.12.2024</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81F795A4-DEF9-4A19-8690-AD80F0EDA95D}" type="slidenum">
              <a:rPr lang="de-DE" smtClean="0"/>
              <a:t>‹Nr.›</a:t>
            </a:fld>
            <a:endParaRPr lang="de-DE"/>
          </a:p>
        </p:txBody>
      </p:sp>
    </p:spTree>
    <p:extLst>
      <p:ext uri="{BB962C8B-B14F-4D97-AF65-F5344CB8AC3E}">
        <p14:creationId xmlns:p14="http://schemas.microsoft.com/office/powerpoint/2010/main" val="497298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745093" y="649114"/>
            <a:ext cx="9329857" cy="2356556"/>
          </a:xfrm>
        </p:spPr>
        <p:txBody>
          <a:bodyPr/>
          <a:lstStyle/>
          <a:p>
            <a:r>
              <a:rPr lang="de-DE"/>
              <a:t>Mastertitelformat bearbeiten</a:t>
            </a:r>
            <a:endParaRPr lang="en-US" dirty="0"/>
          </a:p>
        </p:txBody>
      </p:sp>
      <p:sp>
        <p:nvSpPr>
          <p:cNvPr id="3" name="Text Placeholder 2"/>
          <p:cNvSpPr>
            <a:spLocks noGrp="1"/>
          </p:cNvSpPr>
          <p:nvPr>
            <p:ph type="body" idx="1"/>
          </p:nvPr>
        </p:nvSpPr>
        <p:spPr>
          <a:xfrm>
            <a:off x="745095" y="2988734"/>
            <a:ext cx="4576192" cy="1464732"/>
          </a:xfrm>
        </p:spPr>
        <p:txBody>
          <a:bodyPr anchor="b"/>
          <a:lstStyle>
            <a:lvl1pPr marL="0" indent="0">
              <a:buNone/>
              <a:defRPr sz="2839" b="1"/>
            </a:lvl1pPr>
            <a:lvl2pPr marL="540868" indent="0">
              <a:buNone/>
              <a:defRPr sz="2366" b="1"/>
            </a:lvl2pPr>
            <a:lvl3pPr marL="1081735" indent="0">
              <a:buNone/>
              <a:defRPr sz="2129" b="1"/>
            </a:lvl3pPr>
            <a:lvl4pPr marL="1622603" indent="0">
              <a:buNone/>
              <a:defRPr sz="1893" b="1"/>
            </a:lvl4pPr>
            <a:lvl5pPr marL="2163470" indent="0">
              <a:buNone/>
              <a:defRPr sz="1893" b="1"/>
            </a:lvl5pPr>
            <a:lvl6pPr marL="2704338" indent="0">
              <a:buNone/>
              <a:defRPr sz="1893" b="1"/>
            </a:lvl6pPr>
            <a:lvl7pPr marL="3245206" indent="0">
              <a:buNone/>
              <a:defRPr sz="1893" b="1"/>
            </a:lvl7pPr>
            <a:lvl8pPr marL="3786073" indent="0">
              <a:buNone/>
              <a:defRPr sz="1893" b="1"/>
            </a:lvl8pPr>
            <a:lvl9pPr marL="4326941" indent="0">
              <a:buNone/>
              <a:defRPr sz="1893" b="1"/>
            </a:lvl9pPr>
          </a:lstStyle>
          <a:p>
            <a:pPr lvl="0"/>
            <a:r>
              <a:rPr lang="de-DE"/>
              <a:t>Mastertextformat bearbeiten</a:t>
            </a:r>
          </a:p>
        </p:txBody>
      </p:sp>
      <p:sp>
        <p:nvSpPr>
          <p:cNvPr id="4" name="Content Placeholder 3"/>
          <p:cNvSpPr>
            <a:spLocks noGrp="1"/>
          </p:cNvSpPr>
          <p:nvPr>
            <p:ph sz="half" idx="2"/>
          </p:nvPr>
        </p:nvSpPr>
        <p:spPr>
          <a:xfrm>
            <a:off x="745095" y="4453467"/>
            <a:ext cx="4576192" cy="655037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5476221" y="2988734"/>
            <a:ext cx="4598730" cy="1464732"/>
          </a:xfrm>
        </p:spPr>
        <p:txBody>
          <a:bodyPr anchor="b"/>
          <a:lstStyle>
            <a:lvl1pPr marL="0" indent="0">
              <a:buNone/>
              <a:defRPr sz="2839" b="1"/>
            </a:lvl1pPr>
            <a:lvl2pPr marL="540868" indent="0">
              <a:buNone/>
              <a:defRPr sz="2366" b="1"/>
            </a:lvl2pPr>
            <a:lvl3pPr marL="1081735" indent="0">
              <a:buNone/>
              <a:defRPr sz="2129" b="1"/>
            </a:lvl3pPr>
            <a:lvl4pPr marL="1622603" indent="0">
              <a:buNone/>
              <a:defRPr sz="1893" b="1"/>
            </a:lvl4pPr>
            <a:lvl5pPr marL="2163470" indent="0">
              <a:buNone/>
              <a:defRPr sz="1893" b="1"/>
            </a:lvl5pPr>
            <a:lvl6pPr marL="2704338" indent="0">
              <a:buNone/>
              <a:defRPr sz="1893" b="1"/>
            </a:lvl6pPr>
            <a:lvl7pPr marL="3245206" indent="0">
              <a:buNone/>
              <a:defRPr sz="1893" b="1"/>
            </a:lvl7pPr>
            <a:lvl8pPr marL="3786073" indent="0">
              <a:buNone/>
              <a:defRPr sz="1893" b="1"/>
            </a:lvl8pPr>
            <a:lvl9pPr marL="4326941" indent="0">
              <a:buNone/>
              <a:defRPr sz="1893" b="1"/>
            </a:lvl9pPr>
          </a:lstStyle>
          <a:p>
            <a:pPr lvl="0"/>
            <a:r>
              <a:rPr lang="de-DE"/>
              <a:t>Mastertextformat bearbeiten</a:t>
            </a:r>
          </a:p>
        </p:txBody>
      </p:sp>
      <p:sp>
        <p:nvSpPr>
          <p:cNvPr id="6" name="Content Placeholder 5"/>
          <p:cNvSpPr>
            <a:spLocks noGrp="1"/>
          </p:cNvSpPr>
          <p:nvPr>
            <p:ph sz="quarter" idx="4"/>
          </p:nvPr>
        </p:nvSpPr>
        <p:spPr>
          <a:xfrm>
            <a:off x="5476221" y="4453467"/>
            <a:ext cx="4598730" cy="655037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E18684F6-193E-4564-8CF2-248B90A67447}" type="datetimeFigureOut">
              <a:rPr lang="de-DE" smtClean="0"/>
              <a:t>06.12.2024</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81F795A4-DEF9-4A19-8690-AD80F0EDA95D}" type="slidenum">
              <a:rPr lang="de-DE" smtClean="0"/>
              <a:t>‹Nr.›</a:t>
            </a:fld>
            <a:endParaRPr lang="de-DE"/>
          </a:p>
        </p:txBody>
      </p:sp>
    </p:spTree>
    <p:extLst>
      <p:ext uri="{BB962C8B-B14F-4D97-AF65-F5344CB8AC3E}">
        <p14:creationId xmlns:p14="http://schemas.microsoft.com/office/powerpoint/2010/main" val="1840155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E18684F6-193E-4564-8CF2-248B90A67447}" type="datetimeFigureOut">
              <a:rPr lang="de-DE" smtClean="0"/>
              <a:t>06.12.2024</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81F795A4-DEF9-4A19-8690-AD80F0EDA95D}" type="slidenum">
              <a:rPr lang="de-DE" smtClean="0"/>
              <a:t>‹Nr.›</a:t>
            </a:fld>
            <a:endParaRPr lang="de-DE"/>
          </a:p>
        </p:txBody>
      </p:sp>
    </p:spTree>
    <p:extLst>
      <p:ext uri="{BB962C8B-B14F-4D97-AF65-F5344CB8AC3E}">
        <p14:creationId xmlns:p14="http://schemas.microsoft.com/office/powerpoint/2010/main" val="3715185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8684F6-193E-4564-8CF2-248B90A67447}" type="datetimeFigureOut">
              <a:rPr lang="de-DE" smtClean="0"/>
              <a:t>06.12.2024</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81F795A4-DEF9-4A19-8690-AD80F0EDA95D}" type="slidenum">
              <a:rPr lang="de-DE" smtClean="0"/>
              <a:t>‹Nr.›</a:t>
            </a:fld>
            <a:endParaRPr lang="de-DE"/>
          </a:p>
        </p:txBody>
      </p:sp>
    </p:spTree>
    <p:extLst>
      <p:ext uri="{BB962C8B-B14F-4D97-AF65-F5344CB8AC3E}">
        <p14:creationId xmlns:p14="http://schemas.microsoft.com/office/powerpoint/2010/main" val="3139988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45093" y="812800"/>
            <a:ext cx="3488837" cy="2844800"/>
          </a:xfrm>
        </p:spPr>
        <p:txBody>
          <a:bodyPr anchor="b"/>
          <a:lstStyle>
            <a:lvl1pPr>
              <a:defRPr sz="3786"/>
            </a:lvl1pPr>
          </a:lstStyle>
          <a:p>
            <a:r>
              <a:rPr lang="de-DE"/>
              <a:t>Mastertitelformat bearbeiten</a:t>
            </a:r>
            <a:endParaRPr lang="en-US" dirty="0"/>
          </a:p>
        </p:txBody>
      </p:sp>
      <p:sp>
        <p:nvSpPr>
          <p:cNvPr id="3" name="Content Placeholder 2"/>
          <p:cNvSpPr>
            <a:spLocks noGrp="1"/>
          </p:cNvSpPr>
          <p:nvPr>
            <p:ph idx="1"/>
          </p:nvPr>
        </p:nvSpPr>
        <p:spPr>
          <a:xfrm>
            <a:off x="4598730" y="1755425"/>
            <a:ext cx="5476220" cy="8664222"/>
          </a:xfrm>
        </p:spPr>
        <p:txBody>
          <a:bodyPr/>
          <a:lstStyle>
            <a:lvl1pPr>
              <a:defRPr sz="3786"/>
            </a:lvl1pPr>
            <a:lvl2pPr>
              <a:defRPr sz="3312"/>
            </a:lvl2pPr>
            <a:lvl3pPr>
              <a:defRPr sz="2839"/>
            </a:lvl3pPr>
            <a:lvl4pPr>
              <a:defRPr sz="2366"/>
            </a:lvl4pPr>
            <a:lvl5pPr>
              <a:defRPr sz="2366"/>
            </a:lvl5pPr>
            <a:lvl6pPr>
              <a:defRPr sz="2366"/>
            </a:lvl6pPr>
            <a:lvl7pPr>
              <a:defRPr sz="2366"/>
            </a:lvl7pPr>
            <a:lvl8pPr>
              <a:defRPr sz="2366"/>
            </a:lvl8pPr>
            <a:lvl9pPr>
              <a:defRPr sz="2366"/>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745093" y="3657600"/>
            <a:ext cx="3488837" cy="6776156"/>
          </a:xfrm>
        </p:spPr>
        <p:txBody>
          <a:bodyPr/>
          <a:lstStyle>
            <a:lvl1pPr marL="0" indent="0">
              <a:buNone/>
              <a:defRPr sz="1893"/>
            </a:lvl1pPr>
            <a:lvl2pPr marL="540868" indent="0">
              <a:buNone/>
              <a:defRPr sz="1656"/>
            </a:lvl2pPr>
            <a:lvl3pPr marL="1081735" indent="0">
              <a:buNone/>
              <a:defRPr sz="1420"/>
            </a:lvl3pPr>
            <a:lvl4pPr marL="1622603" indent="0">
              <a:buNone/>
              <a:defRPr sz="1183"/>
            </a:lvl4pPr>
            <a:lvl5pPr marL="2163470" indent="0">
              <a:buNone/>
              <a:defRPr sz="1183"/>
            </a:lvl5pPr>
            <a:lvl6pPr marL="2704338" indent="0">
              <a:buNone/>
              <a:defRPr sz="1183"/>
            </a:lvl6pPr>
            <a:lvl7pPr marL="3245206" indent="0">
              <a:buNone/>
              <a:defRPr sz="1183"/>
            </a:lvl7pPr>
            <a:lvl8pPr marL="3786073" indent="0">
              <a:buNone/>
              <a:defRPr sz="1183"/>
            </a:lvl8pPr>
            <a:lvl9pPr marL="4326941" indent="0">
              <a:buNone/>
              <a:defRPr sz="1183"/>
            </a:lvl9pPr>
          </a:lstStyle>
          <a:p>
            <a:pPr lvl="0"/>
            <a:r>
              <a:rPr lang="de-DE"/>
              <a:t>Mastertextformat bearbeiten</a:t>
            </a:r>
          </a:p>
        </p:txBody>
      </p:sp>
      <p:sp>
        <p:nvSpPr>
          <p:cNvPr id="5" name="Date Placeholder 4"/>
          <p:cNvSpPr>
            <a:spLocks noGrp="1"/>
          </p:cNvSpPr>
          <p:nvPr>
            <p:ph type="dt" sz="half" idx="10"/>
          </p:nvPr>
        </p:nvSpPr>
        <p:spPr/>
        <p:txBody>
          <a:bodyPr/>
          <a:lstStyle/>
          <a:p>
            <a:fld id="{E18684F6-193E-4564-8CF2-248B90A67447}" type="datetimeFigureOut">
              <a:rPr lang="de-DE" smtClean="0"/>
              <a:t>06.12.2024</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81F795A4-DEF9-4A19-8690-AD80F0EDA95D}" type="slidenum">
              <a:rPr lang="de-DE" smtClean="0"/>
              <a:t>‹Nr.›</a:t>
            </a:fld>
            <a:endParaRPr lang="de-DE"/>
          </a:p>
        </p:txBody>
      </p:sp>
    </p:spTree>
    <p:extLst>
      <p:ext uri="{BB962C8B-B14F-4D97-AF65-F5344CB8AC3E}">
        <p14:creationId xmlns:p14="http://schemas.microsoft.com/office/powerpoint/2010/main" val="4039982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45093" y="812800"/>
            <a:ext cx="3488837" cy="2844800"/>
          </a:xfrm>
        </p:spPr>
        <p:txBody>
          <a:bodyPr anchor="b"/>
          <a:lstStyle>
            <a:lvl1pPr>
              <a:defRPr sz="3786"/>
            </a:lvl1pPr>
          </a:lstStyle>
          <a:p>
            <a:r>
              <a:rPr lang="de-DE"/>
              <a:t>Mastertitelformat bearbeiten</a:t>
            </a:r>
            <a:endParaRPr lang="en-US" dirty="0"/>
          </a:p>
        </p:txBody>
      </p:sp>
      <p:sp>
        <p:nvSpPr>
          <p:cNvPr id="3" name="Picture Placeholder 2"/>
          <p:cNvSpPr>
            <a:spLocks noGrp="1" noChangeAspect="1"/>
          </p:cNvSpPr>
          <p:nvPr>
            <p:ph type="pic" idx="1"/>
          </p:nvPr>
        </p:nvSpPr>
        <p:spPr>
          <a:xfrm>
            <a:off x="4598730" y="1755425"/>
            <a:ext cx="5476220" cy="8664222"/>
          </a:xfrm>
        </p:spPr>
        <p:txBody>
          <a:bodyPr anchor="t"/>
          <a:lstStyle>
            <a:lvl1pPr marL="0" indent="0">
              <a:buNone/>
              <a:defRPr sz="3786"/>
            </a:lvl1pPr>
            <a:lvl2pPr marL="540868" indent="0">
              <a:buNone/>
              <a:defRPr sz="3312"/>
            </a:lvl2pPr>
            <a:lvl3pPr marL="1081735" indent="0">
              <a:buNone/>
              <a:defRPr sz="2839"/>
            </a:lvl3pPr>
            <a:lvl4pPr marL="1622603" indent="0">
              <a:buNone/>
              <a:defRPr sz="2366"/>
            </a:lvl4pPr>
            <a:lvl5pPr marL="2163470" indent="0">
              <a:buNone/>
              <a:defRPr sz="2366"/>
            </a:lvl5pPr>
            <a:lvl6pPr marL="2704338" indent="0">
              <a:buNone/>
              <a:defRPr sz="2366"/>
            </a:lvl6pPr>
            <a:lvl7pPr marL="3245206" indent="0">
              <a:buNone/>
              <a:defRPr sz="2366"/>
            </a:lvl7pPr>
            <a:lvl8pPr marL="3786073" indent="0">
              <a:buNone/>
              <a:defRPr sz="2366"/>
            </a:lvl8pPr>
            <a:lvl9pPr marL="4326941" indent="0">
              <a:buNone/>
              <a:defRPr sz="2366"/>
            </a:lvl9pPr>
          </a:lstStyle>
          <a:p>
            <a:r>
              <a:rPr lang="de-DE"/>
              <a:t>Bild durch Klicken auf Symbol hinzufügen</a:t>
            </a:r>
            <a:endParaRPr lang="en-US" dirty="0"/>
          </a:p>
        </p:txBody>
      </p:sp>
      <p:sp>
        <p:nvSpPr>
          <p:cNvPr id="4" name="Text Placeholder 3"/>
          <p:cNvSpPr>
            <a:spLocks noGrp="1"/>
          </p:cNvSpPr>
          <p:nvPr>
            <p:ph type="body" sz="half" idx="2"/>
          </p:nvPr>
        </p:nvSpPr>
        <p:spPr>
          <a:xfrm>
            <a:off x="745093" y="3657600"/>
            <a:ext cx="3488837" cy="6776156"/>
          </a:xfrm>
        </p:spPr>
        <p:txBody>
          <a:bodyPr/>
          <a:lstStyle>
            <a:lvl1pPr marL="0" indent="0">
              <a:buNone/>
              <a:defRPr sz="1893"/>
            </a:lvl1pPr>
            <a:lvl2pPr marL="540868" indent="0">
              <a:buNone/>
              <a:defRPr sz="1656"/>
            </a:lvl2pPr>
            <a:lvl3pPr marL="1081735" indent="0">
              <a:buNone/>
              <a:defRPr sz="1420"/>
            </a:lvl3pPr>
            <a:lvl4pPr marL="1622603" indent="0">
              <a:buNone/>
              <a:defRPr sz="1183"/>
            </a:lvl4pPr>
            <a:lvl5pPr marL="2163470" indent="0">
              <a:buNone/>
              <a:defRPr sz="1183"/>
            </a:lvl5pPr>
            <a:lvl6pPr marL="2704338" indent="0">
              <a:buNone/>
              <a:defRPr sz="1183"/>
            </a:lvl6pPr>
            <a:lvl7pPr marL="3245206" indent="0">
              <a:buNone/>
              <a:defRPr sz="1183"/>
            </a:lvl7pPr>
            <a:lvl8pPr marL="3786073" indent="0">
              <a:buNone/>
              <a:defRPr sz="1183"/>
            </a:lvl8pPr>
            <a:lvl9pPr marL="4326941" indent="0">
              <a:buNone/>
              <a:defRPr sz="1183"/>
            </a:lvl9pPr>
          </a:lstStyle>
          <a:p>
            <a:pPr lvl="0"/>
            <a:r>
              <a:rPr lang="de-DE"/>
              <a:t>Mastertextformat bearbeiten</a:t>
            </a:r>
          </a:p>
        </p:txBody>
      </p:sp>
      <p:sp>
        <p:nvSpPr>
          <p:cNvPr id="5" name="Date Placeholder 4"/>
          <p:cNvSpPr>
            <a:spLocks noGrp="1"/>
          </p:cNvSpPr>
          <p:nvPr>
            <p:ph type="dt" sz="half" idx="10"/>
          </p:nvPr>
        </p:nvSpPr>
        <p:spPr/>
        <p:txBody>
          <a:bodyPr/>
          <a:lstStyle/>
          <a:p>
            <a:fld id="{E18684F6-193E-4564-8CF2-248B90A67447}" type="datetimeFigureOut">
              <a:rPr lang="de-DE" smtClean="0"/>
              <a:t>06.12.2024</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81F795A4-DEF9-4A19-8690-AD80F0EDA95D}" type="slidenum">
              <a:rPr lang="de-DE" smtClean="0"/>
              <a:t>‹Nr.›</a:t>
            </a:fld>
            <a:endParaRPr lang="de-DE"/>
          </a:p>
        </p:txBody>
      </p:sp>
    </p:spTree>
    <p:extLst>
      <p:ext uri="{BB962C8B-B14F-4D97-AF65-F5344CB8AC3E}">
        <p14:creationId xmlns:p14="http://schemas.microsoft.com/office/powerpoint/2010/main" val="404776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E18684F6-193E-4564-8CF2-248B90A67447}" type="datetimeFigureOut">
              <a:rPr lang="de-DE" smtClean="0"/>
              <a:t>06.12.2024</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81F795A4-DEF9-4A19-8690-AD80F0EDA95D}" type="slidenum">
              <a:rPr lang="de-DE" smtClean="0"/>
              <a:t>‹Nr.›</a:t>
            </a:fld>
            <a:endParaRPr lang="de-DE"/>
          </a:p>
        </p:txBody>
      </p:sp>
    </p:spTree>
    <p:extLst>
      <p:ext uri="{BB962C8B-B14F-4D97-AF65-F5344CB8AC3E}">
        <p14:creationId xmlns:p14="http://schemas.microsoft.com/office/powerpoint/2010/main" val="1710989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41077" y="649111"/>
            <a:ext cx="2332464" cy="10332156"/>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743685" y="649111"/>
            <a:ext cx="6862177" cy="10332156"/>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E18684F6-193E-4564-8CF2-248B90A67447}" type="datetimeFigureOut">
              <a:rPr lang="de-DE" smtClean="0"/>
              <a:t>06.12.2024</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81F795A4-DEF9-4A19-8690-AD80F0EDA95D}" type="slidenum">
              <a:rPr lang="de-DE" smtClean="0"/>
              <a:t>‹Nr.›</a:t>
            </a:fld>
            <a:endParaRPr lang="de-DE"/>
          </a:p>
        </p:txBody>
      </p:sp>
    </p:spTree>
    <p:extLst>
      <p:ext uri="{BB962C8B-B14F-4D97-AF65-F5344CB8AC3E}">
        <p14:creationId xmlns:p14="http://schemas.microsoft.com/office/powerpoint/2010/main" val="4235626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43684" y="649114"/>
            <a:ext cx="9329857" cy="2356556"/>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743684" y="3245556"/>
            <a:ext cx="9329857" cy="7735712"/>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743684" y="11300181"/>
            <a:ext cx="2433876" cy="649111"/>
          </a:xfrm>
          <a:prstGeom prst="rect">
            <a:avLst/>
          </a:prstGeom>
        </p:spPr>
        <p:txBody>
          <a:bodyPr vert="horz" lIns="91440" tIns="45720" rIns="91440" bIns="45720" rtlCol="0" anchor="ctr"/>
          <a:lstStyle>
            <a:lvl1pPr algn="l">
              <a:defRPr sz="1420">
                <a:solidFill>
                  <a:schemeClr val="tx1">
                    <a:tint val="75000"/>
                  </a:schemeClr>
                </a:solidFill>
              </a:defRPr>
            </a:lvl1pPr>
          </a:lstStyle>
          <a:p>
            <a:fld id="{E18684F6-193E-4564-8CF2-248B90A67447}" type="datetimeFigureOut">
              <a:rPr lang="de-DE" smtClean="0"/>
              <a:t>06.12.2024</a:t>
            </a:fld>
            <a:endParaRPr lang="de-DE"/>
          </a:p>
        </p:txBody>
      </p:sp>
      <p:sp>
        <p:nvSpPr>
          <p:cNvPr id="5" name="Footer Placeholder 4"/>
          <p:cNvSpPr>
            <a:spLocks noGrp="1"/>
          </p:cNvSpPr>
          <p:nvPr>
            <p:ph type="ftr" sz="quarter" idx="3"/>
          </p:nvPr>
        </p:nvSpPr>
        <p:spPr>
          <a:xfrm>
            <a:off x="3583206" y="11300181"/>
            <a:ext cx="3650813" cy="649111"/>
          </a:xfrm>
          <a:prstGeom prst="rect">
            <a:avLst/>
          </a:prstGeom>
        </p:spPr>
        <p:txBody>
          <a:bodyPr vert="horz" lIns="91440" tIns="45720" rIns="91440" bIns="45720" rtlCol="0" anchor="ctr"/>
          <a:lstStyle>
            <a:lvl1pPr algn="ctr">
              <a:defRPr sz="1420">
                <a:solidFill>
                  <a:schemeClr val="tx1">
                    <a:tint val="75000"/>
                  </a:schemeClr>
                </a:solidFill>
              </a:defRPr>
            </a:lvl1pPr>
          </a:lstStyle>
          <a:p>
            <a:endParaRPr lang="de-DE"/>
          </a:p>
        </p:txBody>
      </p:sp>
      <p:sp>
        <p:nvSpPr>
          <p:cNvPr id="6" name="Slide Number Placeholder 5"/>
          <p:cNvSpPr>
            <a:spLocks noGrp="1"/>
          </p:cNvSpPr>
          <p:nvPr>
            <p:ph type="sldNum" sz="quarter" idx="4"/>
          </p:nvPr>
        </p:nvSpPr>
        <p:spPr>
          <a:xfrm>
            <a:off x="7639665" y="11300181"/>
            <a:ext cx="2433876" cy="649111"/>
          </a:xfrm>
          <a:prstGeom prst="rect">
            <a:avLst/>
          </a:prstGeom>
        </p:spPr>
        <p:txBody>
          <a:bodyPr vert="horz" lIns="91440" tIns="45720" rIns="91440" bIns="45720" rtlCol="0" anchor="ctr"/>
          <a:lstStyle>
            <a:lvl1pPr algn="r">
              <a:defRPr sz="1420">
                <a:solidFill>
                  <a:schemeClr val="tx1">
                    <a:tint val="75000"/>
                  </a:schemeClr>
                </a:solidFill>
              </a:defRPr>
            </a:lvl1pPr>
          </a:lstStyle>
          <a:p>
            <a:fld id="{81F795A4-DEF9-4A19-8690-AD80F0EDA95D}" type="slidenum">
              <a:rPr lang="de-DE" smtClean="0"/>
              <a:t>‹Nr.›</a:t>
            </a:fld>
            <a:endParaRPr lang="de-DE"/>
          </a:p>
        </p:txBody>
      </p:sp>
    </p:spTree>
    <p:extLst>
      <p:ext uri="{BB962C8B-B14F-4D97-AF65-F5344CB8AC3E}">
        <p14:creationId xmlns:p14="http://schemas.microsoft.com/office/powerpoint/2010/main" val="813556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81735" rtl="0" eaLnBrk="1" latinLnBrk="0" hangingPunct="1">
        <a:lnSpc>
          <a:spcPct val="90000"/>
        </a:lnSpc>
        <a:spcBef>
          <a:spcPct val="0"/>
        </a:spcBef>
        <a:buNone/>
        <a:defRPr sz="5205" kern="1200">
          <a:solidFill>
            <a:schemeClr val="tx1"/>
          </a:solidFill>
          <a:latin typeface="+mj-lt"/>
          <a:ea typeface="+mj-ea"/>
          <a:cs typeface="+mj-cs"/>
        </a:defRPr>
      </a:lvl1pPr>
    </p:titleStyle>
    <p:bodyStyle>
      <a:lvl1pPr marL="270434" indent="-270434" algn="l" defTabSz="1081735" rtl="0" eaLnBrk="1" latinLnBrk="0" hangingPunct="1">
        <a:lnSpc>
          <a:spcPct val="90000"/>
        </a:lnSpc>
        <a:spcBef>
          <a:spcPts val="1183"/>
        </a:spcBef>
        <a:buFont typeface="Arial" panose="020B0604020202020204" pitchFamily="34" charset="0"/>
        <a:buChar char="•"/>
        <a:defRPr sz="3312" kern="1200">
          <a:solidFill>
            <a:schemeClr val="tx1"/>
          </a:solidFill>
          <a:latin typeface="+mn-lt"/>
          <a:ea typeface="+mn-ea"/>
          <a:cs typeface="+mn-cs"/>
        </a:defRPr>
      </a:lvl1pPr>
      <a:lvl2pPr marL="811301" indent="-270434" algn="l" defTabSz="1081735" rtl="0" eaLnBrk="1" latinLnBrk="0" hangingPunct="1">
        <a:lnSpc>
          <a:spcPct val="90000"/>
        </a:lnSpc>
        <a:spcBef>
          <a:spcPts val="592"/>
        </a:spcBef>
        <a:buFont typeface="Arial" panose="020B0604020202020204" pitchFamily="34" charset="0"/>
        <a:buChar char="•"/>
        <a:defRPr sz="2839" kern="1200">
          <a:solidFill>
            <a:schemeClr val="tx1"/>
          </a:solidFill>
          <a:latin typeface="+mn-lt"/>
          <a:ea typeface="+mn-ea"/>
          <a:cs typeface="+mn-cs"/>
        </a:defRPr>
      </a:lvl2pPr>
      <a:lvl3pPr marL="1352169" indent="-270434" algn="l" defTabSz="1081735" rtl="0" eaLnBrk="1" latinLnBrk="0" hangingPunct="1">
        <a:lnSpc>
          <a:spcPct val="90000"/>
        </a:lnSpc>
        <a:spcBef>
          <a:spcPts val="592"/>
        </a:spcBef>
        <a:buFont typeface="Arial" panose="020B0604020202020204" pitchFamily="34" charset="0"/>
        <a:buChar char="•"/>
        <a:defRPr sz="2366" kern="1200">
          <a:solidFill>
            <a:schemeClr val="tx1"/>
          </a:solidFill>
          <a:latin typeface="+mn-lt"/>
          <a:ea typeface="+mn-ea"/>
          <a:cs typeface="+mn-cs"/>
        </a:defRPr>
      </a:lvl3pPr>
      <a:lvl4pPr marL="1893037" indent="-270434" algn="l" defTabSz="1081735" rtl="0" eaLnBrk="1" latinLnBrk="0" hangingPunct="1">
        <a:lnSpc>
          <a:spcPct val="90000"/>
        </a:lnSpc>
        <a:spcBef>
          <a:spcPts val="592"/>
        </a:spcBef>
        <a:buFont typeface="Arial" panose="020B0604020202020204" pitchFamily="34" charset="0"/>
        <a:buChar char="•"/>
        <a:defRPr sz="2129" kern="1200">
          <a:solidFill>
            <a:schemeClr val="tx1"/>
          </a:solidFill>
          <a:latin typeface="+mn-lt"/>
          <a:ea typeface="+mn-ea"/>
          <a:cs typeface="+mn-cs"/>
        </a:defRPr>
      </a:lvl4pPr>
      <a:lvl5pPr marL="2433904" indent="-270434" algn="l" defTabSz="1081735" rtl="0" eaLnBrk="1" latinLnBrk="0" hangingPunct="1">
        <a:lnSpc>
          <a:spcPct val="90000"/>
        </a:lnSpc>
        <a:spcBef>
          <a:spcPts val="592"/>
        </a:spcBef>
        <a:buFont typeface="Arial" panose="020B0604020202020204" pitchFamily="34" charset="0"/>
        <a:buChar char="•"/>
        <a:defRPr sz="2129" kern="1200">
          <a:solidFill>
            <a:schemeClr val="tx1"/>
          </a:solidFill>
          <a:latin typeface="+mn-lt"/>
          <a:ea typeface="+mn-ea"/>
          <a:cs typeface="+mn-cs"/>
        </a:defRPr>
      </a:lvl5pPr>
      <a:lvl6pPr marL="2974772" indent="-270434" algn="l" defTabSz="1081735" rtl="0" eaLnBrk="1" latinLnBrk="0" hangingPunct="1">
        <a:lnSpc>
          <a:spcPct val="90000"/>
        </a:lnSpc>
        <a:spcBef>
          <a:spcPts val="592"/>
        </a:spcBef>
        <a:buFont typeface="Arial" panose="020B0604020202020204" pitchFamily="34" charset="0"/>
        <a:buChar char="•"/>
        <a:defRPr sz="2129" kern="1200">
          <a:solidFill>
            <a:schemeClr val="tx1"/>
          </a:solidFill>
          <a:latin typeface="+mn-lt"/>
          <a:ea typeface="+mn-ea"/>
          <a:cs typeface="+mn-cs"/>
        </a:defRPr>
      </a:lvl6pPr>
      <a:lvl7pPr marL="3515639" indent="-270434" algn="l" defTabSz="1081735" rtl="0" eaLnBrk="1" latinLnBrk="0" hangingPunct="1">
        <a:lnSpc>
          <a:spcPct val="90000"/>
        </a:lnSpc>
        <a:spcBef>
          <a:spcPts val="592"/>
        </a:spcBef>
        <a:buFont typeface="Arial" panose="020B0604020202020204" pitchFamily="34" charset="0"/>
        <a:buChar char="•"/>
        <a:defRPr sz="2129" kern="1200">
          <a:solidFill>
            <a:schemeClr val="tx1"/>
          </a:solidFill>
          <a:latin typeface="+mn-lt"/>
          <a:ea typeface="+mn-ea"/>
          <a:cs typeface="+mn-cs"/>
        </a:defRPr>
      </a:lvl7pPr>
      <a:lvl8pPr marL="4056507" indent="-270434" algn="l" defTabSz="1081735" rtl="0" eaLnBrk="1" latinLnBrk="0" hangingPunct="1">
        <a:lnSpc>
          <a:spcPct val="90000"/>
        </a:lnSpc>
        <a:spcBef>
          <a:spcPts val="592"/>
        </a:spcBef>
        <a:buFont typeface="Arial" panose="020B0604020202020204" pitchFamily="34" charset="0"/>
        <a:buChar char="•"/>
        <a:defRPr sz="2129" kern="1200">
          <a:solidFill>
            <a:schemeClr val="tx1"/>
          </a:solidFill>
          <a:latin typeface="+mn-lt"/>
          <a:ea typeface="+mn-ea"/>
          <a:cs typeface="+mn-cs"/>
        </a:defRPr>
      </a:lvl8pPr>
      <a:lvl9pPr marL="4597375" indent="-270434" algn="l" defTabSz="1081735" rtl="0" eaLnBrk="1" latinLnBrk="0" hangingPunct="1">
        <a:lnSpc>
          <a:spcPct val="90000"/>
        </a:lnSpc>
        <a:spcBef>
          <a:spcPts val="592"/>
        </a:spcBef>
        <a:buFont typeface="Arial" panose="020B0604020202020204" pitchFamily="34" charset="0"/>
        <a:buChar char="•"/>
        <a:defRPr sz="2129" kern="1200">
          <a:solidFill>
            <a:schemeClr val="tx1"/>
          </a:solidFill>
          <a:latin typeface="+mn-lt"/>
          <a:ea typeface="+mn-ea"/>
          <a:cs typeface="+mn-cs"/>
        </a:defRPr>
      </a:lvl9pPr>
    </p:bodyStyle>
    <p:otherStyle>
      <a:defPPr>
        <a:defRPr lang="en-US"/>
      </a:defPPr>
      <a:lvl1pPr marL="0" algn="l" defTabSz="1081735" rtl="0" eaLnBrk="1" latinLnBrk="0" hangingPunct="1">
        <a:defRPr sz="2129" kern="1200">
          <a:solidFill>
            <a:schemeClr val="tx1"/>
          </a:solidFill>
          <a:latin typeface="+mn-lt"/>
          <a:ea typeface="+mn-ea"/>
          <a:cs typeface="+mn-cs"/>
        </a:defRPr>
      </a:lvl1pPr>
      <a:lvl2pPr marL="540868" algn="l" defTabSz="1081735" rtl="0" eaLnBrk="1" latinLnBrk="0" hangingPunct="1">
        <a:defRPr sz="2129" kern="1200">
          <a:solidFill>
            <a:schemeClr val="tx1"/>
          </a:solidFill>
          <a:latin typeface="+mn-lt"/>
          <a:ea typeface="+mn-ea"/>
          <a:cs typeface="+mn-cs"/>
        </a:defRPr>
      </a:lvl2pPr>
      <a:lvl3pPr marL="1081735" algn="l" defTabSz="1081735" rtl="0" eaLnBrk="1" latinLnBrk="0" hangingPunct="1">
        <a:defRPr sz="2129" kern="1200">
          <a:solidFill>
            <a:schemeClr val="tx1"/>
          </a:solidFill>
          <a:latin typeface="+mn-lt"/>
          <a:ea typeface="+mn-ea"/>
          <a:cs typeface="+mn-cs"/>
        </a:defRPr>
      </a:lvl3pPr>
      <a:lvl4pPr marL="1622603" algn="l" defTabSz="1081735" rtl="0" eaLnBrk="1" latinLnBrk="0" hangingPunct="1">
        <a:defRPr sz="2129" kern="1200">
          <a:solidFill>
            <a:schemeClr val="tx1"/>
          </a:solidFill>
          <a:latin typeface="+mn-lt"/>
          <a:ea typeface="+mn-ea"/>
          <a:cs typeface="+mn-cs"/>
        </a:defRPr>
      </a:lvl4pPr>
      <a:lvl5pPr marL="2163470" algn="l" defTabSz="1081735" rtl="0" eaLnBrk="1" latinLnBrk="0" hangingPunct="1">
        <a:defRPr sz="2129" kern="1200">
          <a:solidFill>
            <a:schemeClr val="tx1"/>
          </a:solidFill>
          <a:latin typeface="+mn-lt"/>
          <a:ea typeface="+mn-ea"/>
          <a:cs typeface="+mn-cs"/>
        </a:defRPr>
      </a:lvl5pPr>
      <a:lvl6pPr marL="2704338" algn="l" defTabSz="1081735" rtl="0" eaLnBrk="1" latinLnBrk="0" hangingPunct="1">
        <a:defRPr sz="2129" kern="1200">
          <a:solidFill>
            <a:schemeClr val="tx1"/>
          </a:solidFill>
          <a:latin typeface="+mn-lt"/>
          <a:ea typeface="+mn-ea"/>
          <a:cs typeface="+mn-cs"/>
        </a:defRPr>
      </a:lvl6pPr>
      <a:lvl7pPr marL="3245206" algn="l" defTabSz="1081735" rtl="0" eaLnBrk="1" latinLnBrk="0" hangingPunct="1">
        <a:defRPr sz="2129" kern="1200">
          <a:solidFill>
            <a:schemeClr val="tx1"/>
          </a:solidFill>
          <a:latin typeface="+mn-lt"/>
          <a:ea typeface="+mn-ea"/>
          <a:cs typeface="+mn-cs"/>
        </a:defRPr>
      </a:lvl7pPr>
      <a:lvl8pPr marL="3786073" algn="l" defTabSz="1081735" rtl="0" eaLnBrk="1" latinLnBrk="0" hangingPunct="1">
        <a:defRPr sz="2129" kern="1200">
          <a:solidFill>
            <a:schemeClr val="tx1"/>
          </a:solidFill>
          <a:latin typeface="+mn-lt"/>
          <a:ea typeface="+mn-ea"/>
          <a:cs typeface="+mn-cs"/>
        </a:defRPr>
      </a:lvl8pPr>
      <a:lvl9pPr marL="4326941" algn="l" defTabSz="1081735" rtl="0" eaLnBrk="1" latinLnBrk="0" hangingPunct="1">
        <a:defRPr sz="212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hteck 58">
            <a:extLst>
              <a:ext uri="{FF2B5EF4-FFF2-40B4-BE49-F238E27FC236}">
                <a16:creationId xmlns:a16="http://schemas.microsoft.com/office/drawing/2014/main" id="{0FFDCF3D-F6A4-08F9-1CDD-8D78901BE803}"/>
              </a:ext>
            </a:extLst>
          </p:cNvPr>
          <p:cNvSpPr/>
          <p:nvPr/>
        </p:nvSpPr>
        <p:spPr>
          <a:xfrm>
            <a:off x="2144712" y="209550"/>
            <a:ext cx="5721350" cy="76009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de-DE" sz="1013" dirty="0"/>
              <a:t>Data </a:t>
            </a:r>
            <a:r>
              <a:rPr lang="de-DE" sz="1013" dirty="0" err="1"/>
              <a:t>for</a:t>
            </a:r>
            <a:r>
              <a:rPr lang="de-DE" sz="1013" dirty="0"/>
              <a:t> :</a:t>
            </a:r>
          </a:p>
          <a:p>
            <a:pPr marL="160734" indent="-160734">
              <a:buFont typeface="Symbol" panose="05050102010706020507" pitchFamily="18" charset="2"/>
              <a:buChar char="-"/>
            </a:pPr>
            <a:r>
              <a:rPr lang="de-DE" sz="1013" dirty="0" err="1"/>
              <a:t>Labvalues</a:t>
            </a:r>
            <a:r>
              <a:rPr lang="de-DE" sz="1013" dirty="0"/>
              <a:t> </a:t>
            </a:r>
            <a:r>
              <a:rPr lang="de-DE" sz="1013" dirty="0" err="1"/>
              <a:t>blood</a:t>
            </a:r>
            <a:endParaRPr lang="de-DE" sz="1013" dirty="0"/>
          </a:p>
          <a:p>
            <a:pPr marL="617934" lvl="1" indent="-160734">
              <a:buFont typeface="Symbol" panose="05050102010706020507" pitchFamily="18" charset="2"/>
              <a:buChar char="-"/>
            </a:pPr>
            <a:r>
              <a:rPr lang="de-DE" sz="1013" dirty="0"/>
              <a:t>Value</a:t>
            </a:r>
          </a:p>
          <a:p>
            <a:pPr marL="617934" lvl="1" indent="-160734">
              <a:buFont typeface="Symbol" panose="05050102010706020507" pitchFamily="18" charset="2"/>
              <a:buChar char="-"/>
            </a:pPr>
            <a:r>
              <a:rPr lang="de-DE" sz="1013" dirty="0"/>
              <a:t>Time </a:t>
            </a:r>
            <a:r>
              <a:rPr lang="de-DE" sz="1013" dirty="0" err="1"/>
              <a:t>of</a:t>
            </a:r>
            <a:r>
              <a:rPr lang="de-DE" sz="1013" dirty="0"/>
              <a:t> </a:t>
            </a:r>
            <a:r>
              <a:rPr lang="de-DE" sz="1013" dirty="0" err="1"/>
              <a:t>measurement</a:t>
            </a:r>
            <a:r>
              <a:rPr lang="de-DE" sz="1013" dirty="0"/>
              <a:t> in </a:t>
            </a:r>
            <a:r>
              <a:rPr lang="de-DE" sz="1013" dirty="0" err="1"/>
              <a:t>relation</a:t>
            </a:r>
            <a:r>
              <a:rPr lang="de-DE" sz="1013" dirty="0"/>
              <a:t> </a:t>
            </a:r>
            <a:r>
              <a:rPr lang="de-DE" sz="1013" dirty="0" err="1"/>
              <a:t>to</a:t>
            </a:r>
            <a:r>
              <a:rPr lang="de-DE" sz="1013" dirty="0"/>
              <a:t> </a:t>
            </a:r>
            <a:r>
              <a:rPr lang="de-DE" sz="1013" dirty="0" err="1"/>
              <a:t>starting</a:t>
            </a:r>
            <a:r>
              <a:rPr lang="de-DE" sz="1013" dirty="0"/>
              <a:t>-date </a:t>
            </a:r>
            <a:r>
              <a:rPr lang="de-DE" sz="1013" dirty="0" err="1"/>
              <a:t>of</a:t>
            </a:r>
            <a:r>
              <a:rPr lang="de-DE" sz="1013" dirty="0"/>
              <a:t> </a:t>
            </a:r>
            <a:r>
              <a:rPr lang="de-DE" sz="1013" dirty="0" err="1"/>
              <a:t>reaction</a:t>
            </a:r>
            <a:endParaRPr lang="de-DE" sz="1013" dirty="0"/>
          </a:p>
          <a:p>
            <a:pPr marL="160734" indent="-160734">
              <a:buFont typeface="Symbol" panose="05050102010706020507" pitchFamily="18" charset="2"/>
              <a:buChar char="-"/>
            </a:pPr>
            <a:r>
              <a:rPr lang="de-DE" sz="1013" dirty="0" err="1"/>
              <a:t>Antibodies</a:t>
            </a:r>
            <a:endParaRPr lang="de-DE" sz="1013" dirty="0"/>
          </a:p>
          <a:p>
            <a:pPr marL="617934" lvl="1" indent="-160734">
              <a:buFont typeface="Symbol" panose="05050102010706020507" pitchFamily="18" charset="2"/>
              <a:buChar char="-"/>
            </a:pPr>
            <a:r>
              <a:rPr lang="de-DE" sz="1013" dirty="0"/>
              <a:t>Antikörper „positiv“ oder „negativ“</a:t>
            </a:r>
          </a:p>
          <a:p>
            <a:pPr marL="617934" lvl="1" indent="-160734">
              <a:buFont typeface="Symbol" panose="05050102010706020507" pitchFamily="18" charset="2"/>
              <a:buChar char="-"/>
            </a:pPr>
            <a:r>
              <a:rPr lang="de-DE" sz="1013" dirty="0"/>
              <a:t>Genauen Titer</a:t>
            </a:r>
          </a:p>
          <a:p>
            <a:pPr marL="160734" indent="-160734">
              <a:buFont typeface="Symbol" panose="05050102010706020507" pitchFamily="18" charset="2"/>
              <a:buChar char="-"/>
            </a:pPr>
            <a:r>
              <a:rPr lang="de-DE" sz="1013" dirty="0" err="1"/>
              <a:t>Labvalues</a:t>
            </a:r>
            <a:r>
              <a:rPr lang="de-DE" sz="1013" dirty="0"/>
              <a:t> </a:t>
            </a:r>
            <a:r>
              <a:rPr lang="de-DE" sz="1013" dirty="0" err="1"/>
              <a:t>urine</a:t>
            </a:r>
            <a:endParaRPr lang="de-DE" sz="1013" dirty="0"/>
          </a:p>
          <a:p>
            <a:pPr marL="617934" lvl="1" indent="-160734">
              <a:buFont typeface="Symbol" panose="05050102010706020507" pitchFamily="18" charset="2"/>
              <a:buChar char="-"/>
            </a:pPr>
            <a:r>
              <a:rPr lang="de-DE" sz="1013" dirty="0"/>
              <a:t>Value</a:t>
            </a:r>
          </a:p>
          <a:p>
            <a:pPr marL="617934" lvl="1" indent="-160734">
              <a:buFont typeface="Symbol" panose="05050102010706020507" pitchFamily="18" charset="2"/>
              <a:buChar char="-"/>
            </a:pPr>
            <a:r>
              <a:rPr lang="de-DE" sz="1013" dirty="0"/>
              <a:t>Time </a:t>
            </a:r>
            <a:r>
              <a:rPr lang="de-DE" sz="1013" dirty="0" err="1"/>
              <a:t>of</a:t>
            </a:r>
            <a:r>
              <a:rPr lang="de-DE" sz="1013" dirty="0"/>
              <a:t> </a:t>
            </a:r>
            <a:r>
              <a:rPr lang="de-DE" sz="1013" dirty="0" err="1"/>
              <a:t>measurement</a:t>
            </a:r>
            <a:r>
              <a:rPr lang="de-DE" sz="1013" dirty="0"/>
              <a:t> in </a:t>
            </a:r>
            <a:r>
              <a:rPr lang="de-DE" sz="1013" dirty="0" err="1"/>
              <a:t>relation</a:t>
            </a:r>
            <a:r>
              <a:rPr lang="de-DE" sz="1013" dirty="0"/>
              <a:t> </a:t>
            </a:r>
            <a:r>
              <a:rPr lang="de-DE" sz="1013" dirty="0" err="1"/>
              <a:t>to</a:t>
            </a:r>
            <a:r>
              <a:rPr lang="de-DE" sz="1013" dirty="0"/>
              <a:t> </a:t>
            </a:r>
            <a:r>
              <a:rPr lang="de-DE" sz="1013" dirty="0" err="1"/>
              <a:t>starting</a:t>
            </a:r>
            <a:r>
              <a:rPr lang="de-DE" sz="1013" dirty="0"/>
              <a:t>-date </a:t>
            </a:r>
            <a:r>
              <a:rPr lang="de-DE" sz="1013" dirty="0" err="1"/>
              <a:t>of</a:t>
            </a:r>
            <a:r>
              <a:rPr lang="de-DE" sz="1013" dirty="0"/>
              <a:t> </a:t>
            </a:r>
            <a:r>
              <a:rPr lang="de-DE" sz="1013" dirty="0" err="1"/>
              <a:t>reaction</a:t>
            </a:r>
            <a:endParaRPr lang="de-DE" sz="1013" dirty="0"/>
          </a:p>
          <a:p>
            <a:pPr marL="160734" indent="-160734">
              <a:buFont typeface="Symbol" panose="05050102010706020507" pitchFamily="18" charset="2"/>
              <a:buChar char="-"/>
            </a:pPr>
            <a:r>
              <a:rPr lang="de-DE" sz="1013" dirty="0"/>
              <a:t>General Information </a:t>
            </a:r>
          </a:p>
          <a:p>
            <a:pPr marL="417909" lvl="1" indent="-160734">
              <a:buFont typeface="Symbol" panose="05050102010706020507" pitchFamily="18" charset="2"/>
              <a:buChar char="-"/>
            </a:pPr>
            <a:r>
              <a:rPr lang="de-DE" sz="1013" dirty="0"/>
              <a:t>Age </a:t>
            </a:r>
          </a:p>
          <a:p>
            <a:pPr marL="417909" lvl="1" indent="-160734">
              <a:buFont typeface="Symbol" panose="05050102010706020507" pitchFamily="18" charset="2"/>
              <a:buChar char="-"/>
            </a:pPr>
            <a:r>
              <a:rPr lang="de-DE" sz="1013" dirty="0"/>
              <a:t>Sex </a:t>
            </a:r>
          </a:p>
          <a:p>
            <a:pPr marL="417909" lvl="1" indent="-160734">
              <a:buFont typeface="Symbol" panose="05050102010706020507" pitchFamily="18" charset="2"/>
              <a:buChar char="-"/>
            </a:pPr>
            <a:r>
              <a:rPr lang="de-DE" sz="1013" dirty="0"/>
              <a:t>BMI</a:t>
            </a:r>
          </a:p>
          <a:p>
            <a:pPr marL="417909" lvl="1" indent="-160734">
              <a:buFont typeface="Symbol" panose="05050102010706020507" pitchFamily="18" charset="2"/>
              <a:buChar char="-"/>
            </a:pPr>
            <a:r>
              <a:rPr lang="de-DE" sz="1013" dirty="0"/>
              <a:t>Death due </a:t>
            </a:r>
            <a:r>
              <a:rPr lang="de-DE" sz="1013" dirty="0" err="1"/>
              <a:t>to</a:t>
            </a:r>
            <a:r>
              <a:rPr lang="de-DE" sz="1013" dirty="0"/>
              <a:t> </a:t>
            </a:r>
            <a:r>
              <a:rPr lang="de-DE" sz="1013" dirty="0" err="1"/>
              <a:t>reaction</a:t>
            </a:r>
            <a:endParaRPr lang="de-DE" sz="1013" dirty="0"/>
          </a:p>
          <a:p>
            <a:pPr marL="417909" lvl="1" indent="-160734">
              <a:buFont typeface="Symbol" panose="05050102010706020507" pitchFamily="18" charset="2"/>
              <a:buChar char="-"/>
            </a:pPr>
            <a:r>
              <a:rPr lang="de-DE" sz="1013" dirty="0"/>
              <a:t>Duration </a:t>
            </a:r>
            <a:r>
              <a:rPr lang="de-DE" sz="1013" dirty="0" err="1"/>
              <a:t>of</a:t>
            </a:r>
            <a:r>
              <a:rPr lang="de-DE" sz="1013" dirty="0"/>
              <a:t> </a:t>
            </a:r>
            <a:r>
              <a:rPr lang="de-DE" sz="1013" dirty="0" err="1"/>
              <a:t>reaction</a:t>
            </a:r>
            <a:endParaRPr lang="de-DE" sz="1013" dirty="0"/>
          </a:p>
          <a:p>
            <a:pPr marL="160734" indent="-160734">
              <a:buFont typeface="Symbol" panose="05050102010706020507" pitchFamily="18" charset="2"/>
              <a:buChar char="-"/>
            </a:pPr>
            <a:r>
              <a:rPr lang="de-DE" sz="1013" dirty="0" err="1"/>
              <a:t>Pre-existing</a:t>
            </a:r>
            <a:r>
              <a:rPr lang="de-DE" sz="1013" dirty="0"/>
              <a:t> </a:t>
            </a:r>
            <a:r>
              <a:rPr lang="de-DE" sz="1013" dirty="0" err="1"/>
              <a:t>diseases</a:t>
            </a:r>
            <a:endParaRPr lang="de-DE" sz="1013" dirty="0"/>
          </a:p>
          <a:p>
            <a:pPr marL="617934" lvl="1" indent="-160734">
              <a:buFont typeface="Symbol" panose="05050102010706020507" pitchFamily="18" charset="2"/>
              <a:buChar char="-"/>
            </a:pPr>
            <a:r>
              <a:rPr lang="de-DE" sz="1013" dirty="0"/>
              <a:t>Summary </a:t>
            </a:r>
            <a:r>
              <a:rPr lang="de-DE" sz="1013" dirty="0" err="1"/>
              <a:t>as</a:t>
            </a:r>
            <a:r>
              <a:rPr lang="de-DE" sz="1013" dirty="0"/>
              <a:t> a code</a:t>
            </a:r>
          </a:p>
          <a:p>
            <a:pPr marL="160734" indent="-160734">
              <a:buFont typeface="Symbol" panose="05050102010706020507" pitchFamily="18" charset="2"/>
              <a:buChar char="-"/>
            </a:pPr>
            <a:r>
              <a:rPr lang="de-DE" sz="1013" dirty="0" err="1"/>
              <a:t>Medication</a:t>
            </a:r>
            <a:r>
              <a:rPr lang="de-DE" sz="1013" dirty="0"/>
              <a:t> (</a:t>
            </a:r>
            <a:r>
              <a:rPr lang="de-DE" sz="1013" dirty="0" err="1"/>
              <a:t>Diclo</a:t>
            </a:r>
            <a:r>
              <a:rPr lang="de-DE" sz="1013" dirty="0"/>
              <a:t>, Ibu, Para)</a:t>
            </a:r>
          </a:p>
          <a:p>
            <a:pPr marL="617934" lvl="1" indent="-160734">
              <a:buFont typeface="Symbol" panose="05050102010706020507" pitchFamily="18" charset="2"/>
              <a:buChar char="-"/>
            </a:pPr>
            <a:r>
              <a:rPr lang="de-DE" sz="1013" dirty="0"/>
              <a:t>„Einnahme erfolgt“ </a:t>
            </a:r>
            <a:r>
              <a:rPr lang="de-DE" sz="1013" dirty="0" err="1"/>
              <a:t>if</a:t>
            </a:r>
            <a:r>
              <a:rPr lang="de-DE" sz="1013" dirty="0"/>
              <a:t> </a:t>
            </a:r>
            <a:r>
              <a:rPr lang="de-DE" sz="1013" dirty="0" err="1"/>
              <a:t>no</a:t>
            </a:r>
            <a:r>
              <a:rPr lang="de-DE" sz="1013" dirty="0"/>
              <a:t> </a:t>
            </a:r>
            <a:r>
              <a:rPr lang="de-DE" sz="1013" dirty="0" err="1"/>
              <a:t>other</a:t>
            </a:r>
            <a:r>
              <a:rPr lang="de-DE" sz="1013" dirty="0"/>
              <a:t> </a:t>
            </a:r>
            <a:r>
              <a:rPr lang="de-DE" sz="1013" dirty="0" err="1"/>
              <a:t>information</a:t>
            </a:r>
            <a:r>
              <a:rPr lang="de-DE" sz="1013" dirty="0"/>
              <a:t> </a:t>
            </a:r>
            <a:r>
              <a:rPr lang="de-DE" sz="1013" dirty="0" err="1"/>
              <a:t>available</a:t>
            </a:r>
            <a:endParaRPr lang="de-DE" sz="1013" dirty="0"/>
          </a:p>
          <a:p>
            <a:pPr marL="617934" lvl="1" indent="-160734">
              <a:buFont typeface="Symbol" panose="05050102010706020507" pitchFamily="18" charset="2"/>
              <a:buChar char="-"/>
            </a:pPr>
            <a:r>
              <a:rPr lang="de-DE" sz="1013" dirty="0"/>
              <a:t>„Dosis (Mg/Einnahme)“</a:t>
            </a:r>
          </a:p>
          <a:p>
            <a:pPr marL="617934" lvl="1" indent="-160734">
              <a:buFont typeface="Symbol" panose="05050102010706020507" pitchFamily="18" charset="2"/>
              <a:buChar char="-"/>
            </a:pPr>
            <a:r>
              <a:rPr lang="de-DE" sz="1013" dirty="0"/>
              <a:t>„Häufigkeit der Einnahme pro Tag“</a:t>
            </a:r>
          </a:p>
          <a:p>
            <a:pPr marL="617934" lvl="1" indent="-160734">
              <a:buFont typeface="Symbol" panose="05050102010706020507" pitchFamily="18" charset="2"/>
              <a:buChar char="-"/>
            </a:pPr>
            <a:r>
              <a:rPr lang="de-DE" sz="1013" dirty="0"/>
              <a:t>Way </a:t>
            </a:r>
            <a:r>
              <a:rPr lang="de-DE" sz="1013" dirty="0" err="1"/>
              <a:t>of</a:t>
            </a:r>
            <a:r>
              <a:rPr lang="de-DE" sz="1013" dirty="0"/>
              <a:t> </a:t>
            </a:r>
            <a:r>
              <a:rPr lang="de-DE" sz="1013" dirty="0" err="1"/>
              <a:t>intake</a:t>
            </a:r>
            <a:r>
              <a:rPr lang="de-DE" sz="1013" dirty="0"/>
              <a:t> (</a:t>
            </a:r>
            <a:r>
              <a:rPr lang="de-DE" sz="1013" dirty="0" err="1"/>
              <a:t>i.v.</a:t>
            </a:r>
            <a:r>
              <a:rPr lang="de-DE" sz="1013" dirty="0"/>
              <a:t>, </a:t>
            </a:r>
            <a:r>
              <a:rPr lang="de-DE" sz="1013" dirty="0" err="1"/>
              <a:t>i.m</a:t>
            </a:r>
            <a:r>
              <a:rPr lang="de-DE" sz="1013" dirty="0"/>
              <a:t>., </a:t>
            </a:r>
            <a:r>
              <a:rPr lang="de-DE" sz="1013" dirty="0" err="1"/>
              <a:t>p.o</a:t>
            </a:r>
            <a:r>
              <a:rPr lang="de-DE" sz="1013" dirty="0"/>
              <a:t>., Supp, Salbe/Gel)</a:t>
            </a:r>
          </a:p>
          <a:p>
            <a:pPr marL="617934" lvl="1" indent="-160734">
              <a:buFont typeface="Symbol" panose="05050102010706020507" pitchFamily="18" charset="2"/>
              <a:buChar char="-"/>
            </a:pPr>
            <a:r>
              <a:rPr lang="de-DE" sz="1013" dirty="0"/>
              <a:t>„Dauer der Einnahme (Tage)“</a:t>
            </a:r>
          </a:p>
          <a:p>
            <a:pPr marL="617934" lvl="1" indent="-160734">
              <a:buFont typeface="Symbol" panose="05050102010706020507" pitchFamily="18" charset="2"/>
              <a:buChar char="-"/>
            </a:pPr>
            <a:r>
              <a:rPr lang="de-DE" sz="1013" dirty="0"/>
              <a:t>„Zeitraum: erste Einnahme bis Krankheitsbeginn (Tage)“</a:t>
            </a:r>
          </a:p>
          <a:p>
            <a:pPr marL="617934" lvl="1" indent="-160734">
              <a:buFont typeface="Symbol" panose="05050102010706020507" pitchFamily="18" charset="2"/>
              <a:buChar char="-"/>
            </a:pPr>
            <a:r>
              <a:rPr lang="de-DE" sz="1013" dirty="0"/>
              <a:t>„Zeitraum: letzte Einnahme bis Krankheitsbeginn (Tage)“</a:t>
            </a:r>
          </a:p>
          <a:p>
            <a:pPr marL="617934" lvl="1" indent="-160734">
              <a:buFont typeface="Symbol" panose="05050102010706020507" pitchFamily="18" charset="2"/>
              <a:buChar char="-"/>
            </a:pPr>
            <a:r>
              <a:rPr lang="de-DE" sz="1013" dirty="0"/>
              <a:t>„Einnahme nach Krankheitsbeginn (Tage)“</a:t>
            </a:r>
          </a:p>
          <a:p>
            <a:pPr marL="617934" lvl="1" indent="-160734">
              <a:buFont typeface="Symbol" panose="05050102010706020507" pitchFamily="18" charset="2"/>
              <a:buChar char="-"/>
            </a:pPr>
            <a:r>
              <a:rPr lang="de-DE" sz="1013" dirty="0" err="1"/>
              <a:t>Exp</a:t>
            </a:r>
            <a:r>
              <a:rPr lang="de-DE" sz="1013" dirty="0"/>
              <a:t>. (Skale </a:t>
            </a:r>
            <a:r>
              <a:rPr lang="de-DE" sz="1013" dirty="0" err="1"/>
              <a:t>from</a:t>
            </a:r>
            <a:r>
              <a:rPr lang="de-DE" sz="1013" dirty="0"/>
              <a:t> 1-8 </a:t>
            </a:r>
            <a:r>
              <a:rPr lang="de-DE" sz="1013" dirty="0" err="1"/>
              <a:t>about</a:t>
            </a:r>
            <a:r>
              <a:rPr lang="de-DE" sz="1013" dirty="0"/>
              <a:t> </a:t>
            </a:r>
            <a:r>
              <a:rPr lang="de-DE" sz="1013" dirty="0" err="1"/>
              <a:t>the</a:t>
            </a:r>
            <a:r>
              <a:rPr lang="de-DE" sz="1013" dirty="0"/>
              <a:t> </a:t>
            </a:r>
            <a:r>
              <a:rPr lang="de-DE" sz="1013" dirty="0" err="1"/>
              <a:t>probability</a:t>
            </a:r>
            <a:r>
              <a:rPr lang="de-DE" sz="1013" dirty="0"/>
              <a:t> </a:t>
            </a:r>
            <a:r>
              <a:rPr lang="de-DE" sz="1013" dirty="0" err="1"/>
              <a:t>of</a:t>
            </a:r>
            <a:r>
              <a:rPr lang="de-DE" sz="1013" dirty="0"/>
              <a:t> </a:t>
            </a:r>
            <a:r>
              <a:rPr lang="de-DE" sz="1013" dirty="0" err="1"/>
              <a:t>course</a:t>
            </a:r>
            <a:r>
              <a:rPr lang="de-DE" sz="1013" dirty="0"/>
              <a:t> </a:t>
            </a:r>
            <a:r>
              <a:rPr lang="de-DE" sz="1013" dirty="0" err="1"/>
              <a:t>of</a:t>
            </a:r>
            <a:r>
              <a:rPr lang="de-DE" sz="1013" dirty="0"/>
              <a:t> </a:t>
            </a:r>
            <a:r>
              <a:rPr lang="de-DE" sz="1013" dirty="0" err="1"/>
              <a:t>the</a:t>
            </a:r>
            <a:r>
              <a:rPr lang="de-DE" sz="1013" dirty="0"/>
              <a:t> </a:t>
            </a:r>
            <a:r>
              <a:rPr lang="de-DE" sz="1013" dirty="0" err="1"/>
              <a:t>reaction</a:t>
            </a:r>
            <a:r>
              <a:rPr lang="de-DE" sz="1013" dirty="0"/>
              <a:t> </a:t>
            </a:r>
            <a:r>
              <a:rPr lang="de-DE" sz="1013" dirty="0" err="1"/>
              <a:t>for</a:t>
            </a:r>
            <a:r>
              <a:rPr lang="de-DE" sz="1013" dirty="0"/>
              <a:t> </a:t>
            </a:r>
            <a:r>
              <a:rPr lang="de-DE" sz="1013" dirty="0" err="1"/>
              <a:t>this</a:t>
            </a:r>
            <a:r>
              <a:rPr lang="de-DE" sz="1013" dirty="0"/>
              <a:t> </a:t>
            </a:r>
            <a:r>
              <a:rPr lang="de-DE" sz="1013" dirty="0" err="1"/>
              <a:t>medicament</a:t>
            </a:r>
            <a:r>
              <a:rPr lang="de-DE" sz="1013" dirty="0"/>
              <a:t>)</a:t>
            </a:r>
          </a:p>
          <a:p>
            <a:pPr marL="160734" indent="-160734">
              <a:buFont typeface="Symbol" panose="05050102010706020507" pitchFamily="18" charset="2"/>
              <a:buChar char="-"/>
            </a:pPr>
            <a:r>
              <a:rPr lang="de-DE" sz="1013" dirty="0"/>
              <a:t>Side-</a:t>
            </a:r>
            <a:r>
              <a:rPr lang="de-DE" sz="1013" dirty="0" err="1"/>
              <a:t>Medication</a:t>
            </a:r>
            <a:endParaRPr lang="de-DE" sz="1013" dirty="0"/>
          </a:p>
          <a:p>
            <a:pPr marL="617934" lvl="1" indent="-160734">
              <a:buFont typeface="Symbol" panose="05050102010706020507" pitchFamily="18" charset="2"/>
              <a:buChar char="-"/>
            </a:pPr>
            <a:r>
              <a:rPr lang="de-DE" sz="1013" dirty="0"/>
              <a:t>Same </a:t>
            </a:r>
            <a:r>
              <a:rPr lang="de-DE" sz="1013" dirty="0" err="1"/>
              <a:t>information</a:t>
            </a:r>
            <a:r>
              <a:rPr lang="de-DE" sz="1013" dirty="0"/>
              <a:t> </a:t>
            </a:r>
            <a:r>
              <a:rPr lang="de-DE" sz="1013" dirty="0" err="1"/>
              <a:t>as</a:t>
            </a:r>
            <a:r>
              <a:rPr lang="de-DE" sz="1013" dirty="0"/>
              <a:t> </a:t>
            </a:r>
            <a:r>
              <a:rPr lang="de-DE" sz="1013" dirty="0" err="1"/>
              <a:t>above</a:t>
            </a:r>
            <a:endParaRPr lang="de-DE" sz="1013" dirty="0"/>
          </a:p>
          <a:p>
            <a:pPr marL="160734" indent="-160734">
              <a:buFont typeface="Symbol" panose="05050102010706020507" pitchFamily="18" charset="2"/>
              <a:buChar char="-"/>
            </a:pPr>
            <a:r>
              <a:rPr lang="de-DE" sz="1013" dirty="0"/>
              <a:t>Symptoms </a:t>
            </a:r>
            <a:r>
              <a:rPr lang="de-DE" sz="1013" dirty="0" err="1"/>
              <a:t>of</a:t>
            </a:r>
            <a:r>
              <a:rPr lang="de-DE" sz="1013" dirty="0"/>
              <a:t> </a:t>
            </a:r>
            <a:r>
              <a:rPr lang="de-DE" sz="1013" dirty="0" err="1"/>
              <a:t>reaction</a:t>
            </a:r>
            <a:r>
              <a:rPr lang="de-DE" sz="1013" dirty="0"/>
              <a:t> (</a:t>
            </a:r>
            <a:r>
              <a:rPr lang="de-DE" sz="1013" dirty="0" err="1"/>
              <a:t>general</a:t>
            </a:r>
            <a:r>
              <a:rPr lang="de-DE" sz="1013" dirty="0"/>
              <a:t>, and </a:t>
            </a:r>
            <a:r>
              <a:rPr lang="de-DE" sz="1013" dirty="0" err="1"/>
              <a:t>regarding</a:t>
            </a:r>
            <a:r>
              <a:rPr lang="de-DE" sz="1013" dirty="0"/>
              <a:t> </a:t>
            </a:r>
            <a:r>
              <a:rPr lang="de-DE" sz="1013" dirty="0" err="1"/>
              <a:t>skin</a:t>
            </a:r>
            <a:r>
              <a:rPr lang="de-DE" sz="1013" dirty="0"/>
              <a:t>)</a:t>
            </a:r>
          </a:p>
          <a:p>
            <a:pPr marL="617934" lvl="1" indent="-160734">
              <a:buFont typeface="Symbol" panose="05050102010706020507" pitchFamily="18" charset="2"/>
              <a:buChar char="-"/>
            </a:pPr>
            <a:r>
              <a:rPr lang="de-DE" sz="1013" dirty="0"/>
              <a:t>Summary </a:t>
            </a:r>
            <a:r>
              <a:rPr lang="de-DE" sz="1013" dirty="0" err="1"/>
              <a:t>as</a:t>
            </a:r>
            <a:r>
              <a:rPr lang="de-DE" sz="1013" dirty="0"/>
              <a:t> a code</a:t>
            </a:r>
          </a:p>
          <a:p>
            <a:pPr marL="160734" indent="-160734">
              <a:buFont typeface="Symbol" panose="05050102010706020507" pitchFamily="18" charset="2"/>
              <a:buChar char="-"/>
            </a:pPr>
            <a:r>
              <a:rPr lang="de-DE" sz="1013" dirty="0" err="1"/>
              <a:t>Liverbiopsy</a:t>
            </a:r>
            <a:endParaRPr lang="de-DE" sz="1013" dirty="0"/>
          </a:p>
          <a:p>
            <a:pPr marL="160734" indent="-160734">
              <a:buFont typeface="Symbol" panose="05050102010706020507" pitchFamily="18" charset="2"/>
              <a:buChar char="-"/>
            </a:pPr>
            <a:r>
              <a:rPr lang="de-DE" sz="1013" dirty="0" err="1"/>
              <a:t>Histology</a:t>
            </a:r>
            <a:endParaRPr lang="de-DE" sz="1013" dirty="0"/>
          </a:p>
        </p:txBody>
      </p:sp>
    </p:spTree>
    <p:extLst>
      <p:ext uri="{BB962C8B-B14F-4D97-AF65-F5344CB8AC3E}">
        <p14:creationId xmlns:p14="http://schemas.microsoft.com/office/powerpoint/2010/main" val="3986511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Rechteck 161">
            <a:extLst>
              <a:ext uri="{FF2B5EF4-FFF2-40B4-BE49-F238E27FC236}">
                <a16:creationId xmlns:a16="http://schemas.microsoft.com/office/drawing/2014/main" id="{310DF924-F866-7565-4C73-FDCBE40294C1}"/>
              </a:ext>
            </a:extLst>
          </p:cNvPr>
          <p:cNvSpPr/>
          <p:nvPr/>
        </p:nvSpPr>
        <p:spPr>
          <a:xfrm>
            <a:off x="1911037" y="3664484"/>
            <a:ext cx="1620688"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err="1"/>
              <a:t>Diclofenac</a:t>
            </a:r>
            <a:endParaRPr lang="de-DE" sz="1013" dirty="0"/>
          </a:p>
          <a:p>
            <a:pPr algn="ctr"/>
            <a:r>
              <a:rPr lang="de-DE" sz="1013" dirty="0"/>
              <a:t>N=145</a:t>
            </a:r>
          </a:p>
        </p:txBody>
      </p:sp>
      <p:sp>
        <p:nvSpPr>
          <p:cNvPr id="163" name="Rechteck 162">
            <a:extLst>
              <a:ext uri="{FF2B5EF4-FFF2-40B4-BE49-F238E27FC236}">
                <a16:creationId xmlns:a16="http://schemas.microsoft.com/office/drawing/2014/main" id="{8826614B-0D5C-C7B1-E699-5BFADBEB31CB}"/>
              </a:ext>
            </a:extLst>
          </p:cNvPr>
          <p:cNvSpPr/>
          <p:nvPr/>
        </p:nvSpPr>
        <p:spPr>
          <a:xfrm>
            <a:off x="3777578" y="3670548"/>
            <a:ext cx="1620688"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a:t>Ibuprofen</a:t>
            </a:r>
          </a:p>
          <a:p>
            <a:pPr algn="ctr"/>
            <a:r>
              <a:rPr lang="de-DE" sz="1013" dirty="0"/>
              <a:t>N=85</a:t>
            </a:r>
          </a:p>
        </p:txBody>
      </p:sp>
      <p:sp>
        <p:nvSpPr>
          <p:cNvPr id="164" name="Rechteck 163">
            <a:extLst>
              <a:ext uri="{FF2B5EF4-FFF2-40B4-BE49-F238E27FC236}">
                <a16:creationId xmlns:a16="http://schemas.microsoft.com/office/drawing/2014/main" id="{1B7C5C67-EA0D-1CE8-D942-BC5031B49F38}"/>
              </a:ext>
            </a:extLst>
          </p:cNvPr>
          <p:cNvSpPr/>
          <p:nvPr/>
        </p:nvSpPr>
        <p:spPr>
          <a:xfrm>
            <a:off x="5644119" y="3670548"/>
            <a:ext cx="1620688"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a:t>Paracetamol</a:t>
            </a:r>
          </a:p>
          <a:p>
            <a:pPr algn="ctr"/>
            <a:r>
              <a:rPr lang="de-DE" sz="1013" dirty="0"/>
              <a:t>N=103</a:t>
            </a:r>
          </a:p>
        </p:txBody>
      </p:sp>
      <p:sp>
        <p:nvSpPr>
          <p:cNvPr id="165" name="Rechteck 164">
            <a:extLst>
              <a:ext uri="{FF2B5EF4-FFF2-40B4-BE49-F238E27FC236}">
                <a16:creationId xmlns:a16="http://schemas.microsoft.com/office/drawing/2014/main" id="{BFBD60D8-C44B-1DB5-D9CD-5D0AB1FF2A84}"/>
              </a:ext>
            </a:extLst>
          </p:cNvPr>
          <p:cNvSpPr/>
          <p:nvPr/>
        </p:nvSpPr>
        <p:spPr>
          <a:xfrm>
            <a:off x="1911038" y="413894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a:p>
            <a:pPr algn="ctr"/>
            <a:r>
              <a:rPr lang="de-DE" sz="675" dirty="0"/>
              <a:t>N=10</a:t>
            </a:r>
          </a:p>
        </p:txBody>
      </p:sp>
      <p:sp>
        <p:nvSpPr>
          <p:cNvPr id="166" name="Rechteck 165">
            <a:extLst>
              <a:ext uri="{FF2B5EF4-FFF2-40B4-BE49-F238E27FC236}">
                <a16:creationId xmlns:a16="http://schemas.microsoft.com/office/drawing/2014/main" id="{7466BB91-91FD-5D2D-92A0-9EE526931985}"/>
              </a:ext>
            </a:extLst>
          </p:cNvPr>
          <p:cNvSpPr/>
          <p:nvPr/>
        </p:nvSpPr>
        <p:spPr>
          <a:xfrm>
            <a:off x="2478714" y="413894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500" dirty="0">
                <a:solidFill>
                  <a:schemeClr val="bg1"/>
                </a:solidFill>
              </a:rPr>
              <a:t>Epidermal </a:t>
            </a:r>
            <a:r>
              <a:rPr lang="de-DE" sz="500" dirty="0" err="1">
                <a:solidFill>
                  <a:schemeClr val="bg1"/>
                </a:solidFill>
              </a:rPr>
              <a:t>reaction</a:t>
            </a:r>
            <a:endParaRPr lang="de-DE" sz="500" dirty="0">
              <a:solidFill>
                <a:schemeClr val="bg1"/>
              </a:solidFill>
            </a:endParaRPr>
          </a:p>
          <a:p>
            <a:pPr algn="ctr"/>
            <a:r>
              <a:rPr lang="de-DE" sz="500" dirty="0">
                <a:solidFill>
                  <a:schemeClr val="bg1"/>
                </a:solidFill>
              </a:rPr>
              <a:t>N=7</a:t>
            </a:r>
          </a:p>
        </p:txBody>
      </p:sp>
      <p:sp>
        <p:nvSpPr>
          <p:cNvPr id="167" name="Rechteck 166">
            <a:extLst>
              <a:ext uri="{FF2B5EF4-FFF2-40B4-BE49-F238E27FC236}">
                <a16:creationId xmlns:a16="http://schemas.microsoft.com/office/drawing/2014/main" id="{692C7126-C60C-140E-6BB7-7D38659F9EB3}"/>
              </a:ext>
            </a:extLst>
          </p:cNvPr>
          <p:cNvSpPr/>
          <p:nvPr/>
        </p:nvSpPr>
        <p:spPr>
          <a:xfrm>
            <a:off x="3057811" y="4142264"/>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00" dirty="0" err="1"/>
              <a:t>hepatotoxicity</a:t>
            </a:r>
            <a:endParaRPr lang="de-DE" sz="600" dirty="0"/>
          </a:p>
          <a:p>
            <a:pPr algn="ctr"/>
            <a:r>
              <a:rPr lang="de-DE" sz="600" dirty="0"/>
              <a:t>N=128</a:t>
            </a:r>
          </a:p>
        </p:txBody>
      </p:sp>
      <p:sp>
        <p:nvSpPr>
          <p:cNvPr id="168" name="Rechteck 167">
            <a:extLst>
              <a:ext uri="{FF2B5EF4-FFF2-40B4-BE49-F238E27FC236}">
                <a16:creationId xmlns:a16="http://schemas.microsoft.com/office/drawing/2014/main" id="{D5C8B734-ADD1-9712-C6E5-8595B250FB79}"/>
              </a:ext>
            </a:extLst>
          </p:cNvPr>
          <p:cNvSpPr/>
          <p:nvPr/>
        </p:nvSpPr>
        <p:spPr>
          <a:xfrm>
            <a:off x="4038412" y="1189280"/>
            <a:ext cx="1720403" cy="72792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de-DE" sz="900" dirty="0" err="1"/>
              <a:t>Exclusion</a:t>
            </a:r>
            <a:r>
              <a:rPr lang="de-DE" sz="900" dirty="0"/>
              <a:t> </a:t>
            </a:r>
            <a:r>
              <a:rPr lang="de-DE" sz="900" dirty="0" err="1"/>
              <a:t>criteria</a:t>
            </a:r>
            <a:endParaRPr lang="de-DE" sz="900" dirty="0"/>
          </a:p>
          <a:p>
            <a:pPr marL="160734" indent="-160734">
              <a:buFont typeface="Symbol" panose="05050102010706020507" pitchFamily="18" charset="2"/>
              <a:buChar char="-"/>
            </a:pPr>
            <a:r>
              <a:rPr lang="de-DE" sz="900" dirty="0"/>
              <a:t>Cases </a:t>
            </a:r>
            <a:r>
              <a:rPr lang="de-DE" sz="900" dirty="0" err="1"/>
              <a:t>without</a:t>
            </a:r>
            <a:r>
              <a:rPr lang="de-DE" sz="900" dirty="0"/>
              <a:t> </a:t>
            </a:r>
            <a:r>
              <a:rPr lang="de-DE" sz="900" dirty="0" err="1"/>
              <a:t>any</a:t>
            </a:r>
            <a:r>
              <a:rPr lang="de-DE" sz="900" dirty="0"/>
              <a:t> </a:t>
            </a:r>
            <a:r>
              <a:rPr lang="de-DE" sz="900" dirty="0" err="1"/>
              <a:t>information</a:t>
            </a:r>
            <a:r>
              <a:rPr lang="de-DE" sz="900" dirty="0"/>
              <a:t> </a:t>
            </a:r>
            <a:r>
              <a:rPr lang="de-DE" sz="900" dirty="0" err="1"/>
              <a:t>about</a:t>
            </a:r>
            <a:r>
              <a:rPr lang="de-DE" sz="900" dirty="0"/>
              <a:t> </a:t>
            </a:r>
            <a:r>
              <a:rPr lang="de-DE" sz="900" dirty="0" err="1"/>
              <a:t>labvalues</a:t>
            </a:r>
            <a:endParaRPr lang="de-DE" sz="900" dirty="0"/>
          </a:p>
          <a:p>
            <a:pPr marL="160734" indent="-160734">
              <a:buFont typeface="Symbol" panose="05050102010706020507" pitchFamily="18" charset="2"/>
              <a:buChar char="-"/>
            </a:pPr>
            <a:r>
              <a:rPr lang="de-DE" sz="900" dirty="0"/>
              <a:t>Cases not </a:t>
            </a:r>
            <a:r>
              <a:rPr lang="de-DE" sz="900" dirty="0" err="1"/>
              <a:t>regarding</a:t>
            </a:r>
            <a:r>
              <a:rPr lang="de-DE" sz="900" dirty="0"/>
              <a:t> SJS, </a:t>
            </a:r>
            <a:r>
              <a:rPr lang="de-DE" sz="900" dirty="0" err="1"/>
              <a:t>skinreaction</a:t>
            </a:r>
            <a:r>
              <a:rPr lang="de-DE" sz="900" dirty="0"/>
              <a:t> </a:t>
            </a:r>
            <a:r>
              <a:rPr lang="de-DE" sz="900" dirty="0" err="1"/>
              <a:t>or</a:t>
            </a:r>
            <a:r>
              <a:rPr lang="de-DE" sz="900" dirty="0"/>
              <a:t> </a:t>
            </a:r>
            <a:r>
              <a:rPr lang="de-DE" sz="900" dirty="0" err="1"/>
              <a:t>liver</a:t>
            </a:r>
            <a:endParaRPr lang="de-DE" sz="900" dirty="0"/>
          </a:p>
        </p:txBody>
      </p:sp>
      <p:sp>
        <p:nvSpPr>
          <p:cNvPr id="170" name="Rechteck 169">
            <a:extLst>
              <a:ext uri="{FF2B5EF4-FFF2-40B4-BE49-F238E27FC236}">
                <a16:creationId xmlns:a16="http://schemas.microsoft.com/office/drawing/2014/main" id="{CE9C3D5C-83B0-53C0-627C-81BB9838EA0C}"/>
              </a:ext>
            </a:extLst>
          </p:cNvPr>
          <p:cNvSpPr/>
          <p:nvPr/>
        </p:nvSpPr>
        <p:spPr>
          <a:xfrm>
            <a:off x="3777579" y="413894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a:p>
            <a:pPr algn="ctr"/>
            <a:r>
              <a:rPr lang="de-DE" sz="675" dirty="0"/>
              <a:t>N=4</a:t>
            </a:r>
          </a:p>
        </p:txBody>
      </p:sp>
      <p:sp>
        <p:nvSpPr>
          <p:cNvPr id="172" name="Rechteck 171">
            <a:extLst>
              <a:ext uri="{FF2B5EF4-FFF2-40B4-BE49-F238E27FC236}">
                <a16:creationId xmlns:a16="http://schemas.microsoft.com/office/drawing/2014/main" id="{78745696-1B33-2DAF-597A-D01A3C2FE20A}"/>
              </a:ext>
            </a:extLst>
          </p:cNvPr>
          <p:cNvSpPr/>
          <p:nvPr/>
        </p:nvSpPr>
        <p:spPr>
          <a:xfrm>
            <a:off x="4350966" y="413894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500" dirty="0"/>
              <a:t>Epidermal </a:t>
            </a:r>
            <a:r>
              <a:rPr lang="de-DE" sz="500" dirty="0" err="1"/>
              <a:t>reaction</a:t>
            </a:r>
            <a:endParaRPr lang="de-DE" sz="500" dirty="0"/>
          </a:p>
          <a:p>
            <a:pPr algn="ctr"/>
            <a:r>
              <a:rPr lang="de-DE" sz="500" dirty="0"/>
              <a:t>N=6</a:t>
            </a:r>
          </a:p>
        </p:txBody>
      </p:sp>
      <p:sp>
        <p:nvSpPr>
          <p:cNvPr id="174" name="Rechteck 173">
            <a:extLst>
              <a:ext uri="{FF2B5EF4-FFF2-40B4-BE49-F238E27FC236}">
                <a16:creationId xmlns:a16="http://schemas.microsoft.com/office/drawing/2014/main" id="{6E217F57-9894-0830-5914-926734A75B65}"/>
              </a:ext>
            </a:extLst>
          </p:cNvPr>
          <p:cNvSpPr/>
          <p:nvPr/>
        </p:nvSpPr>
        <p:spPr>
          <a:xfrm>
            <a:off x="4924352" y="413894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00" dirty="0" err="1"/>
              <a:t>hepatotoxicity</a:t>
            </a:r>
            <a:endParaRPr lang="de-DE" sz="600" dirty="0"/>
          </a:p>
          <a:p>
            <a:pPr algn="ctr"/>
            <a:r>
              <a:rPr lang="de-DE" sz="600" dirty="0"/>
              <a:t>N=75</a:t>
            </a:r>
          </a:p>
        </p:txBody>
      </p:sp>
      <p:sp>
        <p:nvSpPr>
          <p:cNvPr id="176" name="Rechteck 175">
            <a:extLst>
              <a:ext uri="{FF2B5EF4-FFF2-40B4-BE49-F238E27FC236}">
                <a16:creationId xmlns:a16="http://schemas.microsoft.com/office/drawing/2014/main" id="{CCF61779-73E8-351E-8668-17B88F98F19F}"/>
              </a:ext>
            </a:extLst>
          </p:cNvPr>
          <p:cNvSpPr/>
          <p:nvPr/>
        </p:nvSpPr>
        <p:spPr>
          <a:xfrm>
            <a:off x="5644120" y="413894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a:p>
            <a:pPr algn="ctr"/>
            <a:r>
              <a:rPr lang="de-DE" sz="675" dirty="0"/>
              <a:t>N=21</a:t>
            </a:r>
          </a:p>
        </p:txBody>
      </p:sp>
      <p:sp>
        <p:nvSpPr>
          <p:cNvPr id="178" name="Rechteck 177">
            <a:extLst>
              <a:ext uri="{FF2B5EF4-FFF2-40B4-BE49-F238E27FC236}">
                <a16:creationId xmlns:a16="http://schemas.microsoft.com/office/drawing/2014/main" id="{58322C2B-AED5-D6D4-8CBA-F2EE10B8E09C}"/>
              </a:ext>
            </a:extLst>
          </p:cNvPr>
          <p:cNvSpPr/>
          <p:nvPr/>
        </p:nvSpPr>
        <p:spPr>
          <a:xfrm>
            <a:off x="6217507" y="413894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500" dirty="0"/>
              <a:t>Epidermal </a:t>
            </a:r>
            <a:r>
              <a:rPr lang="de-DE" sz="500" dirty="0" err="1"/>
              <a:t>reaction</a:t>
            </a:r>
            <a:endParaRPr lang="de-DE" sz="500" dirty="0"/>
          </a:p>
          <a:p>
            <a:pPr algn="ctr"/>
            <a:r>
              <a:rPr lang="de-DE" sz="500" dirty="0"/>
              <a:t>N=5</a:t>
            </a:r>
          </a:p>
        </p:txBody>
      </p:sp>
      <p:sp>
        <p:nvSpPr>
          <p:cNvPr id="179" name="Rechteck 178">
            <a:extLst>
              <a:ext uri="{FF2B5EF4-FFF2-40B4-BE49-F238E27FC236}">
                <a16:creationId xmlns:a16="http://schemas.microsoft.com/office/drawing/2014/main" id="{F493F27E-1147-18AA-A332-15A680EC48D2}"/>
              </a:ext>
            </a:extLst>
          </p:cNvPr>
          <p:cNvSpPr/>
          <p:nvPr/>
        </p:nvSpPr>
        <p:spPr>
          <a:xfrm>
            <a:off x="6790893" y="413894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00" dirty="0" err="1"/>
              <a:t>hepatotoxicity</a:t>
            </a:r>
            <a:endParaRPr lang="de-DE" sz="600" dirty="0"/>
          </a:p>
          <a:p>
            <a:pPr algn="ctr"/>
            <a:r>
              <a:rPr lang="de-DE" sz="600" dirty="0"/>
              <a:t>N=77</a:t>
            </a:r>
          </a:p>
        </p:txBody>
      </p:sp>
      <p:sp>
        <p:nvSpPr>
          <p:cNvPr id="180" name="Rechteck 179">
            <a:extLst>
              <a:ext uri="{FF2B5EF4-FFF2-40B4-BE49-F238E27FC236}">
                <a16:creationId xmlns:a16="http://schemas.microsoft.com/office/drawing/2014/main" id="{0078476F-411B-DDAA-0868-0CE75DB43509}"/>
              </a:ext>
            </a:extLst>
          </p:cNvPr>
          <p:cNvSpPr/>
          <p:nvPr/>
        </p:nvSpPr>
        <p:spPr>
          <a:xfrm>
            <a:off x="1276306" y="2132292"/>
            <a:ext cx="5353770" cy="5143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a:t>BfArM-</a:t>
            </a:r>
            <a:r>
              <a:rPr lang="de-DE" sz="1013" dirty="0" err="1"/>
              <a:t>case</a:t>
            </a:r>
            <a:r>
              <a:rPr lang="de-DE" sz="1013" dirty="0"/>
              <a:t> </a:t>
            </a:r>
            <a:r>
              <a:rPr lang="de-DE" sz="1013" dirty="0" err="1"/>
              <a:t>reports</a:t>
            </a:r>
            <a:r>
              <a:rPr lang="de-DE" sz="1013" dirty="0"/>
              <a:t> </a:t>
            </a:r>
            <a:r>
              <a:rPr lang="de-DE" sz="1013" dirty="0" err="1"/>
              <a:t>for</a:t>
            </a:r>
            <a:r>
              <a:rPr lang="de-DE" sz="1013" dirty="0"/>
              <a:t> SJS, epidermal </a:t>
            </a:r>
            <a:r>
              <a:rPr lang="de-DE" sz="1013" dirty="0" err="1"/>
              <a:t>or</a:t>
            </a:r>
            <a:r>
              <a:rPr lang="de-DE" sz="1013" dirty="0"/>
              <a:t> </a:t>
            </a:r>
            <a:r>
              <a:rPr lang="de-DE" sz="1013" dirty="0" err="1"/>
              <a:t>hepatotoxic</a:t>
            </a:r>
            <a:r>
              <a:rPr lang="de-DE" sz="1013" dirty="0"/>
              <a:t> </a:t>
            </a:r>
            <a:r>
              <a:rPr lang="de-DE" sz="1013" dirty="0" err="1"/>
              <a:t>drug-reaction</a:t>
            </a:r>
            <a:r>
              <a:rPr lang="de-DE" sz="1013" dirty="0"/>
              <a:t> on </a:t>
            </a:r>
            <a:r>
              <a:rPr lang="de-DE" sz="1013" dirty="0" err="1"/>
              <a:t>Diclofenac</a:t>
            </a:r>
            <a:r>
              <a:rPr lang="de-DE" sz="1013" dirty="0"/>
              <a:t>, Ibuprofen and </a:t>
            </a:r>
            <a:r>
              <a:rPr lang="de-DE" sz="1013" dirty="0" err="1"/>
              <a:t>paracetamol</a:t>
            </a:r>
            <a:endParaRPr lang="de-DE" sz="1013" dirty="0"/>
          </a:p>
          <a:p>
            <a:pPr algn="ctr"/>
            <a:r>
              <a:rPr lang="de-DE" sz="1013" dirty="0"/>
              <a:t>N</a:t>
            </a:r>
            <a:r>
              <a:rPr lang="de-DE" sz="1013" dirty="0">
                <a:solidFill>
                  <a:schemeClr val="bg1"/>
                </a:solidFill>
              </a:rPr>
              <a:t>=406</a:t>
            </a:r>
          </a:p>
        </p:txBody>
      </p:sp>
      <p:cxnSp>
        <p:nvCxnSpPr>
          <p:cNvPr id="182" name="Gerade Verbindung mit Pfeil 181">
            <a:extLst>
              <a:ext uri="{FF2B5EF4-FFF2-40B4-BE49-F238E27FC236}">
                <a16:creationId xmlns:a16="http://schemas.microsoft.com/office/drawing/2014/main" id="{E7F5E55D-B9BD-6573-E117-CFCC8B092089}"/>
              </a:ext>
            </a:extLst>
          </p:cNvPr>
          <p:cNvCxnSpPr>
            <a:cxnSpLocks/>
            <a:endCxn id="165" idx="0"/>
          </p:cNvCxnSpPr>
          <p:nvPr/>
        </p:nvCxnSpPr>
        <p:spPr>
          <a:xfrm>
            <a:off x="2147995" y="4047967"/>
            <a:ext cx="1" cy="90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4" name="Gerade Verbindung mit Pfeil 183">
            <a:extLst>
              <a:ext uri="{FF2B5EF4-FFF2-40B4-BE49-F238E27FC236}">
                <a16:creationId xmlns:a16="http://schemas.microsoft.com/office/drawing/2014/main" id="{805003B5-0A78-B40E-4655-13DB648F23BC}"/>
              </a:ext>
            </a:extLst>
          </p:cNvPr>
          <p:cNvCxnSpPr>
            <a:cxnSpLocks/>
            <a:stCxn id="162" idx="2"/>
            <a:endCxn id="166" idx="0"/>
          </p:cNvCxnSpPr>
          <p:nvPr/>
        </p:nvCxnSpPr>
        <p:spPr>
          <a:xfrm flipH="1">
            <a:off x="2715671" y="4039733"/>
            <a:ext cx="5710" cy="99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6" name="Gerade Verbindung mit Pfeil 185">
            <a:extLst>
              <a:ext uri="{FF2B5EF4-FFF2-40B4-BE49-F238E27FC236}">
                <a16:creationId xmlns:a16="http://schemas.microsoft.com/office/drawing/2014/main" id="{E4420BCE-35E4-84BB-E626-5E8A5FA9AB10}"/>
              </a:ext>
            </a:extLst>
          </p:cNvPr>
          <p:cNvCxnSpPr>
            <a:cxnSpLocks/>
            <a:endCxn id="167" idx="0"/>
          </p:cNvCxnSpPr>
          <p:nvPr/>
        </p:nvCxnSpPr>
        <p:spPr>
          <a:xfrm>
            <a:off x="3294768" y="4047967"/>
            <a:ext cx="1" cy="94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8" name="Gerade Verbindung mit Pfeil 187">
            <a:extLst>
              <a:ext uri="{FF2B5EF4-FFF2-40B4-BE49-F238E27FC236}">
                <a16:creationId xmlns:a16="http://schemas.microsoft.com/office/drawing/2014/main" id="{5A41180D-204A-E061-3F3A-FB7816D9DCEA}"/>
              </a:ext>
            </a:extLst>
          </p:cNvPr>
          <p:cNvCxnSpPr>
            <a:cxnSpLocks/>
            <a:endCxn id="170" idx="0"/>
          </p:cNvCxnSpPr>
          <p:nvPr/>
        </p:nvCxnSpPr>
        <p:spPr>
          <a:xfrm>
            <a:off x="4004830" y="4046309"/>
            <a:ext cx="9706" cy="92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Gerade Verbindung mit Pfeil 188">
            <a:extLst>
              <a:ext uri="{FF2B5EF4-FFF2-40B4-BE49-F238E27FC236}">
                <a16:creationId xmlns:a16="http://schemas.microsoft.com/office/drawing/2014/main" id="{ED5DE785-FEC6-6EFC-F61E-09DC5330C3FC}"/>
              </a:ext>
            </a:extLst>
          </p:cNvPr>
          <p:cNvCxnSpPr>
            <a:cxnSpLocks/>
            <a:stCxn id="163" idx="2"/>
            <a:endCxn id="172" idx="0"/>
          </p:cNvCxnSpPr>
          <p:nvPr/>
        </p:nvCxnSpPr>
        <p:spPr>
          <a:xfrm>
            <a:off x="4587923" y="4045797"/>
            <a:ext cx="1" cy="93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0" name="Gerade Verbindung mit Pfeil 189">
            <a:extLst>
              <a:ext uri="{FF2B5EF4-FFF2-40B4-BE49-F238E27FC236}">
                <a16:creationId xmlns:a16="http://schemas.microsoft.com/office/drawing/2014/main" id="{14005085-572B-DF15-4EF7-2F2852BDAF35}"/>
              </a:ext>
            </a:extLst>
          </p:cNvPr>
          <p:cNvCxnSpPr>
            <a:cxnSpLocks/>
            <a:endCxn id="174" idx="0"/>
          </p:cNvCxnSpPr>
          <p:nvPr/>
        </p:nvCxnSpPr>
        <p:spPr>
          <a:xfrm>
            <a:off x="5161309" y="4054031"/>
            <a:ext cx="1" cy="849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2" name="Gerade Verbindung mit Pfeil 191">
            <a:extLst>
              <a:ext uri="{FF2B5EF4-FFF2-40B4-BE49-F238E27FC236}">
                <a16:creationId xmlns:a16="http://schemas.microsoft.com/office/drawing/2014/main" id="{1145F822-3777-CED2-9AEB-64D0645A9C7B}"/>
              </a:ext>
            </a:extLst>
          </p:cNvPr>
          <p:cNvCxnSpPr>
            <a:cxnSpLocks/>
            <a:endCxn id="176" idx="0"/>
          </p:cNvCxnSpPr>
          <p:nvPr/>
        </p:nvCxnSpPr>
        <p:spPr>
          <a:xfrm>
            <a:off x="5881077" y="4054031"/>
            <a:ext cx="1" cy="849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3" name="Gerade Verbindung mit Pfeil 192">
            <a:extLst>
              <a:ext uri="{FF2B5EF4-FFF2-40B4-BE49-F238E27FC236}">
                <a16:creationId xmlns:a16="http://schemas.microsoft.com/office/drawing/2014/main" id="{69458386-21F3-2527-D7E3-65CEB324B174}"/>
              </a:ext>
            </a:extLst>
          </p:cNvPr>
          <p:cNvCxnSpPr>
            <a:cxnSpLocks/>
            <a:stCxn id="164" idx="2"/>
            <a:endCxn id="178" idx="0"/>
          </p:cNvCxnSpPr>
          <p:nvPr/>
        </p:nvCxnSpPr>
        <p:spPr>
          <a:xfrm>
            <a:off x="6454464" y="4045797"/>
            <a:ext cx="1" cy="93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6" name="Gerade Verbindung mit Pfeil 195">
            <a:extLst>
              <a:ext uri="{FF2B5EF4-FFF2-40B4-BE49-F238E27FC236}">
                <a16:creationId xmlns:a16="http://schemas.microsoft.com/office/drawing/2014/main" id="{47E1F310-F929-CCFC-EBAE-CFB2F0F72837}"/>
              </a:ext>
            </a:extLst>
          </p:cNvPr>
          <p:cNvCxnSpPr>
            <a:cxnSpLocks/>
            <a:endCxn id="179" idx="0"/>
          </p:cNvCxnSpPr>
          <p:nvPr/>
        </p:nvCxnSpPr>
        <p:spPr>
          <a:xfrm>
            <a:off x="7027850" y="4046309"/>
            <a:ext cx="1" cy="92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8" name="Textfeld 197">
            <a:extLst>
              <a:ext uri="{FF2B5EF4-FFF2-40B4-BE49-F238E27FC236}">
                <a16:creationId xmlns:a16="http://schemas.microsoft.com/office/drawing/2014/main" id="{A4BDA02D-1499-9142-D4D5-4E186332B2C4}"/>
              </a:ext>
            </a:extLst>
          </p:cNvPr>
          <p:cNvSpPr txBox="1"/>
          <p:nvPr/>
        </p:nvSpPr>
        <p:spPr>
          <a:xfrm>
            <a:off x="731273" y="3653509"/>
            <a:ext cx="773795" cy="338554"/>
          </a:xfrm>
          <a:prstGeom prst="rect">
            <a:avLst/>
          </a:prstGeom>
          <a:noFill/>
        </p:spPr>
        <p:txBody>
          <a:bodyPr wrap="square" rtlCol="0">
            <a:spAutoFit/>
          </a:bodyPr>
          <a:lstStyle/>
          <a:p>
            <a:r>
              <a:rPr lang="de-DE" sz="800" dirty="0" err="1"/>
              <a:t>Number</a:t>
            </a:r>
            <a:r>
              <a:rPr lang="de-DE" sz="800" dirty="0"/>
              <a:t> </a:t>
            </a:r>
            <a:r>
              <a:rPr lang="de-DE" sz="800" dirty="0" err="1"/>
              <a:t>of</a:t>
            </a:r>
            <a:endParaRPr lang="de-DE" sz="800" dirty="0"/>
          </a:p>
          <a:p>
            <a:r>
              <a:rPr lang="de-DE" sz="800" dirty="0"/>
              <a:t> </a:t>
            </a:r>
            <a:r>
              <a:rPr lang="de-DE" sz="800" dirty="0" err="1"/>
              <a:t>Patients</a:t>
            </a:r>
            <a:r>
              <a:rPr lang="de-DE" sz="800" dirty="0"/>
              <a:t> (N)</a:t>
            </a:r>
          </a:p>
        </p:txBody>
      </p:sp>
      <p:sp>
        <p:nvSpPr>
          <p:cNvPr id="199" name="Textfeld 198">
            <a:extLst>
              <a:ext uri="{FF2B5EF4-FFF2-40B4-BE49-F238E27FC236}">
                <a16:creationId xmlns:a16="http://schemas.microsoft.com/office/drawing/2014/main" id="{1C404B77-E893-A358-A9B5-F59777574007}"/>
              </a:ext>
            </a:extLst>
          </p:cNvPr>
          <p:cNvSpPr txBox="1"/>
          <p:nvPr/>
        </p:nvSpPr>
        <p:spPr>
          <a:xfrm>
            <a:off x="731273" y="4110202"/>
            <a:ext cx="785215" cy="338554"/>
          </a:xfrm>
          <a:prstGeom prst="rect">
            <a:avLst/>
          </a:prstGeom>
          <a:noFill/>
        </p:spPr>
        <p:txBody>
          <a:bodyPr wrap="square" rtlCol="0">
            <a:spAutoFit/>
          </a:bodyPr>
          <a:lstStyle/>
          <a:p>
            <a:r>
              <a:rPr lang="de-DE" sz="800" dirty="0" err="1"/>
              <a:t>Number</a:t>
            </a:r>
            <a:r>
              <a:rPr lang="de-DE" sz="800" dirty="0"/>
              <a:t> </a:t>
            </a:r>
            <a:r>
              <a:rPr lang="de-DE" sz="800" dirty="0" err="1"/>
              <a:t>of</a:t>
            </a:r>
            <a:endParaRPr lang="de-DE" sz="800" dirty="0"/>
          </a:p>
          <a:p>
            <a:r>
              <a:rPr lang="de-DE" sz="800" dirty="0"/>
              <a:t> </a:t>
            </a:r>
            <a:r>
              <a:rPr lang="de-DE" sz="800" dirty="0" err="1"/>
              <a:t>Patients</a:t>
            </a:r>
            <a:r>
              <a:rPr lang="de-DE" sz="800" dirty="0"/>
              <a:t> (N)</a:t>
            </a:r>
          </a:p>
        </p:txBody>
      </p:sp>
      <p:cxnSp>
        <p:nvCxnSpPr>
          <p:cNvPr id="203" name="Gerader Verbinder 202">
            <a:extLst>
              <a:ext uri="{FF2B5EF4-FFF2-40B4-BE49-F238E27FC236}">
                <a16:creationId xmlns:a16="http://schemas.microsoft.com/office/drawing/2014/main" id="{1E8B9F80-B06B-EA6B-3CB7-0CDD39FAB1BA}"/>
              </a:ext>
            </a:extLst>
          </p:cNvPr>
          <p:cNvCxnSpPr>
            <a:cxnSpLocks/>
          </p:cNvCxnSpPr>
          <p:nvPr/>
        </p:nvCxnSpPr>
        <p:spPr>
          <a:xfrm flipH="1">
            <a:off x="2151058" y="4404533"/>
            <a:ext cx="1" cy="103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4" name="Gerader Verbinder 203">
            <a:extLst>
              <a:ext uri="{FF2B5EF4-FFF2-40B4-BE49-F238E27FC236}">
                <a16:creationId xmlns:a16="http://schemas.microsoft.com/office/drawing/2014/main" id="{503390E9-B59E-95E6-BCAD-9119619B25E5}"/>
              </a:ext>
            </a:extLst>
          </p:cNvPr>
          <p:cNvCxnSpPr>
            <a:cxnSpLocks/>
          </p:cNvCxnSpPr>
          <p:nvPr/>
        </p:nvCxnSpPr>
        <p:spPr>
          <a:xfrm>
            <a:off x="2151058" y="4508357"/>
            <a:ext cx="48737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5" name="Gerader Verbinder 204">
            <a:extLst>
              <a:ext uri="{FF2B5EF4-FFF2-40B4-BE49-F238E27FC236}">
                <a16:creationId xmlns:a16="http://schemas.microsoft.com/office/drawing/2014/main" id="{9F2F6044-ADC9-7DEE-FA35-E1B9AA234126}"/>
              </a:ext>
            </a:extLst>
          </p:cNvPr>
          <p:cNvCxnSpPr>
            <a:cxnSpLocks/>
          </p:cNvCxnSpPr>
          <p:nvPr/>
        </p:nvCxnSpPr>
        <p:spPr>
          <a:xfrm>
            <a:off x="2718734" y="4404533"/>
            <a:ext cx="0" cy="103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EE8C81C0-1AE2-161D-A4D3-A6E4FF002BA9}"/>
              </a:ext>
            </a:extLst>
          </p:cNvPr>
          <p:cNvCxnSpPr>
            <a:cxnSpLocks/>
          </p:cNvCxnSpPr>
          <p:nvPr/>
        </p:nvCxnSpPr>
        <p:spPr>
          <a:xfrm flipH="1">
            <a:off x="3297831" y="4407849"/>
            <a:ext cx="1" cy="1005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7" name="Gerader Verbinder 206">
            <a:extLst>
              <a:ext uri="{FF2B5EF4-FFF2-40B4-BE49-F238E27FC236}">
                <a16:creationId xmlns:a16="http://schemas.microsoft.com/office/drawing/2014/main" id="{312C1998-0375-A452-1D00-C9417097AA13}"/>
              </a:ext>
            </a:extLst>
          </p:cNvPr>
          <p:cNvCxnSpPr>
            <a:cxnSpLocks/>
          </p:cNvCxnSpPr>
          <p:nvPr/>
        </p:nvCxnSpPr>
        <p:spPr>
          <a:xfrm flipH="1">
            <a:off x="4017597" y="4404533"/>
            <a:ext cx="2" cy="103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8" name="Gerader Verbinder 207">
            <a:extLst>
              <a:ext uri="{FF2B5EF4-FFF2-40B4-BE49-F238E27FC236}">
                <a16:creationId xmlns:a16="http://schemas.microsoft.com/office/drawing/2014/main" id="{BDB983C2-9ECB-7A73-3F61-9FBF73614BBC}"/>
              </a:ext>
            </a:extLst>
          </p:cNvPr>
          <p:cNvCxnSpPr>
            <a:cxnSpLocks/>
          </p:cNvCxnSpPr>
          <p:nvPr/>
        </p:nvCxnSpPr>
        <p:spPr>
          <a:xfrm flipH="1">
            <a:off x="5164372" y="4404533"/>
            <a:ext cx="1" cy="103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9" name="Gerader Verbinder 208">
            <a:extLst>
              <a:ext uri="{FF2B5EF4-FFF2-40B4-BE49-F238E27FC236}">
                <a16:creationId xmlns:a16="http://schemas.microsoft.com/office/drawing/2014/main" id="{AAE5FE64-6094-519D-96F5-D726D6FBEB2A}"/>
              </a:ext>
            </a:extLst>
          </p:cNvPr>
          <p:cNvCxnSpPr>
            <a:cxnSpLocks/>
          </p:cNvCxnSpPr>
          <p:nvPr/>
        </p:nvCxnSpPr>
        <p:spPr>
          <a:xfrm flipH="1">
            <a:off x="4590986" y="4404533"/>
            <a:ext cx="1" cy="103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0" name="Gerader Verbinder 209">
            <a:extLst>
              <a:ext uri="{FF2B5EF4-FFF2-40B4-BE49-F238E27FC236}">
                <a16:creationId xmlns:a16="http://schemas.microsoft.com/office/drawing/2014/main" id="{79139F62-A894-4367-CB7F-E4DA8D7B8CD1}"/>
              </a:ext>
            </a:extLst>
          </p:cNvPr>
          <p:cNvCxnSpPr>
            <a:cxnSpLocks/>
          </p:cNvCxnSpPr>
          <p:nvPr/>
        </p:nvCxnSpPr>
        <p:spPr>
          <a:xfrm flipH="1">
            <a:off x="5884140" y="4404533"/>
            <a:ext cx="1" cy="103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Gerader Verbinder 210">
            <a:extLst>
              <a:ext uri="{FF2B5EF4-FFF2-40B4-BE49-F238E27FC236}">
                <a16:creationId xmlns:a16="http://schemas.microsoft.com/office/drawing/2014/main" id="{103E2C56-C41A-A1DF-D172-EA6811C85282}"/>
              </a:ext>
            </a:extLst>
          </p:cNvPr>
          <p:cNvCxnSpPr>
            <a:cxnSpLocks/>
          </p:cNvCxnSpPr>
          <p:nvPr/>
        </p:nvCxnSpPr>
        <p:spPr>
          <a:xfrm flipH="1">
            <a:off x="6457527" y="4404533"/>
            <a:ext cx="1" cy="103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 name="Gerader Verbinder 211">
            <a:extLst>
              <a:ext uri="{FF2B5EF4-FFF2-40B4-BE49-F238E27FC236}">
                <a16:creationId xmlns:a16="http://schemas.microsoft.com/office/drawing/2014/main" id="{90260607-AC34-AB10-0A10-DD987E616D8B}"/>
              </a:ext>
            </a:extLst>
          </p:cNvPr>
          <p:cNvCxnSpPr>
            <a:cxnSpLocks/>
          </p:cNvCxnSpPr>
          <p:nvPr/>
        </p:nvCxnSpPr>
        <p:spPr>
          <a:xfrm>
            <a:off x="7030913" y="4404533"/>
            <a:ext cx="0" cy="103824"/>
          </a:xfrm>
          <a:prstGeom prst="line">
            <a:avLst/>
          </a:prstGeom>
        </p:spPr>
        <p:style>
          <a:lnRef idx="1">
            <a:schemeClr val="accent1"/>
          </a:lnRef>
          <a:fillRef idx="0">
            <a:schemeClr val="accent1"/>
          </a:fillRef>
          <a:effectRef idx="0">
            <a:schemeClr val="accent1"/>
          </a:effectRef>
          <a:fontRef idx="minor">
            <a:schemeClr val="tx1"/>
          </a:fontRef>
        </p:style>
      </p:cxnSp>
      <p:sp>
        <p:nvSpPr>
          <p:cNvPr id="213" name="Rechteck 212">
            <a:extLst>
              <a:ext uri="{FF2B5EF4-FFF2-40B4-BE49-F238E27FC236}">
                <a16:creationId xmlns:a16="http://schemas.microsoft.com/office/drawing/2014/main" id="{408F24AC-5D45-0D72-EA32-C872757D0208}"/>
              </a:ext>
            </a:extLst>
          </p:cNvPr>
          <p:cNvSpPr/>
          <p:nvPr/>
        </p:nvSpPr>
        <p:spPr>
          <a:xfrm>
            <a:off x="5190382" y="6303996"/>
            <a:ext cx="2114742" cy="253469"/>
          </a:xfrm>
          <a:prstGeom prst="rect">
            <a:avLst/>
          </a:prstGeom>
          <a:solidFill>
            <a:schemeClr val="accent3"/>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Data: „</a:t>
            </a:r>
            <a:r>
              <a:rPr lang="en-US" sz="675" dirty="0"/>
              <a:t>count cases with </a:t>
            </a:r>
            <a:r>
              <a:rPr lang="en-US" sz="675" dirty="0" err="1"/>
              <a:t>labvalues</a:t>
            </a:r>
            <a:r>
              <a:rPr lang="en-US" sz="675" dirty="0"/>
              <a:t> in time course without controlgroup2.xlsx”</a:t>
            </a:r>
            <a:endParaRPr lang="de-DE" sz="675" dirty="0"/>
          </a:p>
        </p:txBody>
      </p:sp>
      <p:sp>
        <p:nvSpPr>
          <p:cNvPr id="214" name="Rechteck 213">
            <a:extLst>
              <a:ext uri="{FF2B5EF4-FFF2-40B4-BE49-F238E27FC236}">
                <a16:creationId xmlns:a16="http://schemas.microsoft.com/office/drawing/2014/main" id="{24132008-1173-AE0F-EBBD-8673B1D9E336}"/>
              </a:ext>
            </a:extLst>
          </p:cNvPr>
          <p:cNvSpPr/>
          <p:nvPr/>
        </p:nvSpPr>
        <p:spPr>
          <a:xfrm>
            <a:off x="3015473" y="6303996"/>
            <a:ext cx="2114742" cy="25346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Data: „</a:t>
            </a:r>
            <a:r>
              <a:rPr lang="en-US" sz="675" dirty="0"/>
              <a:t>count cases with </a:t>
            </a:r>
            <a:r>
              <a:rPr lang="en-US" sz="675" dirty="0" err="1"/>
              <a:t>labvalues</a:t>
            </a:r>
            <a:r>
              <a:rPr lang="en-US" sz="675" dirty="0"/>
              <a:t> in time course.xlsx”</a:t>
            </a:r>
            <a:endParaRPr lang="de-DE" sz="675" dirty="0"/>
          </a:p>
        </p:txBody>
      </p:sp>
      <p:cxnSp>
        <p:nvCxnSpPr>
          <p:cNvPr id="215" name="Gerade Verbindung mit Pfeil 214">
            <a:extLst>
              <a:ext uri="{FF2B5EF4-FFF2-40B4-BE49-F238E27FC236}">
                <a16:creationId xmlns:a16="http://schemas.microsoft.com/office/drawing/2014/main" id="{EAD97265-8B78-8F57-5156-ED387AD6BFB6}"/>
              </a:ext>
            </a:extLst>
          </p:cNvPr>
          <p:cNvCxnSpPr>
            <a:endCxn id="214" idx="0"/>
          </p:cNvCxnSpPr>
          <p:nvPr/>
        </p:nvCxnSpPr>
        <p:spPr>
          <a:xfrm>
            <a:off x="4072844" y="5013479"/>
            <a:ext cx="0" cy="1290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6" name="Gerade Verbindung mit Pfeil 215">
            <a:extLst>
              <a:ext uri="{FF2B5EF4-FFF2-40B4-BE49-F238E27FC236}">
                <a16:creationId xmlns:a16="http://schemas.microsoft.com/office/drawing/2014/main" id="{C3BF405C-31DC-9CD5-92E7-8294318FB577}"/>
              </a:ext>
            </a:extLst>
          </p:cNvPr>
          <p:cNvCxnSpPr>
            <a:endCxn id="213" idx="0"/>
          </p:cNvCxnSpPr>
          <p:nvPr/>
        </p:nvCxnSpPr>
        <p:spPr>
          <a:xfrm>
            <a:off x="6247753" y="5003347"/>
            <a:ext cx="0" cy="13006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7" name="Rechteck 216">
            <a:extLst>
              <a:ext uri="{FF2B5EF4-FFF2-40B4-BE49-F238E27FC236}">
                <a16:creationId xmlns:a16="http://schemas.microsoft.com/office/drawing/2014/main" id="{D366B787-2075-96F8-DB72-65292F4C83C4}"/>
              </a:ext>
            </a:extLst>
          </p:cNvPr>
          <p:cNvSpPr/>
          <p:nvPr/>
        </p:nvSpPr>
        <p:spPr>
          <a:xfrm>
            <a:off x="4103345" y="5346274"/>
            <a:ext cx="897146" cy="489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de-DE" sz="900" dirty="0" err="1"/>
              <a:t>measurements</a:t>
            </a:r>
            <a:r>
              <a:rPr lang="de-DE" sz="900" dirty="0"/>
              <a:t> per </a:t>
            </a:r>
            <a:r>
              <a:rPr lang="de-DE" sz="900" dirty="0" err="1"/>
              <a:t>timepoint</a:t>
            </a:r>
            <a:r>
              <a:rPr lang="de-DE" sz="900" dirty="0"/>
              <a:t> ≥ 3</a:t>
            </a:r>
          </a:p>
        </p:txBody>
      </p:sp>
      <p:sp>
        <p:nvSpPr>
          <p:cNvPr id="218" name="Rechteck 217">
            <a:extLst>
              <a:ext uri="{FF2B5EF4-FFF2-40B4-BE49-F238E27FC236}">
                <a16:creationId xmlns:a16="http://schemas.microsoft.com/office/drawing/2014/main" id="{578E2995-1CA6-14DB-ADEE-5552ED5E5C2D}"/>
              </a:ext>
            </a:extLst>
          </p:cNvPr>
          <p:cNvSpPr/>
          <p:nvPr/>
        </p:nvSpPr>
        <p:spPr>
          <a:xfrm>
            <a:off x="6304308" y="5169193"/>
            <a:ext cx="910434" cy="81444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de-DE" sz="900" dirty="0" err="1"/>
              <a:t>measurements</a:t>
            </a:r>
            <a:r>
              <a:rPr lang="de-DE" sz="900" dirty="0"/>
              <a:t> </a:t>
            </a:r>
            <a:r>
              <a:rPr lang="de-DE" sz="900" dirty="0" err="1"/>
              <a:t>for</a:t>
            </a:r>
            <a:r>
              <a:rPr lang="de-DE" sz="900" dirty="0"/>
              <a:t> </a:t>
            </a:r>
            <a:r>
              <a:rPr lang="de-DE" sz="900" dirty="0" err="1"/>
              <a:t>one</a:t>
            </a:r>
            <a:r>
              <a:rPr lang="de-DE" sz="900" dirty="0"/>
              <a:t> </a:t>
            </a:r>
            <a:r>
              <a:rPr lang="de-DE" sz="900" dirty="0" err="1"/>
              <a:t>patient</a:t>
            </a:r>
            <a:r>
              <a:rPr lang="de-DE" sz="900" dirty="0"/>
              <a:t> at different </a:t>
            </a:r>
            <a:r>
              <a:rPr lang="de-DE" sz="900" dirty="0" err="1"/>
              <a:t>timepoints</a:t>
            </a:r>
            <a:r>
              <a:rPr lang="de-DE" sz="900" dirty="0"/>
              <a:t> ≥ 3</a:t>
            </a:r>
          </a:p>
        </p:txBody>
      </p:sp>
      <p:sp>
        <p:nvSpPr>
          <p:cNvPr id="219" name="Rechteck 218">
            <a:extLst>
              <a:ext uri="{FF2B5EF4-FFF2-40B4-BE49-F238E27FC236}">
                <a16:creationId xmlns:a16="http://schemas.microsoft.com/office/drawing/2014/main" id="{7E7775F1-3BDE-0D0B-171F-23434430B0AA}"/>
              </a:ext>
            </a:extLst>
          </p:cNvPr>
          <p:cNvSpPr/>
          <p:nvPr/>
        </p:nvSpPr>
        <p:spPr>
          <a:xfrm>
            <a:off x="3633925" y="4743985"/>
            <a:ext cx="3396989" cy="25346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de-DE" sz="700" b="1" dirty="0"/>
              <a:t>Test </a:t>
            </a:r>
            <a:r>
              <a:rPr lang="de-DE" sz="700" b="1" dirty="0" err="1"/>
              <a:t>group</a:t>
            </a:r>
            <a:r>
              <a:rPr lang="de-DE" sz="700" b="1" dirty="0"/>
              <a:t>: </a:t>
            </a:r>
            <a:r>
              <a:rPr lang="de-DE" sz="700" dirty="0"/>
              <a:t>Data </a:t>
            </a:r>
            <a:r>
              <a:rPr lang="de-DE" sz="700" dirty="0" err="1"/>
              <a:t>number</a:t>
            </a:r>
            <a:r>
              <a:rPr lang="de-DE" sz="700" dirty="0"/>
              <a:t> </a:t>
            </a:r>
            <a:r>
              <a:rPr lang="de-DE" sz="700" dirty="0" err="1"/>
              <a:t>of</a:t>
            </a:r>
            <a:r>
              <a:rPr lang="de-DE" sz="700" dirty="0"/>
              <a:t> </a:t>
            </a:r>
            <a:r>
              <a:rPr lang="de-DE" sz="700" dirty="0" err="1"/>
              <a:t>measurements</a:t>
            </a:r>
            <a:r>
              <a:rPr lang="de-DE" sz="700" dirty="0"/>
              <a:t> per </a:t>
            </a:r>
            <a:r>
              <a:rPr lang="de-DE" sz="700" dirty="0" err="1"/>
              <a:t>parameter</a:t>
            </a:r>
            <a:r>
              <a:rPr lang="de-DE" sz="700" dirty="0"/>
              <a:t>: „</a:t>
            </a:r>
            <a:r>
              <a:rPr lang="de-DE" sz="700" dirty="0" err="1"/>
              <a:t>count</a:t>
            </a:r>
            <a:r>
              <a:rPr lang="de-DE" sz="700" dirty="0"/>
              <a:t> labvalues.xlsx“</a:t>
            </a:r>
          </a:p>
        </p:txBody>
      </p:sp>
      <p:cxnSp>
        <p:nvCxnSpPr>
          <p:cNvPr id="220" name="Gerade Verbindung mit Pfeil 219">
            <a:extLst>
              <a:ext uri="{FF2B5EF4-FFF2-40B4-BE49-F238E27FC236}">
                <a16:creationId xmlns:a16="http://schemas.microsoft.com/office/drawing/2014/main" id="{CB03A243-7D95-CDC3-893D-31003596120E}"/>
              </a:ext>
            </a:extLst>
          </p:cNvPr>
          <p:cNvCxnSpPr>
            <a:cxnSpLocks/>
            <a:endCxn id="219" idx="0"/>
          </p:cNvCxnSpPr>
          <p:nvPr/>
        </p:nvCxnSpPr>
        <p:spPr>
          <a:xfrm>
            <a:off x="5332419" y="4514422"/>
            <a:ext cx="0" cy="229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1" name="Rechteck 220">
            <a:extLst>
              <a:ext uri="{FF2B5EF4-FFF2-40B4-BE49-F238E27FC236}">
                <a16:creationId xmlns:a16="http://schemas.microsoft.com/office/drawing/2014/main" id="{177B1AD2-5FD0-AEF4-64D4-808B49B5EBD1}"/>
              </a:ext>
            </a:extLst>
          </p:cNvPr>
          <p:cNvSpPr/>
          <p:nvPr/>
        </p:nvSpPr>
        <p:spPr>
          <a:xfrm>
            <a:off x="1282660" y="3029186"/>
            <a:ext cx="1775151" cy="575697"/>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900" b="1" dirty="0" err="1"/>
              <a:t>Comparison</a:t>
            </a:r>
            <a:r>
              <a:rPr lang="de-DE" sz="900" b="1" dirty="0"/>
              <a:t> </a:t>
            </a:r>
            <a:r>
              <a:rPr lang="de-DE" sz="900" b="1" dirty="0" err="1"/>
              <a:t>group</a:t>
            </a:r>
            <a:r>
              <a:rPr lang="de-DE" sz="900" b="1" dirty="0"/>
              <a:t>: </a:t>
            </a:r>
            <a:r>
              <a:rPr lang="de-DE" sz="900" dirty="0"/>
              <a:t>Data </a:t>
            </a:r>
            <a:r>
              <a:rPr lang="de-DE" sz="900" dirty="0" err="1"/>
              <a:t>without</a:t>
            </a:r>
            <a:r>
              <a:rPr lang="de-DE" sz="900" dirty="0"/>
              <a:t> </a:t>
            </a:r>
            <a:r>
              <a:rPr lang="de-DE" sz="900" dirty="0" err="1"/>
              <a:t>starting</a:t>
            </a:r>
            <a:r>
              <a:rPr lang="de-DE" sz="900" dirty="0"/>
              <a:t>-date </a:t>
            </a:r>
            <a:r>
              <a:rPr lang="de-DE" sz="900" dirty="0" err="1"/>
              <a:t>for</a:t>
            </a:r>
            <a:r>
              <a:rPr lang="de-DE" sz="900" dirty="0"/>
              <a:t> </a:t>
            </a:r>
            <a:r>
              <a:rPr lang="de-DE" sz="900" dirty="0" err="1"/>
              <a:t>drug</a:t>
            </a:r>
            <a:r>
              <a:rPr lang="de-DE" sz="900" dirty="0"/>
              <a:t> </a:t>
            </a:r>
            <a:r>
              <a:rPr lang="de-DE" sz="900" dirty="0" err="1"/>
              <a:t>related</a:t>
            </a:r>
            <a:r>
              <a:rPr lang="de-DE" sz="900" dirty="0"/>
              <a:t> </a:t>
            </a:r>
            <a:r>
              <a:rPr lang="de-DE" sz="900" dirty="0" err="1"/>
              <a:t>symptomes</a:t>
            </a:r>
            <a:endParaRPr lang="de-DE" sz="900" dirty="0"/>
          </a:p>
          <a:p>
            <a:pPr algn="ctr"/>
            <a:r>
              <a:rPr lang="de-DE" sz="900" dirty="0"/>
              <a:t>N=73</a:t>
            </a:r>
          </a:p>
        </p:txBody>
      </p:sp>
      <p:cxnSp>
        <p:nvCxnSpPr>
          <p:cNvPr id="222" name="Gerade Verbindung mit Pfeil 221">
            <a:extLst>
              <a:ext uri="{FF2B5EF4-FFF2-40B4-BE49-F238E27FC236}">
                <a16:creationId xmlns:a16="http://schemas.microsoft.com/office/drawing/2014/main" id="{4E229019-D82D-48F9-B0B4-5E97BEECB766}"/>
              </a:ext>
            </a:extLst>
          </p:cNvPr>
          <p:cNvCxnSpPr>
            <a:cxnSpLocks/>
            <a:endCxn id="221" idx="0"/>
          </p:cNvCxnSpPr>
          <p:nvPr/>
        </p:nvCxnSpPr>
        <p:spPr>
          <a:xfrm>
            <a:off x="2170235" y="2895477"/>
            <a:ext cx="0" cy="133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3" name="Rechteck 222">
            <a:extLst>
              <a:ext uri="{FF2B5EF4-FFF2-40B4-BE49-F238E27FC236}">
                <a16:creationId xmlns:a16="http://schemas.microsoft.com/office/drawing/2014/main" id="{EC5A4FEA-868C-A5F1-7A0E-60BB1E02A8E1}"/>
              </a:ext>
            </a:extLst>
          </p:cNvPr>
          <p:cNvSpPr/>
          <p:nvPr/>
        </p:nvSpPr>
        <p:spPr>
          <a:xfrm>
            <a:off x="1911037" y="4743984"/>
            <a:ext cx="1620689" cy="331648"/>
          </a:xfrm>
          <a:prstGeom prst="rect">
            <a:avLst/>
          </a:prstGeom>
          <a:solidFill>
            <a:schemeClr val="accent3"/>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de-DE" sz="700" b="1" dirty="0"/>
              <a:t>Control </a:t>
            </a:r>
            <a:r>
              <a:rPr lang="de-DE" sz="700" b="1" dirty="0" err="1"/>
              <a:t>visit</a:t>
            </a:r>
            <a:r>
              <a:rPr lang="de-DE" sz="700" b="1" dirty="0"/>
              <a:t> </a:t>
            </a:r>
            <a:r>
              <a:rPr lang="de-DE" sz="700" b="1" dirty="0" err="1"/>
              <a:t>group</a:t>
            </a:r>
            <a:r>
              <a:rPr lang="de-DE" sz="700" b="1" dirty="0"/>
              <a:t>: </a:t>
            </a:r>
            <a:r>
              <a:rPr lang="de-DE" sz="700" dirty="0" err="1"/>
              <a:t>Measurements</a:t>
            </a:r>
            <a:r>
              <a:rPr lang="de-DE" sz="700" dirty="0"/>
              <a:t> </a:t>
            </a:r>
            <a:r>
              <a:rPr lang="de-DE" sz="700" dirty="0" err="1"/>
              <a:t>before</a:t>
            </a:r>
            <a:r>
              <a:rPr lang="de-DE" sz="700" dirty="0"/>
              <a:t> </a:t>
            </a:r>
            <a:r>
              <a:rPr lang="de-DE" sz="700" dirty="0" err="1"/>
              <a:t>starting</a:t>
            </a:r>
            <a:r>
              <a:rPr lang="de-DE" sz="700" dirty="0"/>
              <a:t> date </a:t>
            </a:r>
            <a:r>
              <a:rPr lang="de-DE" sz="700" dirty="0" err="1"/>
              <a:t>of</a:t>
            </a:r>
            <a:r>
              <a:rPr lang="de-DE" sz="700" dirty="0"/>
              <a:t> </a:t>
            </a:r>
            <a:r>
              <a:rPr lang="de-DE" sz="700" dirty="0" err="1"/>
              <a:t>reaction</a:t>
            </a:r>
            <a:r>
              <a:rPr lang="de-DE" sz="700" dirty="0"/>
              <a:t> (</a:t>
            </a:r>
            <a:r>
              <a:rPr lang="de-DE" sz="700" dirty="0" err="1"/>
              <a:t>control</a:t>
            </a:r>
            <a:r>
              <a:rPr lang="de-DE" sz="700" dirty="0"/>
              <a:t> </a:t>
            </a:r>
            <a:r>
              <a:rPr lang="de-DE" sz="700" dirty="0" err="1"/>
              <a:t>visits</a:t>
            </a:r>
            <a:r>
              <a:rPr lang="de-DE" sz="700" dirty="0"/>
              <a:t>)</a:t>
            </a:r>
          </a:p>
        </p:txBody>
      </p:sp>
      <p:cxnSp>
        <p:nvCxnSpPr>
          <p:cNvPr id="224" name="Gerade Verbindung mit Pfeil 223">
            <a:extLst>
              <a:ext uri="{FF2B5EF4-FFF2-40B4-BE49-F238E27FC236}">
                <a16:creationId xmlns:a16="http://schemas.microsoft.com/office/drawing/2014/main" id="{ABE9BE79-6D42-1BEC-5F34-243AE2469AAF}"/>
              </a:ext>
            </a:extLst>
          </p:cNvPr>
          <p:cNvCxnSpPr>
            <a:cxnSpLocks/>
            <a:endCxn id="223" idx="0"/>
          </p:cNvCxnSpPr>
          <p:nvPr/>
        </p:nvCxnSpPr>
        <p:spPr>
          <a:xfrm>
            <a:off x="2721381" y="4508358"/>
            <a:ext cx="0" cy="2356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5" name="Rechteck 224">
            <a:extLst>
              <a:ext uri="{FF2B5EF4-FFF2-40B4-BE49-F238E27FC236}">
                <a16:creationId xmlns:a16="http://schemas.microsoft.com/office/drawing/2014/main" id="{FF20FA39-C257-653B-9EC6-8400C0AC9424}"/>
              </a:ext>
            </a:extLst>
          </p:cNvPr>
          <p:cNvSpPr/>
          <p:nvPr/>
        </p:nvSpPr>
        <p:spPr>
          <a:xfrm>
            <a:off x="663892" y="4743984"/>
            <a:ext cx="1157143" cy="331648"/>
          </a:xfrm>
          <a:prstGeom prst="rect">
            <a:avLst/>
          </a:prstGeom>
          <a:solidFill>
            <a:schemeClr val="accent3"/>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de-DE" sz="700" b="1" dirty="0" err="1"/>
              <a:t>Measurements</a:t>
            </a:r>
            <a:r>
              <a:rPr lang="de-DE" sz="700" b="1" dirty="0"/>
              <a:t> at </a:t>
            </a:r>
            <a:r>
              <a:rPr lang="de-DE" sz="700" b="1" dirty="0" err="1"/>
              <a:t>unknown</a:t>
            </a:r>
            <a:r>
              <a:rPr lang="de-DE" sz="700" b="1" dirty="0"/>
              <a:t> date</a:t>
            </a:r>
            <a:endParaRPr lang="de-DE" sz="700" dirty="0"/>
          </a:p>
        </p:txBody>
      </p:sp>
      <p:cxnSp>
        <p:nvCxnSpPr>
          <p:cNvPr id="226" name="Gerade Verbindung mit Pfeil 225">
            <a:extLst>
              <a:ext uri="{FF2B5EF4-FFF2-40B4-BE49-F238E27FC236}">
                <a16:creationId xmlns:a16="http://schemas.microsoft.com/office/drawing/2014/main" id="{72405310-636D-411C-E4B6-B8706A1BDCA4}"/>
              </a:ext>
            </a:extLst>
          </p:cNvPr>
          <p:cNvCxnSpPr>
            <a:endCxn id="225" idx="0"/>
          </p:cNvCxnSpPr>
          <p:nvPr/>
        </p:nvCxnSpPr>
        <p:spPr>
          <a:xfrm flipH="1">
            <a:off x="1242463" y="4508358"/>
            <a:ext cx="1040678" cy="2356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7" name="Textfeld 226">
            <a:extLst>
              <a:ext uri="{FF2B5EF4-FFF2-40B4-BE49-F238E27FC236}">
                <a16:creationId xmlns:a16="http://schemas.microsoft.com/office/drawing/2014/main" id="{0486D507-1862-79C2-6F11-9812B60726BF}"/>
              </a:ext>
            </a:extLst>
          </p:cNvPr>
          <p:cNvSpPr txBox="1"/>
          <p:nvPr/>
        </p:nvSpPr>
        <p:spPr>
          <a:xfrm>
            <a:off x="657543" y="2263960"/>
            <a:ext cx="773795" cy="338554"/>
          </a:xfrm>
          <a:prstGeom prst="rect">
            <a:avLst/>
          </a:prstGeom>
          <a:noFill/>
        </p:spPr>
        <p:txBody>
          <a:bodyPr wrap="square" rtlCol="0">
            <a:spAutoFit/>
          </a:bodyPr>
          <a:lstStyle/>
          <a:p>
            <a:r>
              <a:rPr lang="de-DE" sz="800" dirty="0" err="1"/>
              <a:t>Number</a:t>
            </a:r>
            <a:r>
              <a:rPr lang="de-DE" sz="800" dirty="0"/>
              <a:t> </a:t>
            </a:r>
            <a:r>
              <a:rPr lang="de-DE" sz="800" dirty="0" err="1"/>
              <a:t>of</a:t>
            </a:r>
            <a:endParaRPr lang="de-DE" sz="800" dirty="0"/>
          </a:p>
          <a:p>
            <a:r>
              <a:rPr lang="de-DE" sz="800" dirty="0"/>
              <a:t> </a:t>
            </a:r>
            <a:r>
              <a:rPr lang="de-DE" sz="800" dirty="0" err="1"/>
              <a:t>Patients</a:t>
            </a:r>
            <a:r>
              <a:rPr lang="de-DE" sz="800" dirty="0"/>
              <a:t> (N)</a:t>
            </a:r>
          </a:p>
        </p:txBody>
      </p:sp>
      <p:cxnSp>
        <p:nvCxnSpPr>
          <p:cNvPr id="228" name="Gerader Verbinder 227">
            <a:extLst>
              <a:ext uri="{FF2B5EF4-FFF2-40B4-BE49-F238E27FC236}">
                <a16:creationId xmlns:a16="http://schemas.microsoft.com/office/drawing/2014/main" id="{19F0E393-11C6-1C2E-FC96-140FCBB8E1AD}"/>
              </a:ext>
            </a:extLst>
          </p:cNvPr>
          <p:cNvCxnSpPr/>
          <p:nvPr/>
        </p:nvCxnSpPr>
        <p:spPr>
          <a:xfrm>
            <a:off x="2170235" y="2895476"/>
            <a:ext cx="42842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9" name="Gerade Verbindung mit Pfeil 228">
            <a:extLst>
              <a:ext uri="{FF2B5EF4-FFF2-40B4-BE49-F238E27FC236}">
                <a16:creationId xmlns:a16="http://schemas.microsoft.com/office/drawing/2014/main" id="{7A52841D-1914-E36B-0C08-6FDF2B24F453}"/>
              </a:ext>
            </a:extLst>
          </p:cNvPr>
          <p:cNvCxnSpPr>
            <a:cxnSpLocks/>
          </p:cNvCxnSpPr>
          <p:nvPr/>
        </p:nvCxnSpPr>
        <p:spPr>
          <a:xfrm rot="10800000" flipH="1" flipV="1">
            <a:off x="4587922" y="2895477"/>
            <a:ext cx="1" cy="7750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0" name="Gerade Verbindung mit Pfeil 229">
            <a:extLst>
              <a:ext uri="{FF2B5EF4-FFF2-40B4-BE49-F238E27FC236}">
                <a16:creationId xmlns:a16="http://schemas.microsoft.com/office/drawing/2014/main" id="{86EB9151-8CB8-6FBF-F8F9-457FC305AAB0}"/>
              </a:ext>
            </a:extLst>
          </p:cNvPr>
          <p:cNvCxnSpPr>
            <a:cxnSpLocks/>
          </p:cNvCxnSpPr>
          <p:nvPr/>
        </p:nvCxnSpPr>
        <p:spPr>
          <a:xfrm>
            <a:off x="3294767" y="2895477"/>
            <a:ext cx="0" cy="769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1" name="Gerade Verbindung mit Pfeil 230">
            <a:extLst>
              <a:ext uri="{FF2B5EF4-FFF2-40B4-BE49-F238E27FC236}">
                <a16:creationId xmlns:a16="http://schemas.microsoft.com/office/drawing/2014/main" id="{703055BB-89AF-BEF1-C8B2-BBA1A46656FC}"/>
              </a:ext>
            </a:extLst>
          </p:cNvPr>
          <p:cNvCxnSpPr>
            <a:cxnSpLocks/>
          </p:cNvCxnSpPr>
          <p:nvPr/>
        </p:nvCxnSpPr>
        <p:spPr>
          <a:xfrm>
            <a:off x="6454463" y="2895477"/>
            <a:ext cx="0" cy="7750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2" name="Gerader Verbinder 231">
            <a:extLst>
              <a:ext uri="{FF2B5EF4-FFF2-40B4-BE49-F238E27FC236}">
                <a16:creationId xmlns:a16="http://schemas.microsoft.com/office/drawing/2014/main" id="{23046565-F1B3-B896-D201-FB0BFFD8DE6A}"/>
              </a:ext>
            </a:extLst>
          </p:cNvPr>
          <p:cNvCxnSpPr>
            <a:cxnSpLocks/>
            <a:stCxn id="180" idx="2"/>
          </p:cNvCxnSpPr>
          <p:nvPr/>
        </p:nvCxnSpPr>
        <p:spPr>
          <a:xfrm>
            <a:off x="3953191" y="2646642"/>
            <a:ext cx="0" cy="248834"/>
          </a:xfrm>
          <a:prstGeom prst="line">
            <a:avLst/>
          </a:prstGeom>
        </p:spPr>
        <p:style>
          <a:lnRef idx="1">
            <a:schemeClr val="accent1"/>
          </a:lnRef>
          <a:fillRef idx="0">
            <a:schemeClr val="accent1"/>
          </a:fillRef>
          <a:effectRef idx="0">
            <a:schemeClr val="accent1"/>
          </a:effectRef>
          <a:fontRef idx="minor">
            <a:schemeClr val="tx1"/>
          </a:fontRef>
        </p:style>
      </p:cxnSp>
      <p:sp>
        <p:nvSpPr>
          <p:cNvPr id="233" name="Rechteck 232">
            <a:extLst>
              <a:ext uri="{FF2B5EF4-FFF2-40B4-BE49-F238E27FC236}">
                <a16:creationId xmlns:a16="http://schemas.microsoft.com/office/drawing/2014/main" id="{25BB7646-ED55-9B05-8085-727012D9ACBC}"/>
              </a:ext>
            </a:extLst>
          </p:cNvPr>
          <p:cNvSpPr/>
          <p:nvPr/>
        </p:nvSpPr>
        <p:spPr>
          <a:xfrm>
            <a:off x="1276306" y="484693"/>
            <a:ext cx="5353770" cy="5143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a:t>All BfArM-</a:t>
            </a:r>
            <a:r>
              <a:rPr lang="de-DE" sz="1013" dirty="0" err="1"/>
              <a:t>cases</a:t>
            </a:r>
            <a:r>
              <a:rPr lang="de-DE" sz="1013" dirty="0"/>
              <a:t> </a:t>
            </a:r>
            <a:r>
              <a:rPr lang="de-DE" sz="1013" dirty="0" err="1"/>
              <a:t>with</a:t>
            </a:r>
            <a:r>
              <a:rPr lang="de-DE" sz="1013" dirty="0"/>
              <a:t> </a:t>
            </a:r>
            <a:r>
              <a:rPr lang="de-DE" sz="1013" dirty="0" err="1"/>
              <a:t>spontanious</a:t>
            </a:r>
            <a:r>
              <a:rPr lang="de-DE" sz="1013" dirty="0"/>
              <a:t> </a:t>
            </a:r>
            <a:r>
              <a:rPr lang="de-DE" sz="1013" dirty="0" err="1"/>
              <a:t>reports</a:t>
            </a:r>
            <a:r>
              <a:rPr lang="de-DE" sz="1013" dirty="0"/>
              <a:t> </a:t>
            </a:r>
            <a:r>
              <a:rPr lang="de-DE" sz="1013" dirty="0" err="1"/>
              <a:t>of</a:t>
            </a:r>
            <a:r>
              <a:rPr lang="de-DE" sz="1013" dirty="0"/>
              <a:t> </a:t>
            </a:r>
            <a:r>
              <a:rPr lang="de-DE" sz="1013" dirty="0" err="1"/>
              <a:t>drug-reactions</a:t>
            </a:r>
            <a:endParaRPr lang="de-DE" sz="1013" dirty="0">
              <a:solidFill>
                <a:schemeClr val="bg1"/>
              </a:solidFill>
            </a:endParaRPr>
          </a:p>
        </p:txBody>
      </p:sp>
      <p:cxnSp>
        <p:nvCxnSpPr>
          <p:cNvPr id="234" name="Gerader Verbinder 233">
            <a:extLst>
              <a:ext uri="{FF2B5EF4-FFF2-40B4-BE49-F238E27FC236}">
                <a16:creationId xmlns:a16="http://schemas.microsoft.com/office/drawing/2014/main" id="{4B2BD65E-7BD8-DFF7-B1E8-F1731922FB42}"/>
              </a:ext>
            </a:extLst>
          </p:cNvPr>
          <p:cNvCxnSpPr>
            <a:cxnSpLocks/>
            <a:stCxn id="233" idx="2"/>
            <a:endCxn id="180" idx="0"/>
          </p:cNvCxnSpPr>
          <p:nvPr/>
        </p:nvCxnSpPr>
        <p:spPr>
          <a:xfrm>
            <a:off x="3953191" y="999044"/>
            <a:ext cx="0" cy="1133249"/>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hteck 1">
            <a:extLst>
              <a:ext uri="{FF2B5EF4-FFF2-40B4-BE49-F238E27FC236}">
                <a16:creationId xmlns:a16="http://schemas.microsoft.com/office/drawing/2014/main" id="{5A0FCAED-5678-36C8-EA3A-95B98C43945F}"/>
              </a:ext>
            </a:extLst>
          </p:cNvPr>
          <p:cNvSpPr/>
          <p:nvPr/>
        </p:nvSpPr>
        <p:spPr>
          <a:xfrm>
            <a:off x="7451340" y="930025"/>
            <a:ext cx="3236831" cy="2918884"/>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de-DE" sz="1013" dirty="0">
                <a:solidFill>
                  <a:schemeClr val="bg1"/>
                </a:solidFill>
              </a:rPr>
              <a:t>Untersuchte Parameter:</a:t>
            </a:r>
          </a:p>
          <a:p>
            <a:pPr marL="171450" indent="-171450">
              <a:buFontTx/>
              <a:buChar char="-"/>
            </a:pPr>
            <a:r>
              <a:rPr lang="de-DE" sz="1013" dirty="0">
                <a:solidFill>
                  <a:schemeClr val="bg1"/>
                </a:solidFill>
              </a:rPr>
              <a:t>Übersicht über Fälle</a:t>
            </a:r>
          </a:p>
          <a:p>
            <a:pPr marL="628650" lvl="1" indent="-171450">
              <a:buFontTx/>
              <a:buChar char="-"/>
            </a:pPr>
            <a:r>
              <a:rPr lang="de-DE" sz="1013" dirty="0">
                <a:solidFill>
                  <a:schemeClr val="bg1"/>
                </a:solidFill>
              </a:rPr>
              <a:t>Fälle mit Werten pro Zeitpunkt ≥3</a:t>
            </a:r>
          </a:p>
          <a:p>
            <a:pPr marL="628650" lvl="1" indent="-171450">
              <a:buFontTx/>
              <a:buChar char="-"/>
            </a:pPr>
            <a:r>
              <a:rPr lang="de-DE" sz="1013" dirty="0">
                <a:solidFill>
                  <a:schemeClr val="bg1"/>
                </a:solidFill>
              </a:rPr>
              <a:t>Fälle mit Werten pro Fall ≥3</a:t>
            </a:r>
          </a:p>
          <a:p>
            <a:pPr marL="171450" indent="-171450">
              <a:buFontTx/>
              <a:buChar char="-"/>
            </a:pPr>
            <a:r>
              <a:rPr lang="de-DE" sz="1013" dirty="0">
                <a:solidFill>
                  <a:schemeClr val="bg1"/>
                </a:solidFill>
              </a:rPr>
              <a:t>Laborwerte Vergleich zwischen Geschlechtern</a:t>
            </a:r>
          </a:p>
          <a:p>
            <a:pPr marL="171450" indent="-171450">
              <a:buFontTx/>
              <a:buChar char="-"/>
            </a:pPr>
            <a:r>
              <a:rPr lang="de-DE" sz="1013" dirty="0">
                <a:solidFill>
                  <a:schemeClr val="bg1"/>
                </a:solidFill>
              </a:rPr>
              <a:t>Untersuchung Laborwerte-Dosis-Korrelation</a:t>
            </a:r>
          </a:p>
          <a:p>
            <a:pPr marL="171450" indent="-171450">
              <a:buFontTx/>
              <a:buChar char="-"/>
            </a:pPr>
            <a:r>
              <a:rPr lang="de-DE" sz="1013" dirty="0">
                <a:solidFill>
                  <a:schemeClr val="bg1"/>
                </a:solidFill>
              </a:rPr>
              <a:t>Blutausstrich (besonders Eosinophile)</a:t>
            </a:r>
          </a:p>
          <a:p>
            <a:pPr marL="171450" indent="-171450">
              <a:buFontTx/>
              <a:buChar char="-"/>
            </a:pPr>
            <a:r>
              <a:rPr lang="de-DE" sz="1013" dirty="0">
                <a:solidFill>
                  <a:schemeClr val="bg1"/>
                </a:solidFill>
              </a:rPr>
              <a:t>Antikörper</a:t>
            </a:r>
          </a:p>
          <a:p>
            <a:pPr marL="171450" indent="-171450">
              <a:buFontTx/>
              <a:buChar char="-"/>
            </a:pPr>
            <a:r>
              <a:rPr lang="de-DE" sz="1013" dirty="0">
                <a:solidFill>
                  <a:schemeClr val="bg1"/>
                </a:solidFill>
              </a:rPr>
              <a:t>Hospitalisation (Laborwerte bei Entlassung)</a:t>
            </a:r>
          </a:p>
          <a:p>
            <a:pPr marL="171450" indent="-171450">
              <a:buFontTx/>
              <a:buChar char="-"/>
            </a:pPr>
            <a:r>
              <a:rPr lang="de-DE" sz="1013" dirty="0">
                <a:solidFill>
                  <a:schemeClr val="bg1"/>
                </a:solidFill>
              </a:rPr>
              <a:t>Mortalität</a:t>
            </a:r>
          </a:p>
          <a:p>
            <a:pPr marL="171450" indent="-171450">
              <a:buFontTx/>
              <a:buChar char="-"/>
            </a:pPr>
            <a:r>
              <a:rPr lang="de-DE" sz="1013" dirty="0">
                <a:solidFill>
                  <a:schemeClr val="bg1"/>
                </a:solidFill>
              </a:rPr>
              <a:t>Hepatitis-Fälle</a:t>
            </a:r>
          </a:p>
          <a:p>
            <a:pPr marL="171450" indent="-171450">
              <a:buFontTx/>
              <a:buChar char="-"/>
            </a:pPr>
            <a:r>
              <a:rPr lang="de-DE" sz="1013" dirty="0">
                <a:solidFill>
                  <a:schemeClr val="bg1"/>
                </a:solidFill>
              </a:rPr>
              <a:t>Kausalitätsbewertung Arzneimittel</a:t>
            </a:r>
          </a:p>
          <a:p>
            <a:pPr marL="171450" indent="-171450">
              <a:buFontTx/>
              <a:buChar char="-"/>
            </a:pPr>
            <a:r>
              <a:rPr lang="de-DE" sz="1013" dirty="0" err="1">
                <a:solidFill>
                  <a:schemeClr val="bg1"/>
                </a:solidFill>
              </a:rPr>
              <a:t>Flupirtin</a:t>
            </a:r>
            <a:r>
              <a:rPr lang="de-DE" sz="1013" dirty="0">
                <a:solidFill>
                  <a:schemeClr val="bg1"/>
                </a:solidFill>
              </a:rPr>
              <a:t>-Fälle</a:t>
            </a:r>
          </a:p>
          <a:p>
            <a:pPr marL="171450" indent="-171450">
              <a:buFontTx/>
              <a:buChar char="-"/>
            </a:pPr>
            <a:r>
              <a:rPr lang="de-DE" sz="1013" dirty="0">
                <a:solidFill>
                  <a:schemeClr val="bg1"/>
                </a:solidFill>
              </a:rPr>
              <a:t>Diabetes-Fälle</a:t>
            </a:r>
          </a:p>
          <a:p>
            <a:pPr marL="171450" indent="-171450">
              <a:buFontTx/>
              <a:buChar char="-"/>
            </a:pPr>
            <a:r>
              <a:rPr lang="de-DE" sz="1013" dirty="0">
                <a:solidFill>
                  <a:schemeClr val="bg1"/>
                </a:solidFill>
              </a:rPr>
              <a:t>BMI</a:t>
            </a:r>
          </a:p>
          <a:p>
            <a:pPr marL="171450" indent="-171450">
              <a:buFontTx/>
              <a:buChar char="-"/>
            </a:pPr>
            <a:r>
              <a:rPr lang="de-DE" sz="1013" dirty="0">
                <a:solidFill>
                  <a:schemeClr val="bg1"/>
                </a:solidFill>
              </a:rPr>
              <a:t>Co-</a:t>
            </a:r>
            <a:r>
              <a:rPr lang="de-DE" sz="1013" dirty="0" err="1">
                <a:solidFill>
                  <a:schemeClr val="bg1"/>
                </a:solidFill>
              </a:rPr>
              <a:t>Morbiditäten</a:t>
            </a:r>
            <a:endParaRPr lang="de-DE" sz="1013" dirty="0">
              <a:solidFill>
                <a:schemeClr val="bg1"/>
              </a:solidFill>
            </a:endParaRPr>
          </a:p>
          <a:p>
            <a:pPr marL="171450" indent="-171450">
              <a:buFontTx/>
              <a:buChar char="-"/>
            </a:pPr>
            <a:r>
              <a:rPr lang="de-DE" sz="1013" dirty="0">
                <a:solidFill>
                  <a:schemeClr val="bg1"/>
                </a:solidFill>
              </a:rPr>
              <a:t>Co-Medikation</a:t>
            </a:r>
          </a:p>
          <a:p>
            <a:pPr marL="171450" indent="-171450">
              <a:buFontTx/>
              <a:buChar char="-"/>
            </a:pPr>
            <a:r>
              <a:rPr lang="de-DE" sz="1013" dirty="0" err="1">
                <a:solidFill>
                  <a:schemeClr val="bg1"/>
                </a:solidFill>
              </a:rPr>
              <a:t>Reexposition</a:t>
            </a:r>
            <a:r>
              <a:rPr lang="de-DE" sz="1013" dirty="0">
                <a:solidFill>
                  <a:schemeClr val="bg1"/>
                </a:solidFill>
              </a:rPr>
              <a:t>-Fälle</a:t>
            </a:r>
          </a:p>
        </p:txBody>
      </p:sp>
      <p:cxnSp>
        <p:nvCxnSpPr>
          <p:cNvPr id="4" name="Gerader Verbinder 3">
            <a:extLst>
              <a:ext uri="{FF2B5EF4-FFF2-40B4-BE49-F238E27FC236}">
                <a16:creationId xmlns:a16="http://schemas.microsoft.com/office/drawing/2014/main" id="{729F5C66-FAD3-A17C-FADE-2C0697EC52C8}"/>
              </a:ext>
            </a:extLst>
          </p:cNvPr>
          <p:cNvCxnSpPr>
            <a:cxnSpLocks/>
            <a:stCxn id="180" idx="3"/>
            <a:endCxn id="2" idx="1"/>
          </p:cNvCxnSpPr>
          <p:nvPr/>
        </p:nvCxnSpPr>
        <p:spPr>
          <a:xfrm>
            <a:off x="6630076" y="2389467"/>
            <a:ext cx="82126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8888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Gerade Verbindung mit Pfeil 7">
            <a:extLst>
              <a:ext uri="{FF2B5EF4-FFF2-40B4-BE49-F238E27FC236}">
                <a16:creationId xmlns:a16="http://schemas.microsoft.com/office/drawing/2014/main" id="{4DD87CE3-E435-B4BA-088A-FEFFB7078B91}"/>
              </a:ext>
            </a:extLst>
          </p:cNvPr>
          <p:cNvCxnSpPr>
            <a:cxnSpLocks/>
          </p:cNvCxnSpPr>
          <p:nvPr/>
        </p:nvCxnSpPr>
        <p:spPr>
          <a:xfrm>
            <a:off x="5523071" y="612926"/>
            <a:ext cx="0" cy="863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Rechteck 3">
            <a:extLst>
              <a:ext uri="{FF2B5EF4-FFF2-40B4-BE49-F238E27FC236}">
                <a16:creationId xmlns:a16="http://schemas.microsoft.com/office/drawing/2014/main" id="{EAD1A1A3-5100-BE3E-6C2F-480BCFCB00D8}"/>
              </a:ext>
            </a:extLst>
          </p:cNvPr>
          <p:cNvSpPr/>
          <p:nvPr/>
        </p:nvSpPr>
        <p:spPr>
          <a:xfrm>
            <a:off x="3360108" y="1471194"/>
            <a:ext cx="1620688"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err="1"/>
              <a:t>Diclofenac</a:t>
            </a:r>
            <a:endParaRPr lang="de-DE" sz="1013" dirty="0"/>
          </a:p>
          <a:p>
            <a:pPr algn="ctr"/>
            <a:r>
              <a:rPr lang="de-DE" sz="1013" dirty="0"/>
              <a:t>N=143</a:t>
            </a:r>
          </a:p>
        </p:txBody>
      </p:sp>
      <p:sp>
        <p:nvSpPr>
          <p:cNvPr id="5" name="Rechteck 4">
            <a:extLst>
              <a:ext uri="{FF2B5EF4-FFF2-40B4-BE49-F238E27FC236}">
                <a16:creationId xmlns:a16="http://schemas.microsoft.com/office/drawing/2014/main" id="{1533BD18-B9A3-8E70-4E68-2FF1D436D292}"/>
              </a:ext>
            </a:extLst>
          </p:cNvPr>
          <p:cNvSpPr/>
          <p:nvPr/>
        </p:nvSpPr>
        <p:spPr>
          <a:xfrm>
            <a:off x="5226649" y="1477258"/>
            <a:ext cx="1620688"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a:t>Ibuprofen</a:t>
            </a:r>
          </a:p>
          <a:p>
            <a:pPr algn="ctr"/>
            <a:r>
              <a:rPr lang="de-DE" sz="1013" dirty="0"/>
              <a:t>N=82</a:t>
            </a:r>
          </a:p>
        </p:txBody>
      </p:sp>
      <p:sp>
        <p:nvSpPr>
          <p:cNvPr id="6" name="Rechteck 5">
            <a:extLst>
              <a:ext uri="{FF2B5EF4-FFF2-40B4-BE49-F238E27FC236}">
                <a16:creationId xmlns:a16="http://schemas.microsoft.com/office/drawing/2014/main" id="{846FD29C-C322-74F0-AD35-1152FF1FD16D}"/>
              </a:ext>
            </a:extLst>
          </p:cNvPr>
          <p:cNvSpPr/>
          <p:nvPr/>
        </p:nvSpPr>
        <p:spPr>
          <a:xfrm>
            <a:off x="7093190" y="1477258"/>
            <a:ext cx="1620688"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a:t>Paracetamol</a:t>
            </a:r>
          </a:p>
          <a:p>
            <a:pPr algn="ctr"/>
            <a:r>
              <a:rPr lang="de-DE" sz="1013" dirty="0"/>
              <a:t>N=101</a:t>
            </a:r>
          </a:p>
        </p:txBody>
      </p:sp>
      <p:sp>
        <p:nvSpPr>
          <p:cNvPr id="7" name="Rechteck 6">
            <a:extLst>
              <a:ext uri="{FF2B5EF4-FFF2-40B4-BE49-F238E27FC236}">
                <a16:creationId xmlns:a16="http://schemas.microsoft.com/office/drawing/2014/main" id="{8F7A264E-5E22-BEF8-C7DB-F4C17ED5563C}"/>
              </a:ext>
            </a:extLst>
          </p:cNvPr>
          <p:cNvSpPr/>
          <p:nvPr/>
        </p:nvSpPr>
        <p:spPr>
          <a:xfrm>
            <a:off x="3360109" y="194565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a:p>
            <a:pPr algn="ctr"/>
            <a:r>
              <a:rPr lang="de-DE" sz="675" dirty="0"/>
              <a:t>N=10</a:t>
            </a:r>
          </a:p>
        </p:txBody>
      </p:sp>
      <p:sp>
        <p:nvSpPr>
          <p:cNvPr id="9" name="Rechteck 8">
            <a:extLst>
              <a:ext uri="{FF2B5EF4-FFF2-40B4-BE49-F238E27FC236}">
                <a16:creationId xmlns:a16="http://schemas.microsoft.com/office/drawing/2014/main" id="{0C4EC88B-2236-3DC4-D547-625C6AB82EC6}"/>
              </a:ext>
            </a:extLst>
          </p:cNvPr>
          <p:cNvSpPr/>
          <p:nvPr/>
        </p:nvSpPr>
        <p:spPr>
          <a:xfrm>
            <a:off x="3927785" y="194565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Skin</a:t>
            </a:r>
          </a:p>
          <a:p>
            <a:pPr algn="ctr"/>
            <a:r>
              <a:rPr lang="de-DE" sz="675" dirty="0"/>
              <a:t>N=7</a:t>
            </a:r>
          </a:p>
        </p:txBody>
      </p:sp>
      <p:sp>
        <p:nvSpPr>
          <p:cNvPr id="10" name="Rechteck 9">
            <a:extLst>
              <a:ext uri="{FF2B5EF4-FFF2-40B4-BE49-F238E27FC236}">
                <a16:creationId xmlns:a16="http://schemas.microsoft.com/office/drawing/2014/main" id="{F970D5BB-AA09-5DF9-3948-088AC1B49ADA}"/>
              </a:ext>
            </a:extLst>
          </p:cNvPr>
          <p:cNvSpPr/>
          <p:nvPr/>
        </p:nvSpPr>
        <p:spPr>
          <a:xfrm>
            <a:off x="4506882" y="1948974"/>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Liver</a:t>
            </a:r>
          </a:p>
          <a:p>
            <a:pPr algn="ctr"/>
            <a:r>
              <a:rPr lang="de-DE" sz="675" dirty="0"/>
              <a:t>N=126</a:t>
            </a:r>
          </a:p>
        </p:txBody>
      </p:sp>
      <p:sp>
        <p:nvSpPr>
          <p:cNvPr id="12" name="Rechteck 11">
            <a:extLst>
              <a:ext uri="{FF2B5EF4-FFF2-40B4-BE49-F238E27FC236}">
                <a16:creationId xmlns:a16="http://schemas.microsoft.com/office/drawing/2014/main" id="{B5073755-5B95-9FA3-9710-26208387475B}"/>
              </a:ext>
            </a:extLst>
          </p:cNvPr>
          <p:cNvSpPr/>
          <p:nvPr/>
        </p:nvSpPr>
        <p:spPr>
          <a:xfrm>
            <a:off x="5625006" y="661499"/>
            <a:ext cx="2845788" cy="68783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de-DE" sz="900" dirty="0" err="1"/>
              <a:t>Exclusion</a:t>
            </a:r>
            <a:r>
              <a:rPr lang="de-DE" sz="900" dirty="0"/>
              <a:t> </a:t>
            </a:r>
            <a:r>
              <a:rPr lang="de-DE" sz="900" dirty="0" err="1"/>
              <a:t>criteria</a:t>
            </a:r>
            <a:endParaRPr lang="de-DE" sz="900" dirty="0"/>
          </a:p>
          <a:p>
            <a:pPr marL="160734" indent="-160734">
              <a:buFont typeface="Symbol" panose="05050102010706020507" pitchFamily="18" charset="2"/>
              <a:buChar char="-"/>
            </a:pPr>
            <a:r>
              <a:rPr lang="de-DE" sz="900" dirty="0"/>
              <a:t>Cases </a:t>
            </a:r>
            <a:r>
              <a:rPr lang="de-DE" sz="900" dirty="0" err="1"/>
              <a:t>without</a:t>
            </a:r>
            <a:r>
              <a:rPr lang="de-DE" sz="900" dirty="0"/>
              <a:t> a </a:t>
            </a:r>
            <a:r>
              <a:rPr lang="de-DE" sz="900" dirty="0" err="1"/>
              <a:t>starting</a:t>
            </a:r>
            <a:r>
              <a:rPr lang="de-DE" sz="900" dirty="0"/>
              <a:t>-date </a:t>
            </a:r>
            <a:r>
              <a:rPr lang="de-DE" sz="900" dirty="0" err="1"/>
              <a:t>for</a:t>
            </a:r>
            <a:r>
              <a:rPr lang="de-DE" sz="900" dirty="0"/>
              <a:t> </a:t>
            </a:r>
            <a:r>
              <a:rPr lang="de-DE" sz="900" dirty="0" err="1"/>
              <a:t>the</a:t>
            </a:r>
            <a:r>
              <a:rPr lang="de-DE" sz="900" dirty="0"/>
              <a:t> </a:t>
            </a:r>
            <a:r>
              <a:rPr lang="de-DE" sz="900" dirty="0" err="1"/>
              <a:t>drug-related</a:t>
            </a:r>
            <a:r>
              <a:rPr lang="de-DE" sz="900" dirty="0"/>
              <a:t> </a:t>
            </a:r>
            <a:r>
              <a:rPr lang="de-DE" sz="900" dirty="0" err="1"/>
              <a:t>symptomes</a:t>
            </a:r>
            <a:endParaRPr lang="de-DE" sz="900" dirty="0"/>
          </a:p>
          <a:p>
            <a:pPr marL="160734" indent="-160734">
              <a:buFont typeface="Symbol" panose="05050102010706020507" pitchFamily="18" charset="2"/>
              <a:buChar char="-"/>
            </a:pPr>
            <a:r>
              <a:rPr lang="de-DE" sz="900" dirty="0"/>
              <a:t>Cases </a:t>
            </a:r>
            <a:r>
              <a:rPr lang="de-DE" sz="900" dirty="0" err="1"/>
              <a:t>without</a:t>
            </a:r>
            <a:r>
              <a:rPr lang="de-DE" sz="900" dirty="0"/>
              <a:t> </a:t>
            </a:r>
            <a:r>
              <a:rPr lang="de-DE" sz="900" dirty="0" err="1"/>
              <a:t>any</a:t>
            </a:r>
            <a:r>
              <a:rPr lang="de-DE" sz="900" dirty="0"/>
              <a:t> </a:t>
            </a:r>
            <a:r>
              <a:rPr lang="de-DE" sz="900" dirty="0" err="1"/>
              <a:t>information</a:t>
            </a:r>
            <a:r>
              <a:rPr lang="de-DE" sz="900" dirty="0"/>
              <a:t> </a:t>
            </a:r>
            <a:r>
              <a:rPr lang="de-DE" sz="900" dirty="0" err="1"/>
              <a:t>about</a:t>
            </a:r>
            <a:r>
              <a:rPr lang="de-DE" sz="900" dirty="0"/>
              <a:t> </a:t>
            </a:r>
            <a:r>
              <a:rPr lang="de-DE" sz="900" dirty="0" err="1"/>
              <a:t>labvalues</a:t>
            </a:r>
            <a:endParaRPr lang="de-DE" sz="900" dirty="0"/>
          </a:p>
          <a:p>
            <a:pPr marL="160734" indent="-160734">
              <a:buFont typeface="Symbol" panose="05050102010706020507" pitchFamily="18" charset="2"/>
              <a:buChar char="-"/>
            </a:pPr>
            <a:r>
              <a:rPr lang="de-DE" sz="900" dirty="0"/>
              <a:t>Cases not </a:t>
            </a:r>
            <a:r>
              <a:rPr lang="de-DE" sz="900" dirty="0" err="1"/>
              <a:t>regarding</a:t>
            </a:r>
            <a:r>
              <a:rPr lang="de-DE" sz="900" dirty="0"/>
              <a:t> SJS, </a:t>
            </a:r>
            <a:r>
              <a:rPr lang="de-DE" sz="900" dirty="0" err="1"/>
              <a:t>skinreaction</a:t>
            </a:r>
            <a:r>
              <a:rPr lang="de-DE" sz="900" dirty="0"/>
              <a:t> </a:t>
            </a:r>
            <a:r>
              <a:rPr lang="de-DE" sz="900" dirty="0" err="1"/>
              <a:t>or</a:t>
            </a:r>
            <a:r>
              <a:rPr lang="de-DE" sz="900" dirty="0"/>
              <a:t> </a:t>
            </a:r>
            <a:r>
              <a:rPr lang="de-DE" sz="900" dirty="0" err="1"/>
              <a:t>liver</a:t>
            </a:r>
            <a:endParaRPr lang="de-DE" sz="900" dirty="0"/>
          </a:p>
        </p:txBody>
      </p:sp>
      <p:sp>
        <p:nvSpPr>
          <p:cNvPr id="13" name="Rechteck 12">
            <a:extLst>
              <a:ext uri="{FF2B5EF4-FFF2-40B4-BE49-F238E27FC236}">
                <a16:creationId xmlns:a16="http://schemas.microsoft.com/office/drawing/2014/main" id="{6C3DD7BE-4E3A-88E0-5F25-34B5C83B0EE1}"/>
              </a:ext>
            </a:extLst>
          </p:cNvPr>
          <p:cNvSpPr/>
          <p:nvPr/>
        </p:nvSpPr>
        <p:spPr>
          <a:xfrm>
            <a:off x="5226650" y="194565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a:p>
            <a:pPr algn="ctr"/>
            <a:r>
              <a:rPr lang="de-DE" sz="675" dirty="0"/>
              <a:t>N=4</a:t>
            </a:r>
          </a:p>
        </p:txBody>
      </p:sp>
      <p:sp>
        <p:nvSpPr>
          <p:cNvPr id="14" name="Rechteck 13">
            <a:extLst>
              <a:ext uri="{FF2B5EF4-FFF2-40B4-BE49-F238E27FC236}">
                <a16:creationId xmlns:a16="http://schemas.microsoft.com/office/drawing/2014/main" id="{00CD11BB-B8B2-0104-9512-87684F79CB26}"/>
              </a:ext>
            </a:extLst>
          </p:cNvPr>
          <p:cNvSpPr/>
          <p:nvPr/>
        </p:nvSpPr>
        <p:spPr>
          <a:xfrm>
            <a:off x="5800037" y="194565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Skin</a:t>
            </a:r>
          </a:p>
          <a:p>
            <a:pPr algn="ctr"/>
            <a:r>
              <a:rPr lang="de-DE" sz="675" dirty="0"/>
              <a:t>N=6</a:t>
            </a:r>
          </a:p>
        </p:txBody>
      </p:sp>
      <p:sp>
        <p:nvSpPr>
          <p:cNvPr id="15" name="Rechteck 14">
            <a:extLst>
              <a:ext uri="{FF2B5EF4-FFF2-40B4-BE49-F238E27FC236}">
                <a16:creationId xmlns:a16="http://schemas.microsoft.com/office/drawing/2014/main" id="{2578F57E-B278-16A7-813C-B836A825CD17}"/>
              </a:ext>
            </a:extLst>
          </p:cNvPr>
          <p:cNvSpPr/>
          <p:nvPr/>
        </p:nvSpPr>
        <p:spPr>
          <a:xfrm>
            <a:off x="6373423" y="194565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Liver</a:t>
            </a:r>
          </a:p>
          <a:p>
            <a:pPr algn="ctr"/>
            <a:r>
              <a:rPr lang="de-DE" sz="675" dirty="0"/>
              <a:t>N=72</a:t>
            </a:r>
          </a:p>
        </p:txBody>
      </p:sp>
      <p:sp>
        <p:nvSpPr>
          <p:cNvPr id="16" name="Rechteck 15">
            <a:extLst>
              <a:ext uri="{FF2B5EF4-FFF2-40B4-BE49-F238E27FC236}">
                <a16:creationId xmlns:a16="http://schemas.microsoft.com/office/drawing/2014/main" id="{7B3B6470-C528-5F1A-1C47-E76DC2B4EE21}"/>
              </a:ext>
            </a:extLst>
          </p:cNvPr>
          <p:cNvSpPr/>
          <p:nvPr/>
        </p:nvSpPr>
        <p:spPr>
          <a:xfrm>
            <a:off x="7093191" y="194565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a:p>
            <a:pPr algn="ctr"/>
            <a:r>
              <a:rPr lang="de-DE" sz="675" dirty="0"/>
              <a:t>N=21</a:t>
            </a:r>
          </a:p>
        </p:txBody>
      </p:sp>
      <p:sp>
        <p:nvSpPr>
          <p:cNvPr id="17" name="Rechteck 16">
            <a:extLst>
              <a:ext uri="{FF2B5EF4-FFF2-40B4-BE49-F238E27FC236}">
                <a16:creationId xmlns:a16="http://schemas.microsoft.com/office/drawing/2014/main" id="{6EEF9C58-4533-6EC5-E2AB-09DE8A03B58F}"/>
              </a:ext>
            </a:extLst>
          </p:cNvPr>
          <p:cNvSpPr/>
          <p:nvPr/>
        </p:nvSpPr>
        <p:spPr>
          <a:xfrm>
            <a:off x="7666578" y="194565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Skin</a:t>
            </a:r>
          </a:p>
          <a:p>
            <a:pPr algn="ctr"/>
            <a:r>
              <a:rPr lang="de-DE" sz="675" dirty="0"/>
              <a:t>N=5</a:t>
            </a:r>
          </a:p>
        </p:txBody>
      </p:sp>
      <p:sp>
        <p:nvSpPr>
          <p:cNvPr id="18" name="Rechteck 17">
            <a:extLst>
              <a:ext uri="{FF2B5EF4-FFF2-40B4-BE49-F238E27FC236}">
                <a16:creationId xmlns:a16="http://schemas.microsoft.com/office/drawing/2014/main" id="{2475C8FA-F47B-52D1-E5B9-D8D43A0ABEDF}"/>
              </a:ext>
            </a:extLst>
          </p:cNvPr>
          <p:cNvSpPr/>
          <p:nvPr/>
        </p:nvSpPr>
        <p:spPr>
          <a:xfrm>
            <a:off x="8239964" y="1945658"/>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Liver</a:t>
            </a:r>
          </a:p>
          <a:p>
            <a:pPr algn="ctr"/>
            <a:r>
              <a:rPr lang="de-DE" sz="675" dirty="0"/>
              <a:t>N=75</a:t>
            </a:r>
          </a:p>
        </p:txBody>
      </p:sp>
      <p:sp>
        <p:nvSpPr>
          <p:cNvPr id="2" name="Rechteck 1">
            <a:extLst>
              <a:ext uri="{FF2B5EF4-FFF2-40B4-BE49-F238E27FC236}">
                <a16:creationId xmlns:a16="http://schemas.microsoft.com/office/drawing/2014/main" id="{62AF6F8D-8038-3A1B-4D8B-A145474BEB0C}"/>
              </a:ext>
            </a:extLst>
          </p:cNvPr>
          <p:cNvSpPr/>
          <p:nvPr/>
        </p:nvSpPr>
        <p:spPr>
          <a:xfrm>
            <a:off x="2731726" y="115818"/>
            <a:ext cx="5353770" cy="5143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a:t>BfArM-</a:t>
            </a:r>
            <a:r>
              <a:rPr lang="de-DE" sz="1013" dirty="0" err="1"/>
              <a:t>case</a:t>
            </a:r>
            <a:r>
              <a:rPr lang="de-DE" sz="1013" dirty="0"/>
              <a:t> </a:t>
            </a:r>
            <a:r>
              <a:rPr lang="de-DE" sz="1013" dirty="0" err="1"/>
              <a:t>reports</a:t>
            </a:r>
            <a:r>
              <a:rPr lang="de-DE" sz="1013" dirty="0"/>
              <a:t> </a:t>
            </a:r>
            <a:r>
              <a:rPr lang="de-DE" sz="1013" dirty="0" err="1"/>
              <a:t>for</a:t>
            </a:r>
            <a:r>
              <a:rPr lang="de-DE" sz="1013" dirty="0"/>
              <a:t> </a:t>
            </a:r>
            <a:r>
              <a:rPr lang="de-DE" sz="1013" dirty="0" err="1"/>
              <a:t>drug-reaction</a:t>
            </a:r>
            <a:r>
              <a:rPr lang="de-DE" sz="1013" dirty="0"/>
              <a:t> on </a:t>
            </a:r>
            <a:r>
              <a:rPr lang="de-DE" sz="1013" dirty="0" err="1"/>
              <a:t>Diclofenac</a:t>
            </a:r>
            <a:r>
              <a:rPr lang="de-DE" sz="1013" dirty="0"/>
              <a:t>, Ibuprofen and </a:t>
            </a:r>
            <a:r>
              <a:rPr lang="de-DE" sz="1013" dirty="0" err="1"/>
              <a:t>paracetamol</a:t>
            </a:r>
            <a:endParaRPr lang="de-DE" sz="1013" dirty="0"/>
          </a:p>
          <a:p>
            <a:pPr algn="ctr"/>
            <a:r>
              <a:rPr lang="de-DE" sz="1013" dirty="0"/>
              <a:t>N=435</a:t>
            </a:r>
          </a:p>
        </p:txBody>
      </p:sp>
      <p:cxnSp>
        <p:nvCxnSpPr>
          <p:cNvPr id="24" name="Gerade Verbindung mit Pfeil 23">
            <a:extLst>
              <a:ext uri="{FF2B5EF4-FFF2-40B4-BE49-F238E27FC236}">
                <a16:creationId xmlns:a16="http://schemas.microsoft.com/office/drawing/2014/main" id="{F6B13881-28C5-60AC-9E32-ED52941676EB}"/>
              </a:ext>
            </a:extLst>
          </p:cNvPr>
          <p:cNvCxnSpPr>
            <a:cxnSpLocks/>
            <a:endCxn id="7" idx="0"/>
          </p:cNvCxnSpPr>
          <p:nvPr/>
        </p:nvCxnSpPr>
        <p:spPr>
          <a:xfrm>
            <a:off x="3597066" y="1854677"/>
            <a:ext cx="1" cy="90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Gerade Verbindung mit Pfeil 25">
            <a:extLst>
              <a:ext uri="{FF2B5EF4-FFF2-40B4-BE49-F238E27FC236}">
                <a16:creationId xmlns:a16="http://schemas.microsoft.com/office/drawing/2014/main" id="{269E2392-BAA9-8A22-35E3-7521F79DC424}"/>
              </a:ext>
            </a:extLst>
          </p:cNvPr>
          <p:cNvCxnSpPr>
            <a:cxnSpLocks/>
            <a:stCxn id="4" idx="2"/>
            <a:endCxn id="9" idx="0"/>
          </p:cNvCxnSpPr>
          <p:nvPr/>
        </p:nvCxnSpPr>
        <p:spPr>
          <a:xfrm flipH="1">
            <a:off x="4164742" y="1846443"/>
            <a:ext cx="5710" cy="99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7F889836-817B-F995-3AB0-F9059ED50AC9}"/>
              </a:ext>
            </a:extLst>
          </p:cNvPr>
          <p:cNvCxnSpPr>
            <a:cxnSpLocks/>
            <a:endCxn id="10" idx="0"/>
          </p:cNvCxnSpPr>
          <p:nvPr/>
        </p:nvCxnSpPr>
        <p:spPr>
          <a:xfrm>
            <a:off x="4743839" y="1854677"/>
            <a:ext cx="1" cy="94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22D4D269-1FB4-8ECC-5C63-4959A19557D8}"/>
              </a:ext>
            </a:extLst>
          </p:cNvPr>
          <p:cNvCxnSpPr>
            <a:cxnSpLocks/>
            <a:endCxn id="13" idx="0"/>
          </p:cNvCxnSpPr>
          <p:nvPr/>
        </p:nvCxnSpPr>
        <p:spPr>
          <a:xfrm>
            <a:off x="5453901" y="1853019"/>
            <a:ext cx="9706" cy="92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Gerade Verbindung mit Pfeil 31">
            <a:extLst>
              <a:ext uri="{FF2B5EF4-FFF2-40B4-BE49-F238E27FC236}">
                <a16:creationId xmlns:a16="http://schemas.microsoft.com/office/drawing/2014/main" id="{88FDF955-117E-A6EB-8D6F-47AD9718717D}"/>
              </a:ext>
            </a:extLst>
          </p:cNvPr>
          <p:cNvCxnSpPr>
            <a:cxnSpLocks/>
            <a:stCxn id="5" idx="2"/>
            <a:endCxn id="14" idx="0"/>
          </p:cNvCxnSpPr>
          <p:nvPr/>
        </p:nvCxnSpPr>
        <p:spPr>
          <a:xfrm>
            <a:off x="6036994" y="1852507"/>
            <a:ext cx="1" cy="93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5D6205CF-526C-7155-DD90-E85A48678216}"/>
              </a:ext>
            </a:extLst>
          </p:cNvPr>
          <p:cNvCxnSpPr>
            <a:cxnSpLocks/>
            <a:endCxn id="15" idx="0"/>
          </p:cNvCxnSpPr>
          <p:nvPr/>
        </p:nvCxnSpPr>
        <p:spPr>
          <a:xfrm>
            <a:off x="6610380" y="1860741"/>
            <a:ext cx="1" cy="849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D99316E6-8737-A092-77FD-A99AA435EF53}"/>
              </a:ext>
            </a:extLst>
          </p:cNvPr>
          <p:cNvCxnSpPr>
            <a:cxnSpLocks/>
            <a:endCxn id="16" idx="0"/>
          </p:cNvCxnSpPr>
          <p:nvPr/>
        </p:nvCxnSpPr>
        <p:spPr>
          <a:xfrm>
            <a:off x="7330148" y="1860741"/>
            <a:ext cx="1" cy="849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8F2FE70B-3A42-589B-C9BA-E40957374E0A}"/>
              </a:ext>
            </a:extLst>
          </p:cNvPr>
          <p:cNvCxnSpPr>
            <a:cxnSpLocks/>
            <a:stCxn id="6" idx="2"/>
            <a:endCxn id="17" idx="0"/>
          </p:cNvCxnSpPr>
          <p:nvPr/>
        </p:nvCxnSpPr>
        <p:spPr>
          <a:xfrm>
            <a:off x="7903535" y="1852507"/>
            <a:ext cx="1" cy="93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A7D9DAA2-33A2-352C-83C3-0312306FAC91}"/>
              </a:ext>
            </a:extLst>
          </p:cNvPr>
          <p:cNvCxnSpPr>
            <a:cxnSpLocks/>
            <a:endCxn id="18" idx="0"/>
          </p:cNvCxnSpPr>
          <p:nvPr/>
        </p:nvCxnSpPr>
        <p:spPr>
          <a:xfrm>
            <a:off x="8476921" y="1853019"/>
            <a:ext cx="1" cy="92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Textfeld 57">
            <a:extLst>
              <a:ext uri="{FF2B5EF4-FFF2-40B4-BE49-F238E27FC236}">
                <a16:creationId xmlns:a16="http://schemas.microsoft.com/office/drawing/2014/main" id="{6DB9CA28-3C6F-5225-4FA3-3303DF06A61A}"/>
              </a:ext>
            </a:extLst>
          </p:cNvPr>
          <p:cNvSpPr txBox="1"/>
          <p:nvPr/>
        </p:nvSpPr>
        <p:spPr>
          <a:xfrm>
            <a:off x="2180344" y="1460219"/>
            <a:ext cx="773795" cy="338554"/>
          </a:xfrm>
          <a:prstGeom prst="rect">
            <a:avLst/>
          </a:prstGeom>
          <a:noFill/>
        </p:spPr>
        <p:txBody>
          <a:bodyPr wrap="square" rtlCol="0">
            <a:spAutoFit/>
          </a:bodyPr>
          <a:lstStyle/>
          <a:p>
            <a:r>
              <a:rPr lang="de-DE" sz="800" dirty="0" err="1"/>
              <a:t>Number</a:t>
            </a:r>
            <a:r>
              <a:rPr lang="de-DE" sz="800" dirty="0"/>
              <a:t> </a:t>
            </a:r>
            <a:r>
              <a:rPr lang="de-DE" sz="800" dirty="0" err="1"/>
              <a:t>of</a:t>
            </a:r>
            <a:endParaRPr lang="de-DE" sz="800" dirty="0"/>
          </a:p>
          <a:p>
            <a:r>
              <a:rPr lang="de-DE" sz="800" dirty="0"/>
              <a:t> </a:t>
            </a:r>
            <a:r>
              <a:rPr lang="de-DE" sz="800" dirty="0" err="1"/>
              <a:t>Patients</a:t>
            </a:r>
            <a:r>
              <a:rPr lang="de-DE" sz="800" dirty="0"/>
              <a:t> (N)</a:t>
            </a:r>
          </a:p>
        </p:txBody>
      </p:sp>
      <p:sp>
        <p:nvSpPr>
          <p:cNvPr id="59" name="Textfeld 58">
            <a:extLst>
              <a:ext uri="{FF2B5EF4-FFF2-40B4-BE49-F238E27FC236}">
                <a16:creationId xmlns:a16="http://schemas.microsoft.com/office/drawing/2014/main" id="{7D36650E-F63C-A9F1-3631-F88CC74D1C9A}"/>
              </a:ext>
            </a:extLst>
          </p:cNvPr>
          <p:cNvSpPr txBox="1"/>
          <p:nvPr/>
        </p:nvSpPr>
        <p:spPr>
          <a:xfrm>
            <a:off x="2180344" y="1916912"/>
            <a:ext cx="785215" cy="338554"/>
          </a:xfrm>
          <a:prstGeom prst="rect">
            <a:avLst/>
          </a:prstGeom>
          <a:noFill/>
        </p:spPr>
        <p:txBody>
          <a:bodyPr wrap="square" rtlCol="0">
            <a:spAutoFit/>
          </a:bodyPr>
          <a:lstStyle/>
          <a:p>
            <a:r>
              <a:rPr lang="de-DE" sz="800" dirty="0" err="1"/>
              <a:t>Number</a:t>
            </a:r>
            <a:r>
              <a:rPr lang="de-DE" sz="800" dirty="0"/>
              <a:t> </a:t>
            </a:r>
            <a:r>
              <a:rPr lang="de-DE" sz="800" dirty="0" err="1"/>
              <a:t>of</a:t>
            </a:r>
            <a:endParaRPr lang="de-DE" sz="800" dirty="0"/>
          </a:p>
          <a:p>
            <a:r>
              <a:rPr lang="de-DE" sz="800" dirty="0"/>
              <a:t> </a:t>
            </a:r>
            <a:r>
              <a:rPr lang="de-DE" sz="800" dirty="0" err="1"/>
              <a:t>Patients</a:t>
            </a:r>
            <a:r>
              <a:rPr lang="de-DE" sz="800" dirty="0"/>
              <a:t> (N)</a:t>
            </a:r>
          </a:p>
        </p:txBody>
      </p:sp>
      <p:sp>
        <p:nvSpPr>
          <p:cNvPr id="60" name="Rechteck 59">
            <a:extLst>
              <a:ext uri="{FF2B5EF4-FFF2-40B4-BE49-F238E27FC236}">
                <a16:creationId xmlns:a16="http://schemas.microsoft.com/office/drawing/2014/main" id="{76E35633-6044-8E41-FC15-4035785CCBFE}"/>
              </a:ext>
            </a:extLst>
          </p:cNvPr>
          <p:cNvSpPr/>
          <p:nvPr/>
        </p:nvSpPr>
        <p:spPr>
          <a:xfrm>
            <a:off x="3360109" y="3096743"/>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p:txBody>
      </p:sp>
      <p:sp>
        <p:nvSpPr>
          <p:cNvPr id="62" name="Rechteck 61">
            <a:extLst>
              <a:ext uri="{FF2B5EF4-FFF2-40B4-BE49-F238E27FC236}">
                <a16:creationId xmlns:a16="http://schemas.microsoft.com/office/drawing/2014/main" id="{0FAE7F2E-B9D4-883D-D396-E055A21E8D80}"/>
              </a:ext>
            </a:extLst>
          </p:cNvPr>
          <p:cNvSpPr/>
          <p:nvPr/>
        </p:nvSpPr>
        <p:spPr>
          <a:xfrm>
            <a:off x="3927785" y="3096743"/>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Skin</a:t>
            </a:r>
          </a:p>
        </p:txBody>
      </p:sp>
      <p:sp>
        <p:nvSpPr>
          <p:cNvPr id="64" name="Rechteck 63">
            <a:extLst>
              <a:ext uri="{FF2B5EF4-FFF2-40B4-BE49-F238E27FC236}">
                <a16:creationId xmlns:a16="http://schemas.microsoft.com/office/drawing/2014/main" id="{6A64FC58-F2D5-644E-E8F1-80B27A5A73DE}"/>
              </a:ext>
            </a:extLst>
          </p:cNvPr>
          <p:cNvSpPr/>
          <p:nvPr/>
        </p:nvSpPr>
        <p:spPr>
          <a:xfrm>
            <a:off x="4506882" y="3100059"/>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Liver</a:t>
            </a:r>
          </a:p>
        </p:txBody>
      </p:sp>
      <p:sp>
        <p:nvSpPr>
          <p:cNvPr id="68" name="Rechteck 67">
            <a:extLst>
              <a:ext uri="{FF2B5EF4-FFF2-40B4-BE49-F238E27FC236}">
                <a16:creationId xmlns:a16="http://schemas.microsoft.com/office/drawing/2014/main" id="{E620F29F-F96A-E54E-8CE7-7868F92ABF21}"/>
              </a:ext>
            </a:extLst>
          </p:cNvPr>
          <p:cNvSpPr/>
          <p:nvPr/>
        </p:nvSpPr>
        <p:spPr>
          <a:xfrm>
            <a:off x="5226650" y="3096743"/>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p:txBody>
      </p:sp>
      <p:sp>
        <p:nvSpPr>
          <p:cNvPr id="70" name="Rechteck 69">
            <a:extLst>
              <a:ext uri="{FF2B5EF4-FFF2-40B4-BE49-F238E27FC236}">
                <a16:creationId xmlns:a16="http://schemas.microsoft.com/office/drawing/2014/main" id="{66EA026E-3483-AD8F-A916-0E4D1B02FFF4}"/>
              </a:ext>
            </a:extLst>
          </p:cNvPr>
          <p:cNvSpPr/>
          <p:nvPr/>
        </p:nvSpPr>
        <p:spPr>
          <a:xfrm>
            <a:off x="5800037" y="3096743"/>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Skin</a:t>
            </a:r>
          </a:p>
        </p:txBody>
      </p:sp>
      <p:sp>
        <p:nvSpPr>
          <p:cNvPr id="71" name="Rechteck 70">
            <a:extLst>
              <a:ext uri="{FF2B5EF4-FFF2-40B4-BE49-F238E27FC236}">
                <a16:creationId xmlns:a16="http://schemas.microsoft.com/office/drawing/2014/main" id="{34F4C086-AD95-F854-32F0-5A38C8E9C140}"/>
              </a:ext>
            </a:extLst>
          </p:cNvPr>
          <p:cNvSpPr/>
          <p:nvPr/>
        </p:nvSpPr>
        <p:spPr>
          <a:xfrm>
            <a:off x="6373423" y="3096743"/>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Liver</a:t>
            </a:r>
          </a:p>
        </p:txBody>
      </p:sp>
      <p:sp>
        <p:nvSpPr>
          <p:cNvPr id="75" name="Rechteck 74">
            <a:extLst>
              <a:ext uri="{FF2B5EF4-FFF2-40B4-BE49-F238E27FC236}">
                <a16:creationId xmlns:a16="http://schemas.microsoft.com/office/drawing/2014/main" id="{A1F56530-1294-8B0A-2930-10A90951E8E8}"/>
              </a:ext>
            </a:extLst>
          </p:cNvPr>
          <p:cNvSpPr/>
          <p:nvPr/>
        </p:nvSpPr>
        <p:spPr>
          <a:xfrm>
            <a:off x="7093191" y="3096743"/>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p:txBody>
      </p:sp>
      <p:sp>
        <p:nvSpPr>
          <p:cNvPr id="76" name="Rechteck 75">
            <a:extLst>
              <a:ext uri="{FF2B5EF4-FFF2-40B4-BE49-F238E27FC236}">
                <a16:creationId xmlns:a16="http://schemas.microsoft.com/office/drawing/2014/main" id="{BDFD609E-B72A-1D0C-3DDB-2D58EEB4C57A}"/>
              </a:ext>
            </a:extLst>
          </p:cNvPr>
          <p:cNvSpPr/>
          <p:nvPr/>
        </p:nvSpPr>
        <p:spPr>
          <a:xfrm>
            <a:off x="7666578" y="3096743"/>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Skin</a:t>
            </a:r>
          </a:p>
        </p:txBody>
      </p:sp>
      <p:sp>
        <p:nvSpPr>
          <p:cNvPr id="78" name="Rechteck 77">
            <a:extLst>
              <a:ext uri="{FF2B5EF4-FFF2-40B4-BE49-F238E27FC236}">
                <a16:creationId xmlns:a16="http://schemas.microsoft.com/office/drawing/2014/main" id="{DA1B3084-48F8-5319-534E-24FE5474364C}"/>
              </a:ext>
            </a:extLst>
          </p:cNvPr>
          <p:cNvSpPr/>
          <p:nvPr/>
        </p:nvSpPr>
        <p:spPr>
          <a:xfrm>
            <a:off x="8239964" y="3096743"/>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Liver</a:t>
            </a:r>
          </a:p>
        </p:txBody>
      </p:sp>
      <p:cxnSp>
        <p:nvCxnSpPr>
          <p:cNvPr id="84" name="Gerade Verbindung mit Pfeil 83">
            <a:extLst>
              <a:ext uri="{FF2B5EF4-FFF2-40B4-BE49-F238E27FC236}">
                <a16:creationId xmlns:a16="http://schemas.microsoft.com/office/drawing/2014/main" id="{2B7D8082-E837-22B0-0927-0B15F0AE0CF1}"/>
              </a:ext>
            </a:extLst>
          </p:cNvPr>
          <p:cNvCxnSpPr>
            <a:cxnSpLocks/>
            <a:stCxn id="7" idx="2"/>
            <a:endCxn id="60" idx="0"/>
          </p:cNvCxnSpPr>
          <p:nvPr/>
        </p:nvCxnSpPr>
        <p:spPr>
          <a:xfrm>
            <a:off x="3597066" y="2209800"/>
            <a:ext cx="0" cy="886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Gerade Verbindung mit Pfeil 86">
            <a:extLst>
              <a:ext uri="{FF2B5EF4-FFF2-40B4-BE49-F238E27FC236}">
                <a16:creationId xmlns:a16="http://schemas.microsoft.com/office/drawing/2014/main" id="{F253FA6B-4459-F27D-3937-667B832413D0}"/>
              </a:ext>
            </a:extLst>
          </p:cNvPr>
          <p:cNvCxnSpPr>
            <a:stCxn id="9" idx="2"/>
            <a:endCxn id="62" idx="0"/>
          </p:cNvCxnSpPr>
          <p:nvPr/>
        </p:nvCxnSpPr>
        <p:spPr>
          <a:xfrm>
            <a:off x="4164742" y="2209800"/>
            <a:ext cx="0" cy="886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Gerade Verbindung mit Pfeil 88">
            <a:extLst>
              <a:ext uri="{FF2B5EF4-FFF2-40B4-BE49-F238E27FC236}">
                <a16:creationId xmlns:a16="http://schemas.microsoft.com/office/drawing/2014/main" id="{04C193AE-4BD7-3F93-89AF-F90B4D7CCB33}"/>
              </a:ext>
            </a:extLst>
          </p:cNvPr>
          <p:cNvCxnSpPr>
            <a:stCxn id="10" idx="2"/>
            <a:endCxn id="64" idx="0"/>
          </p:cNvCxnSpPr>
          <p:nvPr/>
        </p:nvCxnSpPr>
        <p:spPr>
          <a:xfrm>
            <a:off x="4743839" y="2213116"/>
            <a:ext cx="0" cy="886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Gerade Verbindung mit Pfeil 90">
            <a:extLst>
              <a:ext uri="{FF2B5EF4-FFF2-40B4-BE49-F238E27FC236}">
                <a16:creationId xmlns:a16="http://schemas.microsoft.com/office/drawing/2014/main" id="{81A888A7-ECA9-050F-C09A-EBDC8153DBE7}"/>
              </a:ext>
            </a:extLst>
          </p:cNvPr>
          <p:cNvCxnSpPr>
            <a:stCxn id="13" idx="2"/>
            <a:endCxn id="68" idx="0"/>
          </p:cNvCxnSpPr>
          <p:nvPr/>
        </p:nvCxnSpPr>
        <p:spPr>
          <a:xfrm>
            <a:off x="5463607" y="2209800"/>
            <a:ext cx="0" cy="886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Gerade Verbindung mit Pfeil 92">
            <a:extLst>
              <a:ext uri="{FF2B5EF4-FFF2-40B4-BE49-F238E27FC236}">
                <a16:creationId xmlns:a16="http://schemas.microsoft.com/office/drawing/2014/main" id="{D66537E6-E243-FA3D-6B6A-35368AFDF57B}"/>
              </a:ext>
            </a:extLst>
          </p:cNvPr>
          <p:cNvCxnSpPr>
            <a:stCxn id="14" idx="2"/>
            <a:endCxn id="70" idx="0"/>
          </p:cNvCxnSpPr>
          <p:nvPr/>
        </p:nvCxnSpPr>
        <p:spPr>
          <a:xfrm>
            <a:off x="6036994" y="2209800"/>
            <a:ext cx="0" cy="886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Gerade Verbindung mit Pfeil 94">
            <a:extLst>
              <a:ext uri="{FF2B5EF4-FFF2-40B4-BE49-F238E27FC236}">
                <a16:creationId xmlns:a16="http://schemas.microsoft.com/office/drawing/2014/main" id="{CE991694-18EB-52AB-904E-B5311DECBA4B}"/>
              </a:ext>
            </a:extLst>
          </p:cNvPr>
          <p:cNvCxnSpPr>
            <a:stCxn id="15" idx="2"/>
            <a:endCxn id="71" idx="0"/>
          </p:cNvCxnSpPr>
          <p:nvPr/>
        </p:nvCxnSpPr>
        <p:spPr>
          <a:xfrm>
            <a:off x="6610380" y="2209800"/>
            <a:ext cx="0" cy="886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Gerade Verbindung mit Pfeil 96">
            <a:extLst>
              <a:ext uri="{FF2B5EF4-FFF2-40B4-BE49-F238E27FC236}">
                <a16:creationId xmlns:a16="http://schemas.microsoft.com/office/drawing/2014/main" id="{72D4C294-AB96-8298-A792-522B614E178E}"/>
              </a:ext>
            </a:extLst>
          </p:cNvPr>
          <p:cNvCxnSpPr>
            <a:stCxn id="16" idx="2"/>
            <a:endCxn id="75" idx="0"/>
          </p:cNvCxnSpPr>
          <p:nvPr/>
        </p:nvCxnSpPr>
        <p:spPr>
          <a:xfrm>
            <a:off x="7330148" y="2209800"/>
            <a:ext cx="0" cy="886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Gerade Verbindung mit Pfeil 98">
            <a:extLst>
              <a:ext uri="{FF2B5EF4-FFF2-40B4-BE49-F238E27FC236}">
                <a16:creationId xmlns:a16="http://schemas.microsoft.com/office/drawing/2014/main" id="{AA1340FD-C371-3A3F-8205-24A32079B337}"/>
              </a:ext>
            </a:extLst>
          </p:cNvPr>
          <p:cNvCxnSpPr>
            <a:stCxn id="17" idx="2"/>
            <a:endCxn id="76" idx="0"/>
          </p:cNvCxnSpPr>
          <p:nvPr/>
        </p:nvCxnSpPr>
        <p:spPr>
          <a:xfrm>
            <a:off x="7903535" y="2209800"/>
            <a:ext cx="0" cy="886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Gerade Verbindung mit Pfeil 100">
            <a:extLst>
              <a:ext uri="{FF2B5EF4-FFF2-40B4-BE49-F238E27FC236}">
                <a16:creationId xmlns:a16="http://schemas.microsoft.com/office/drawing/2014/main" id="{93701C58-603F-3A0E-E7A3-B9EB58A59FD0}"/>
              </a:ext>
            </a:extLst>
          </p:cNvPr>
          <p:cNvCxnSpPr>
            <a:stCxn id="18" idx="2"/>
            <a:endCxn id="78" idx="0"/>
          </p:cNvCxnSpPr>
          <p:nvPr/>
        </p:nvCxnSpPr>
        <p:spPr>
          <a:xfrm>
            <a:off x="8476921" y="2209800"/>
            <a:ext cx="0" cy="886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Rechteck 81">
            <a:extLst>
              <a:ext uri="{FF2B5EF4-FFF2-40B4-BE49-F238E27FC236}">
                <a16:creationId xmlns:a16="http://schemas.microsoft.com/office/drawing/2014/main" id="{CD6FBA25-7DE0-FE64-582C-D8634A7DFCD8}"/>
              </a:ext>
            </a:extLst>
          </p:cNvPr>
          <p:cNvSpPr/>
          <p:nvPr/>
        </p:nvSpPr>
        <p:spPr>
          <a:xfrm>
            <a:off x="4224878" y="2294717"/>
            <a:ext cx="3465667" cy="61412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de-DE" sz="900" dirty="0" err="1"/>
              <a:t>Exclusion</a:t>
            </a:r>
            <a:r>
              <a:rPr lang="de-DE" sz="900" dirty="0"/>
              <a:t> </a:t>
            </a:r>
            <a:r>
              <a:rPr lang="de-DE" sz="900" dirty="0" err="1"/>
              <a:t>criteria</a:t>
            </a:r>
            <a:endParaRPr lang="de-DE" sz="900" dirty="0"/>
          </a:p>
          <a:p>
            <a:pPr marL="160734" indent="-160734">
              <a:buFontTx/>
              <a:buChar char="-"/>
            </a:pPr>
            <a:r>
              <a:rPr lang="de-DE" sz="900" dirty="0"/>
              <a:t>Parameters not relevant </a:t>
            </a:r>
            <a:r>
              <a:rPr lang="de-DE" sz="900" dirty="0" err="1"/>
              <a:t>for</a:t>
            </a:r>
            <a:r>
              <a:rPr lang="de-DE" sz="900" dirty="0"/>
              <a:t> Analysis (Ex.: „Sauerstoffpartialdruck“)</a:t>
            </a:r>
          </a:p>
          <a:p>
            <a:pPr marL="160734" indent="-160734">
              <a:buFontTx/>
              <a:buChar char="-"/>
            </a:pPr>
            <a:r>
              <a:rPr lang="de-DE" sz="900" dirty="0"/>
              <a:t>Parameters </a:t>
            </a:r>
            <a:r>
              <a:rPr lang="de-DE" sz="900" dirty="0" err="1"/>
              <a:t>with</a:t>
            </a:r>
            <a:r>
              <a:rPr lang="de-DE" sz="900" dirty="0"/>
              <a:t> </a:t>
            </a:r>
            <a:r>
              <a:rPr lang="de-DE" sz="900" dirty="0" err="1"/>
              <a:t>no</a:t>
            </a:r>
            <a:r>
              <a:rPr lang="de-DE" sz="900" dirty="0"/>
              <a:t> </a:t>
            </a:r>
            <a:r>
              <a:rPr lang="de-DE" sz="900" dirty="0" err="1"/>
              <a:t>clear</a:t>
            </a:r>
            <a:r>
              <a:rPr lang="de-DE" sz="900" dirty="0"/>
              <a:t> </a:t>
            </a:r>
            <a:r>
              <a:rPr lang="de-DE" sz="900" dirty="0" err="1"/>
              <a:t>mesurement</a:t>
            </a:r>
            <a:r>
              <a:rPr lang="de-DE" sz="900" dirty="0"/>
              <a:t> (Ex.: „erhöht“)</a:t>
            </a:r>
          </a:p>
          <a:p>
            <a:pPr marL="160734" indent="-160734">
              <a:buFontTx/>
              <a:buChar char="-"/>
            </a:pPr>
            <a:r>
              <a:rPr lang="de-DE" sz="900" dirty="0"/>
              <a:t>Parameters </a:t>
            </a:r>
            <a:r>
              <a:rPr lang="de-DE" sz="900" dirty="0" err="1"/>
              <a:t>with</a:t>
            </a:r>
            <a:r>
              <a:rPr lang="de-DE" sz="900" dirty="0"/>
              <a:t> </a:t>
            </a:r>
            <a:r>
              <a:rPr lang="de-DE" sz="900" dirty="0" err="1"/>
              <a:t>less</a:t>
            </a:r>
            <a:r>
              <a:rPr lang="de-DE" sz="900" dirty="0"/>
              <a:t> </a:t>
            </a:r>
            <a:r>
              <a:rPr lang="de-DE" sz="900" dirty="0" err="1"/>
              <a:t>than</a:t>
            </a:r>
            <a:r>
              <a:rPr lang="de-DE" sz="900" dirty="0"/>
              <a:t> 3-6 </a:t>
            </a:r>
            <a:r>
              <a:rPr lang="de-DE" sz="900" dirty="0" err="1"/>
              <a:t>Mesurements</a:t>
            </a:r>
            <a:r>
              <a:rPr lang="de-DE" sz="900" dirty="0"/>
              <a:t> </a:t>
            </a:r>
            <a:r>
              <a:rPr lang="de-DE" sz="900" dirty="0" err="1"/>
              <a:t>for</a:t>
            </a:r>
            <a:r>
              <a:rPr lang="de-DE" sz="900" dirty="0"/>
              <a:t> all </a:t>
            </a:r>
            <a:r>
              <a:rPr lang="de-DE" sz="900" dirty="0" err="1"/>
              <a:t>groups</a:t>
            </a:r>
            <a:endParaRPr lang="de-DE" sz="900" dirty="0"/>
          </a:p>
        </p:txBody>
      </p:sp>
      <p:sp>
        <p:nvSpPr>
          <p:cNvPr id="102" name="Textfeld 101">
            <a:extLst>
              <a:ext uri="{FF2B5EF4-FFF2-40B4-BE49-F238E27FC236}">
                <a16:creationId xmlns:a16="http://schemas.microsoft.com/office/drawing/2014/main" id="{8E9F350F-D971-10E2-EB75-06D6154F08B9}"/>
              </a:ext>
            </a:extLst>
          </p:cNvPr>
          <p:cNvSpPr txBox="1"/>
          <p:nvPr/>
        </p:nvSpPr>
        <p:spPr>
          <a:xfrm>
            <a:off x="2082079" y="3003045"/>
            <a:ext cx="1475010" cy="461665"/>
          </a:xfrm>
          <a:prstGeom prst="rect">
            <a:avLst/>
          </a:prstGeom>
          <a:noFill/>
        </p:spPr>
        <p:txBody>
          <a:bodyPr wrap="square" rtlCol="0">
            <a:spAutoFit/>
          </a:bodyPr>
          <a:lstStyle/>
          <a:p>
            <a:r>
              <a:rPr lang="de-DE" sz="800" dirty="0" err="1"/>
              <a:t>Number</a:t>
            </a:r>
            <a:r>
              <a:rPr lang="de-DE" sz="800" dirty="0"/>
              <a:t> </a:t>
            </a:r>
            <a:r>
              <a:rPr lang="de-DE" sz="800" dirty="0" err="1"/>
              <a:t>of</a:t>
            </a:r>
            <a:r>
              <a:rPr lang="de-DE" sz="800" dirty="0"/>
              <a:t> </a:t>
            </a:r>
            <a:r>
              <a:rPr lang="de-DE" sz="800" dirty="0" err="1"/>
              <a:t>measurements</a:t>
            </a:r>
            <a:r>
              <a:rPr lang="de-DE" sz="800" dirty="0"/>
              <a:t> </a:t>
            </a:r>
          </a:p>
          <a:p>
            <a:r>
              <a:rPr lang="de-DE" sz="800" dirty="0"/>
              <a:t>per </a:t>
            </a:r>
            <a:r>
              <a:rPr lang="de-DE" sz="800" dirty="0" err="1"/>
              <a:t>parameter</a:t>
            </a:r>
            <a:r>
              <a:rPr lang="de-DE" sz="800" dirty="0"/>
              <a:t>: „</a:t>
            </a:r>
            <a:r>
              <a:rPr lang="de-DE" sz="800" dirty="0" err="1"/>
              <a:t>count</a:t>
            </a:r>
            <a:r>
              <a:rPr lang="de-DE" sz="800" dirty="0"/>
              <a:t> </a:t>
            </a:r>
          </a:p>
          <a:p>
            <a:r>
              <a:rPr lang="de-DE" sz="800" dirty="0"/>
              <a:t>labvalues.xlsx“</a:t>
            </a:r>
          </a:p>
        </p:txBody>
      </p:sp>
      <p:cxnSp>
        <p:nvCxnSpPr>
          <p:cNvPr id="169" name="Gerader Verbinder 168">
            <a:extLst>
              <a:ext uri="{FF2B5EF4-FFF2-40B4-BE49-F238E27FC236}">
                <a16:creationId xmlns:a16="http://schemas.microsoft.com/office/drawing/2014/main" id="{C023E69D-0B40-1937-4B33-D6A46C24B540}"/>
              </a:ext>
            </a:extLst>
          </p:cNvPr>
          <p:cNvCxnSpPr>
            <a:stCxn id="60" idx="2"/>
          </p:cNvCxnSpPr>
          <p:nvPr/>
        </p:nvCxnSpPr>
        <p:spPr>
          <a:xfrm flipH="1">
            <a:off x="3597066" y="3360885"/>
            <a:ext cx="1" cy="103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1" name="Gerader Verbinder 170">
            <a:extLst>
              <a:ext uri="{FF2B5EF4-FFF2-40B4-BE49-F238E27FC236}">
                <a16:creationId xmlns:a16="http://schemas.microsoft.com/office/drawing/2014/main" id="{622D5609-AEB3-A540-5098-A27C1F3E5EC3}"/>
              </a:ext>
            </a:extLst>
          </p:cNvPr>
          <p:cNvCxnSpPr>
            <a:cxnSpLocks/>
          </p:cNvCxnSpPr>
          <p:nvPr/>
        </p:nvCxnSpPr>
        <p:spPr>
          <a:xfrm>
            <a:off x="3597066" y="3464709"/>
            <a:ext cx="48737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Gerader Verbinder 172">
            <a:extLst>
              <a:ext uri="{FF2B5EF4-FFF2-40B4-BE49-F238E27FC236}">
                <a16:creationId xmlns:a16="http://schemas.microsoft.com/office/drawing/2014/main" id="{6A791CA7-6FC4-0ACB-0639-B9D7D2F400D2}"/>
              </a:ext>
            </a:extLst>
          </p:cNvPr>
          <p:cNvCxnSpPr>
            <a:stCxn id="62" idx="2"/>
          </p:cNvCxnSpPr>
          <p:nvPr/>
        </p:nvCxnSpPr>
        <p:spPr>
          <a:xfrm>
            <a:off x="4164742" y="3360885"/>
            <a:ext cx="0" cy="103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Gerader Verbinder 174">
            <a:extLst>
              <a:ext uri="{FF2B5EF4-FFF2-40B4-BE49-F238E27FC236}">
                <a16:creationId xmlns:a16="http://schemas.microsoft.com/office/drawing/2014/main" id="{985B8459-7D55-8475-C454-B4127C1A4617}"/>
              </a:ext>
            </a:extLst>
          </p:cNvPr>
          <p:cNvCxnSpPr>
            <a:stCxn id="64" idx="2"/>
          </p:cNvCxnSpPr>
          <p:nvPr/>
        </p:nvCxnSpPr>
        <p:spPr>
          <a:xfrm flipH="1">
            <a:off x="4743839" y="3364201"/>
            <a:ext cx="1" cy="1005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Gerader Verbinder 176">
            <a:extLst>
              <a:ext uri="{FF2B5EF4-FFF2-40B4-BE49-F238E27FC236}">
                <a16:creationId xmlns:a16="http://schemas.microsoft.com/office/drawing/2014/main" id="{491C2B99-83C7-54CC-4F20-E98BB701CA9D}"/>
              </a:ext>
            </a:extLst>
          </p:cNvPr>
          <p:cNvCxnSpPr>
            <a:stCxn id="68" idx="2"/>
          </p:cNvCxnSpPr>
          <p:nvPr/>
        </p:nvCxnSpPr>
        <p:spPr>
          <a:xfrm flipH="1">
            <a:off x="5463605" y="3360885"/>
            <a:ext cx="2" cy="103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Gerader Verbinder 180">
            <a:extLst>
              <a:ext uri="{FF2B5EF4-FFF2-40B4-BE49-F238E27FC236}">
                <a16:creationId xmlns:a16="http://schemas.microsoft.com/office/drawing/2014/main" id="{688269CD-6CE7-1983-EFA8-4C65C84E4D1F}"/>
              </a:ext>
            </a:extLst>
          </p:cNvPr>
          <p:cNvCxnSpPr>
            <a:stCxn id="71" idx="2"/>
          </p:cNvCxnSpPr>
          <p:nvPr/>
        </p:nvCxnSpPr>
        <p:spPr>
          <a:xfrm flipH="1">
            <a:off x="6610380" y="3360885"/>
            <a:ext cx="1" cy="103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Gerader Verbinder 182">
            <a:extLst>
              <a:ext uri="{FF2B5EF4-FFF2-40B4-BE49-F238E27FC236}">
                <a16:creationId xmlns:a16="http://schemas.microsoft.com/office/drawing/2014/main" id="{9F65D52A-A86A-0BA9-6FF7-0E97B21AAACE}"/>
              </a:ext>
            </a:extLst>
          </p:cNvPr>
          <p:cNvCxnSpPr>
            <a:stCxn id="70" idx="2"/>
          </p:cNvCxnSpPr>
          <p:nvPr/>
        </p:nvCxnSpPr>
        <p:spPr>
          <a:xfrm flipH="1">
            <a:off x="6036994" y="3360885"/>
            <a:ext cx="1" cy="103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5" name="Gerader Verbinder 184">
            <a:extLst>
              <a:ext uri="{FF2B5EF4-FFF2-40B4-BE49-F238E27FC236}">
                <a16:creationId xmlns:a16="http://schemas.microsoft.com/office/drawing/2014/main" id="{740033BB-5567-6F79-2412-EB508DF5AC58}"/>
              </a:ext>
            </a:extLst>
          </p:cNvPr>
          <p:cNvCxnSpPr>
            <a:stCxn id="75" idx="2"/>
          </p:cNvCxnSpPr>
          <p:nvPr/>
        </p:nvCxnSpPr>
        <p:spPr>
          <a:xfrm flipH="1">
            <a:off x="7330148" y="3360885"/>
            <a:ext cx="1" cy="103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7" name="Gerader Verbinder 186">
            <a:extLst>
              <a:ext uri="{FF2B5EF4-FFF2-40B4-BE49-F238E27FC236}">
                <a16:creationId xmlns:a16="http://schemas.microsoft.com/office/drawing/2014/main" id="{68D448B8-3743-E9DC-D880-18A84DE2813A}"/>
              </a:ext>
            </a:extLst>
          </p:cNvPr>
          <p:cNvCxnSpPr>
            <a:stCxn id="76" idx="2"/>
          </p:cNvCxnSpPr>
          <p:nvPr/>
        </p:nvCxnSpPr>
        <p:spPr>
          <a:xfrm flipH="1">
            <a:off x="7903535" y="3360885"/>
            <a:ext cx="1" cy="103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1" name="Gerader Verbinder 190">
            <a:extLst>
              <a:ext uri="{FF2B5EF4-FFF2-40B4-BE49-F238E27FC236}">
                <a16:creationId xmlns:a16="http://schemas.microsoft.com/office/drawing/2014/main" id="{075EBB45-AB83-2060-D434-E0E926F384ED}"/>
              </a:ext>
            </a:extLst>
          </p:cNvPr>
          <p:cNvCxnSpPr>
            <a:cxnSpLocks/>
            <a:stCxn id="78" idx="2"/>
          </p:cNvCxnSpPr>
          <p:nvPr/>
        </p:nvCxnSpPr>
        <p:spPr>
          <a:xfrm>
            <a:off x="8476921" y="3360885"/>
            <a:ext cx="0" cy="103824"/>
          </a:xfrm>
          <a:prstGeom prst="line">
            <a:avLst/>
          </a:prstGeom>
        </p:spPr>
        <p:style>
          <a:lnRef idx="1">
            <a:schemeClr val="accent1"/>
          </a:lnRef>
          <a:fillRef idx="0">
            <a:schemeClr val="accent1"/>
          </a:fillRef>
          <a:effectRef idx="0">
            <a:schemeClr val="accent1"/>
          </a:effectRef>
          <a:fontRef idx="minor">
            <a:schemeClr val="tx1"/>
          </a:fontRef>
        </p:style>
      </p:cxnSp>
      <p:sp>
        <p:nvSpPr>
          <p:cNvPr id="194" name="Rechteck 193">
            <a:extLst>
              <a:ext uri="{FF2B5EF4-FFF2-40B4-BE49-F238E27FC236}">
                <a16:creationId xmlns:a16="http://schemas.microsoft.com/office/drawing/2014/main" id="{0DFB80F7-FEAA-AC9E-DD93-7A4FA3E94B3C}"/>
              </a:ext>
            </a:extLst>
          </p:cNvPr>
          <p:cNvSpPr/>
          <p:nvPr/>
        </p:nvSpPr>
        <p:spPr>
          <a:xfrm>
            <a:off x="6356052" y="4765359"/>
            <a:ext cx="2114742" cy="25346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Data: „</a:t>
            </a:r>
            <a:r>
              <a:rPr lang="en-US" sz="675" dirty="0"/>
              <a:t>count cases with </a:t>
            </a:r>
            <a:r>
              <a:rPr lang="en-US" sz="675" dirty="0" err="1"/>
              <a:t>labvalues</a:t>
            </a:r>
            <a:r>
              <a:rPr lang="en-US" sz="675" dirty="0"/>
              <a:t> in time course.xlsx”</a:t>
            </a:r>
            <a:endParaRPr lang="de-DE" sz="675" dirty="0"/>
          </a:p>
        </p:txBody>
      </p:sp>
      <p:sp>
        <p:nvSpPr>
          <p:cNvPr id="195" name="Rechteck 194">
            <a:extLst>
              <a:ext uri="{FF2B5EF4-FFF2-40B4-BE49-F238E27FC236}">
                <a16:creationId xmlns:a16="http://schemas.microsoft.com/office/drawing/2014/main" id="{AEEC53F4-9AE8-4FFB-ABA5-E369362558F9}"/>
              </a:ext>
            </a:extLst>
          </p:cNvPr>
          <p:cNvSpPr/>
          <p:nvPr/>
        </p:nvSpPr>
        <p:spPr>
          <a:xfrm>
            <a:off x="3597065" y="4761291"/>
            <a:ext cx="2114742" cy="25346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Data: „</a:t>
            </a:r>
            <a:r>
              <a:rPr lang="en-US" sz="675" dirty="0"/>
              <a:t>count cases with </a:t>
            </a:r>
            <a:r>
              <a:rPr lang="en-US" sz="675" dirty="0" err="1"/>
              <a:t>labvalues</a:t>
            </a:r>
            <a:r>
              <a:rPr lang="en-US" sz="675" dirty="0"/>
              <a:t> in time course.xlsx”</a:t>
            </a:r>
            <a:endParaRPr lang="de-DE" sz="675" dirty="0"/>
          </a:p>
        </p:txBody>
      </p:sp>
      <p:cxnSp>
        <p:nvCxnSpPr>
          <p:cNvPr id="197" name="Gerade Verbindung mit Pfeil 196">
            <a:extLst>
              <a:ext uri="{FF2B5EF4-FFF2-40B4-BE49-F238E27FC236}">
                <a16:creationId xmlns:a16="http://schemas.microsoft.com/office/drawing/2014/main" id="{D0EE61ED-FB02-B674-3342-554861A78440}"/>
              </a:ext>
            </a:extLst>
          </p:cNvPr>
          <p:cNvCxnSpPr>
            <a:endCxn id="195" idx="0"/>
          </p:cNvCxnSpPr>
          <p:nvPr/>
        </p:nvCxnSpPr>
        <p:spPr>
          <a:xfrm>
            <a:off x="4654436" y="3470774"/>
            <a:ext cx="0" cy="1290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0" name="Gerade Verbindung mit Pfeil 199">
            <a:extLst>
              <a:ext uri="{FF2B5EF4-FFF2-40B4-BE49-F238E27FC236}">
                <a16:creationId xmlns:a16="http://schemas.microsoft.com/office/drawing/2014/main" id="{6D8027EE-C587-12DE-6BC2-BA3BB00E027B}"/>
              </a:ext>
            </a:extLst>
          </p:cNvPr>
          <p:cNvCxnSpPr>
            <a:endCxn id="194" idx="0"/>
          </p:cNvCxnSpPr>
          <p:nvPr/>
        </p:nvCxnSpPr>
        <p:spPr>
          <a:xfrm>
            <a:off x="7413423" y="3464710"/>
            <a:ext cx="0" cy="13006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1" name="Rechteck 200">
            <a:extLst>
              <a:ext uri="{FF2B5EF4-FFF2-40B4-BE49-F238E27FC236}">
                <a16:creationId xmlns:a16="http://schemas.microsoft.com/office/drawing/2014/main" id="{C910F821-6803-265F-DD44-3D221A0BD802}"/>
              </a:ext>
            </a:extLst>
          </p:cNvPr>
          <p:cNvSpPr/>
          <p:nvPr/>
        </p:nvSpPr>
        <p:spPr>
          <a:xfrm>
            <a:off x="4684937" y="3937401"/>
            <a:ext cx="1083425" cy="35526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de-DE" sz="900" dirty="0"/>
              <a:t>3 ≤ </a:t>
            </a:r>
            <a:r>
              <a:rPr lang="de-DE" sz="900" dirty="0" err="1"/>
              <a:t>measurements</a:t>
            </a:r>
            <a:r>
              <a:rPr lang="de-DE" sz="900" dirty="0"/>
              <a:t> per </a:t>
            </a:r>
            <a:r>
              <a:rPr lang="de-DE" sz="900" dirty="0" err="1"/>
              <a:t>timepoint</a:t>
            </a:r>
            <a:endParaRPr lang="de-DE" sz="900" dirty="0"/>
          </a:p>
        </p:txBody>
      </p:sp>
      <p:sp>
        <p:nvSpPr>
          <p:cNvPr id="202" name="Rechteck 201">
            <a:extLst>
              <a:ext uri="{FF2B5EF4-FFF2-40B4-BE49-F238E27FC236}">
                <a16:creationId xmlns:a16="http://schemas.microsoft.com/office/drawing/2014/main" id="{8848E04A-19AB-8A22-D2BB-2D789C288B62}"/>
              </a:ext>
            </a:extLst>
          </p:cNvPr>
          <p:cNvSpPr/>
          <p:nvPr/>
        </p:nvSpPr>
        <p:spPr>
          <a:xfrm>
            <a:off x="7469978" y="3889629"/>
            <a:ext cx="1318565" cy="46202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de-DE" sz="900" dirty="0"/>
              <a:t>3 ≤ </a:t>
            </a:r>
            <a:r>
              <a:rPr lang="de-DE" sz="900" dirty="0" err="1"/>
              <a:t>measurements</a:t>
            </a:r>
            <a:r>
              <a:rPr lang="de-DE" sz="900" dirty="0"/>
              <a:t> </a:t>
            </a:r>
            <a:r>
              <a:rPr lang="de-DE" sz="900" dirty="0" err="1"/>
              <a:t>for</a:t>
            </a:r>
            <a:r>
              <a:rPr lang="de-DE" sz="900" dirty="0"/>
              <a:t> </a:t>
            </a:r>
            <a:r>
              <a:rPr lang="de-DE" sz="900" dirty="0" err="1"/>
              <a:t>one</a:t>
            </a:r>
            <a:r>
              <a:rPr lang="de-DE" sz="900" dirty="0"/>
              <a:t> </a:t>
            </a:r>
            <a:r>
              <a:rPr lang="de-DE" sz="900" dirty="0" err="1"/>
              <a:t>patient</a:t>
            </a:r>
            <a:r>
              <a:rPr lang="de-DE" sz="900" dirty="0"/>
              <a:t> at different </a:t>
            </a:r>
            <a:r>
              <a:rPr lang="de-DE" sz="900" dirty="0" err="1"/>
              <a:t>timepoints</a:t>
            </a:r>
            <a:endParaRPr lang="de-DE" sz="900" dirty="0"/>
          </a:p>
        </p:txBody>
      </p:sp>
    </p:spTree>
    <p:extLst>
      <p:ext uri="{BB962C8B-B14F-4D97-AF65-F5344CB8AC3E}">
        <p14:creationId xmlns:p14="http://schemas.microsoft.com/office/powerpoint/2010/main" val="3718483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F70D8B1-F0F1-1715-0B17-E73C3D5123D5}"/>
              </a:ext>
            </a:extLst>
          </p:cNvPr>
          <p:cNvSpPr/>
          <p:nvPr/>
        </p:nvSpPr>
        <p:spPr>
          <a:xfrm>
            <a:off x="3328357" y="2582444"/>
            <a:ext cx="2594600"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a:t>Cases </a:t>
            </a:r>
            <a:r>
              <a:rPr lang="de-DE" sz="1013" dirty="0" err="1"/>
              <a:t>without</a:t>
            </a:r>
            <a:r>
              <a:rPr lang="de-DE" sz="1013" dirty="0"/>
              <a:t> </a:t>
            </a:r>
            <a:r>
              <a:rPr lang="de-DE" sz="1013" dirty="0" err="1"/>
              <a:t>timecourse</a:t>
            </a:r>
            <a:endParaRPr lang="de-DE" sz="1013" dirty="0"/>
          </a:p>
          <a:p>
            <a:pPr algn="ctr"/>
            <a:r>
              <a:rPr lang="de-DE" sz="1013" dirty="0"/>
              <a:t>N=55</a:t>
            </a:r>
          </a:p>
        </p:txBody>
      </p:sp>
      <p:sp>
        <p:nvSpPr>
          <p:cNvPr id="6" name="Rechteck 5">
            <a:extLst>
              <a:ext uri="{FF2B5EF4-FFF2-40B4-BE49-F238E27FC236}">
                <a16:creationId xmlns:a16="http://schemas.microsoft.com/office/drawing/2014/main" id="{AE9A5219-B54F-F3AB-7195-0CD058FC762F}"/>
              </a:ext>
            </a:extLst>
          </p:cNvPr>
          <p:cNvSpPr/>
          <p:nvPr/>
        </p:nvSpPr>
        <p:spPr>
          <a:xfrm>
            <a:off x="6087525" y="2588508"/>
            <a:ext cx="2594602"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a:t>Cases </a:t>
            </a:r>
            <a:r>
              <a:rPr lang="de-DE" sz="1013" dirty="0" err="1"/>
              <a:t>with</a:t>
            </a:r>
            <a:r>
              <a:rPr lang="de-DE" sz="1013" dirty="0"/>
              <a:t> </a:t>
            </a:r>
            <a:r>
              <a:rPr lang="de-DE" sz="1013" dirty="0" err="1"/>
              <a:t>timecourse</a:t>
            </a:r>
            <a:endParaRPr lang="de-DE" sz="1013" dirty="0"/>
          </a:p>
          <a:p>
            <a:pPr algn="ctr"/>
            <a:r>
              <a:rPr lang="de-DE" sz="1013" dirty="0"/>
              <a:t>N=18</a:t>
            </a:r>
          </a:p>
        </p:txBody>
      </p:sp>
      <p:sp>
        <p:nvSpPr>
          <p:cNvPr id="25" name="Textfeld 24">
            <a:extLst>
              <a:ext uri="{FF2B5EF4-FFF2-40B4-BE49-F238E27FC236}">
                <a16:creationId xmlns:a16="http://schemas.microsoft.com/office/drawing/2014/main" id="{42F9E952-EDFA-10F6-A81F-CCABC5C763FF}"/>
              </a:ext>
            </a:extLst>
          </p:cNvPr>
          <p:cNvSpPr txBox="1"/>
          <p:nvPr/>
        </p:nvSpPr>
        <p:spPr>
          <a:xfrm>
            <a:off x="2148593" y="2571469"/>
            <a:ext cx="773795" cy="338554"/>
          </a:xfrm>
          <a:prstGeom prst="rect">
            <a:avLst/>
          </a:prstGeom>
          <a:noFill/>
        </p:spPr>
        <p:txBody>
          <a:bodyPr wrap="square" rtlCol="0">
            <a:spAutoFit/>
          </a:bodyPr>
          <a:lstStyle/>
          <a:p>
            <a:r>
              <a:rPr lang="de-DE" sz="800" dirty="0" err="1"/>
              <a:t>Number</a:t>
            </a:r>
            <a:r>
              <a:rPr lang="de-DE" sz="800" dirty="0"/>
              <a:t> </a:t>
            </a:r>
            <a:r>
              <a:rPr lang="de-DE" sz="800" dirty="0" err="1"/>
              <a:t>of</a:t>
            </a:r>
            <a:endParaRPr lang="de-DE" sz="800" dirty="0"/>
          </a:p>
          <a:p>
            <a:r>
              <a:rPr lang="de-DE" sz="800" dirty="0"/>
              <a:t> </a:t>
            </a:r>
            <a:r>
              <a:rPr lang="de-DE" sz="800" dirty="0" err="1"/>
              <a:t>Patients</a:t>
            </a:r>
            <a:r>
              <a:rPr lang="de-DE" sz="800" dirty="0"/>
              <a:t> (N)</a:t>
            </a:r>
          </a:p>
        </p:txBody>
      </p:sp>
      <p:cxnSp>
        <p:nvCxnSpPr>
          <p:cNvPr id="29" name="Gerader Verbinder 28">
            <a:extLst>
              <a:ext uri="{FF2B5EF4-FFF2-40B4-BE49-F238E27FC236}">
                <a16:creationId xmlns:a16="http://schemas.microsoft.com/office/drawing/2014/main" id="{9EFAA7A8-3876-1D40-CE3E-86BAA6BC729C}"/>
              </a:ext>
            </a:extLst>
          </p:cNvPr>
          <p:cNvCxnSpPr>
            <a:cxnSpLocks/>
          </p:cNvCxnSpPr>
          <p:nvPr/>
        </p:nvCxnSpPr>
        <p:spPr>
          <a:xfrm>
            <a:off x="4141317" y="1813436"/>
            <a:ext cx="373046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Gerade Verbindung mit Pfeil 30">
            <a:extLst>
              <a:ext uri="{FF2B5EF4-FFF2-40B4-BE49-F238E27FC236}">
                <a16:creationId xmlns:a16="http://schemas.microsoft.com/office/drawing/2014/main" id="{B441DD37-2463-D770-DE5E-2D5392C5D635}"/>
              </a:ext>
            </a:extLst>
          </p:cNvPr>
          <p:cNvCxnSpPr>
            <a:cxnSpLocks/>
          </p:cNvCxnSpPr>
          <p:nvPr/>
        </p:nvCxnSpPr>
        <p:spPr>
          <a:xfrm>
            <a:off x="4141316" y="1813437"/>
            <a:ext cx="0" cy="769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Gerade Verbindung mit Pfeil 31">
            <a:extLst>
              <a:ext uri="{FF2B5EF4-FFF2-40B4-BE49-F238E27FC236}">
                <a16:creationId xmlns:a16="http://schemas.microsoft.com/office/drawing/2014/main" id="{8C8D0F93-2F17-6046-E9CE-0BCB2711A035}"/>
              </a:ext>
            </a:extLst>
          </p:cNvPr>
          <p:cNvCxnSpPr>
            <a:cxnSpLocks/>
          </p:cNvCxnSpPr>
          <p:nvPr/>
        </p:nvCxnSpPr>
        <p:spPr>
          <a:xfrm>
            <a:off x="7871783" y="1813437"/>
            <a:ext cx="0" cy="7750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hteck 32">
            <a:extLst>
              <a:ext uri="{FF2B5EF4-FFF2-40B4-BE49-F238E27FC236}">
                <a16:creationId xmlns:a16="http://schemas.microsoft.com/office/drawing/2014/main" id="{A6FD90DE-4AA3-2451-B63B-674F23981632}"/>
              </a:ext>
            </a:extLst>
          </p:cNvPr>
          <p:cNvSpPr/>
          <p:nvPr/>
        </p:nvSpPr>
        <p:spPr>
          <a:xfrm>
            <a:off x="3328355" y="1066226"/>
            <a:ext cx="5353770" cy="5143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50" b="1" dirty="0"/>
              <a:t>Control </a:t>
            </a:r>
            <a:r>
              <a:rPr lang="de-DE" sz="1050" b="1" dirty="0" err="1"/>
              <a:t>group</a:t>
            </a:r>
            <a:r>
              <a:rPr lang="de-DE" sz="1050" b="1" dirty="0"/>
              <a:t>: </a:t>
            </a:r>
            <a:r>
              <a:rPr lang="de-DE" sz="1050" dirty="0"/>
              <a:t>Data </a:t>
            </a:r>
            <a:r>
              <a:rPr lang="de-DE" sz="1050" dirty="0" err="1"/>
              <a:t>without</a:t>
            </a:r>
            <a:r>
              <a:rPr lang="de-DE" sz="1050" dirty="0"/>
              <a:t> </a:t>
            </a:r>
            <a:r>
              <a:rPr lang="de-DE" sz="1050" dirty="0" err="1"/>
              <a:t>starting</a:t>
            </a:r>
            <a:r>
              <a:rPr lang="de-DE" sz="1050" dirty="0"/>
              <a:t>-date </a:t>
            </a:r>
            <a:r>
              <a:rPr lang="de-DE" sz="1050" dirty="0" err="1"/>
              <a:t>for</a:t>
            </a:r>
            <a:r>
              <a:rPr lang="de-DE" sz="1050" dirty="0"/>
              <a:t> </a:t>
            </a:r>
            <a:r>
              <a:rPr lang="de-DE" sz="1050" dirty="0" err="1"/>
              <a:t>drug</a:t>
            </a:r>
            <a:r>
              <a:rPr lang="de-DE" sz="1050" dirty="0"/>
              <a:t> </a:t>
            </a:r>
            <a:r>
              <a:rPr lang="de-DE" sz="1050" dirty="0" err="1"/>
              <a:t>related</a:t>
            </a:r>
            <a:r>
              <a:rPr lang="de-DE" sz="1050" dirty="0"/>
              <a:t> </a:t>
            </a:r>
            <a:r>
              <a:rPr lang="de-DE" sz="1050" dirty="0" err="1"/>
              <a:t>symptomes</a:t>
            </a:r>
            <a:endParaRPr lang="de-DE" sz="1050" dirty="0"/>
          </a:p>
          <a:p>
            <a:pPr algn="ctr"/>
            <a:r>
              <a:rPr lang="de-DE" sz="1013" dirty="0"/>
              <a:t>N=73</a:t>
            </a:r>
          </a:p>
        </p:txBody>
      </p:sp>
      <p:sp>
        <p:nvSpPr>
          <p:cNvPr id="34" name="Textfeld 33">
            <a:extLst>
              <a:ext uri="{FF2B5EF4-FFF2-40B4-BE49-F238E27FC236}">
                <a16:creationId xmlns:a16="http://schemas.microsoft.com/office/drawing/2014/main" id="{0A981130-B612-BBC4-C4DB-22C8B446DF4F}"/>
              </a:ext>
            </a:extLst>
          </p:cNvPr>
          <p:cNvSpPr txBox="1"/>
          <p:nvPr/>
        </p:nvSpPr>
        <p:spPr>
          <a:xfrm>
            <a:off x="2148590" y="1154124"/>
            <a:ext cx="773795" cy="338554"/>
          </a:xfrm>
          <a:prstGeom prst="rect">
            <a:avLst/>
          </a:prstGeom>
          <a:noFill/>
        </p:spPr>
        <p:txBody>
          <a:bodyPr wrap="square" rtlCol="0">
            <a:spAutoFit/>
          </a:bodyPr>
          <a:lstStyle/>
          <a:p>
            <a:r>
              <a:rPr lang="de-DE" sz="800" dirty="0" err="1"/>
              <a:t>Number</a:t>
            </a:r>
            <a:r>
              <a:rPr lang="de-DE" sz="800" dirty="0"/>
              <a:t> </a:t>
            </a:r>
            <a:r>
              <a:rPr lang="de-DE" sz="800" dirty="0" err="1"/>
              <a:t>of</a:t>
            </a:r>
            <a:endParaRPr lang="de-DE" sz="800" dirty="0"/>
          </a:p>
          <a:p>
            <a:r>
              <a:rPr lang="de-DE" sz="800" dirty="0"/>
              <a:t> </a:t>
            </a:r>
            <a:r>
              <a:rPr lang="de-DE" sz="800" dirty="0" err="1"/>
              <a:t>Patients</a:t>
            </a:r>
            <a:r>
              <a:rPr lang="de-DE" sz="800" dirty="0"/>
              <a:t> (N)</a:t>
            </a:r>
          </a:p>
        </p:txBody>
      </p:sp>
      <p:cxnSp>
        <p:nvCxnSpPr>
          <p:cNvPr id="38" name="Gerader Verbinder 37">
            <a:extLst>
              <a:ext uri="{FF2B5EF4-FFF2-40B4-BE49-F238E27FC236}">
                <a16:creationId xmlns:a16="http://schemas.microsoft.com/office/drawing/2014/main" id="{E6BAB228-FD88-E934-DA6E-1A0675122694}"/>
              </a:ext>
            </a:extLst>
          </p:cNvPr>
          <p:cNvCxnSpPr>
            <a:cxnSpLocks/>
            <a:stCxn id="33" idx="2"/>
          </p:cNvCxnSpPr>
          <p:nvPr/>
        </p:nvCxnSpPr>
        <p:spPr>
          <a:xfrm>
            <a:off x="6005240" y="1580576"/>
            <a:ext cx="0" cy="232860"/>
          </a:xfrm>
          <a:prstGeom prst="line">
            <a:avLst/>
          </a:prstGeom>
        </p:spPr>
        <p:style>
          <a:lnRef idx="1">
            <a:schemeClr val="accent1"/>
          </a:lnRef>
          <a:fillRef idx="0">
            <a:schemeClr val="accent1"/>
          </a:fillRef>
          <a:effectRef idx="0">
            <a:schemeClr val="accent1"/>
          </a:effectRef>
          <a:fontRef idx="minor">
            <a:schemeClr val="tx1"/>
          </a:fontRef>
        </p:style>
      </p:cxnSp>
      <p:sp>
        <p:nvSpPr>
          <p:cNvPr id="62" name="Rechteck 61">
            <a:extLst>
              <a:ext uri="{FF2B5EF4-FFF2-40B4-BE49-F238E27FC236}">
                <a16:creationId xmlns:a16="http://schemas.microsoft.com/office/drawing/2014/main" id="{028EB086-C000-36E7-3BCC-EFEBD1E7745C}"/>
              </a:ext>
            </a:extLst>
          </p:cNvPr>
          <p:cNvSpPr/>
          <p:nvPr/>
        </p:nvSpPr>
        <p:spPr>
          <a:xfrm>
            <a:off x="3328355" y="3232691"/>
            <a:ext cx="802540"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900" dirty="0" err="1"/>
              <a:t>Diclofenac</a:t>
            </a:r>
            <a:endParaRPr lang="de-DE" sz="900" dirty="0"/>
          </a:p>
          <a:p>
            <a:pPr algn="ctr"/>
            <a:r>
              <a:rPr lang="de-DE" sz="900" dirty="0"/>
              <a:t>N=28</a:t>
            </a:r>
          </a:p>
        </p:txBody>
      </p:sp>
      <p:sp>
        <p:nvSpPr>
          <p:cNvPr id="63" name="Rechteck 62">
            <a:extLst>
              <a:ext uri="{FF2B5EF4-FFF2-40B4-BE49-F238E27FC236}">
                <a16:creationId xmlns:a16="http://schemas.microsoft.com/office/drawing/2014/main" id="{34151DE2-FDF1-5F12-6A1A-1A3EFE3A8CC1}"/>
              </a:ext>
            </a:extLst>
          </p:cNvPr>
          <p:cNvSpPr/>
          <p:nvPr/>
        </p:nvSpPr>
        <p:spPr>
          <a:xfrm>
            <a:off x="4224390" y="3231032"/>
            <a:ext cx="80253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900" dirty="0"/>
              <a:t>Ibuprofen</a:t>
            </a:r>
          </a:p>
          <a:p>
            <a:pPr algn="ctr"/>
            <a:r>
              <a:rPr lang="de-DE" sz="900" dirty="0"/>
              <a:t>N=11</a:t>
            </a:r>
          </a:p>
        </p:txBody>
      </p:sp>
      <p:sp>
        <p:nvSpPr>
          <p:cNvPr id="64" name="Rechteck 63">
            <a:extLst>
              <a:ext uri="{FF2B5EF4-FFF2-40B4-BE49-F238E27FC236}">
                <a16:creationId xmlns:a16="http://schemas.microsoft.com/office/drawing/2014/main" id="{6043D7F7-699B-11D3-7C0A-0675E4C8B34C}"/>
              </a:ext>
            </a:extLst>
          </p:cNvPr>
          <p:cNvSpPr/>
          <p:nvPr/>
        </p:nvSpPr>
        <p:spPr>
          <a:xfrm>
            <a:off x="5120423" y="3231032"/>
            <a:ext cx="80253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900" dirty="0"/>
              <a:t>Paracetamol</a:t>
            </a:r>
          </a:p>
          <a:p>
            <a:pPr algn="ctr"/>
            <a:r>
              <a:rPr lang="de-DE" sz="900" dirty="0"/>
              <a:t>N=16</a:t>
            </a:r>
          </a:p>
        </p:txBody>
      </p:sp>
      <p:sp>
        <p:nvSpPr>
          <p:cNvPr id="67" name="Rechteck 66">
            <a:extLst>
              <a:ext uri="{FF2B5EF4-FFF2-40B4-BE49-F238E27FC236}">
                <a16:creationId xmlns:a16="http://schemas.microsoft.com/office/drawing/2014/main" id="{100D0E88-655D-22F5-5BB3-AA3C2FB86A0A}"/>
              </a:ext>
            </a:extLst>
          </p:cNvPr>
          <p:cNvSpPr/>
          <p:nvPr/>
        </p:nvSpPr>
        <p:spPr>
          <a:xfrm>
            <a:off x="3654783" y="4073955"/>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00" dirty="0" err="1"/>
              <a:t>hepatotoxicity</a:t>
            </a:r>
            <a:endParaRPr lang="de-DE" sz="600" dirty="0"/>
          </a:p>
          <a:p>
            <a:pPr algn="ctr"/>
            <a:r>
              <a:rPr lang="de-DE" sz="600" dirty="0"/>
              <a:t>N=28</a:t>
            </a:r>
          </a:p>
        </p:txBody>
      </p:sp>
      <p:sp>
        <p:nvSpPr>
          <p:cNvPr id="83" name="Textfeld 82">
            <a:extLst>
              <a:ext uri="{FF2B5EF4-FFF2-40B4-BE49-F238E27FC236}">
                <a16:creationId xmlns:a16="http://schemas.microsoft.com/office/drawing/2014/main" id="{CCAD00A1-173E-E2F4-19E8-70B3AAEAA064}"/>
              </a:ext>
            </a:extLst>
          </p:cNvPr>
          <p:cNvSpPr txBox="1"/>
          <p:nvPr/>
        </p:nvSpPr>
        <p:spPr>
          <a:xfrm>
            <a:off x="2150374" y="3267726"/>
            <a:ext cx="773795" cy="338554"/>
          </a:xfrm>
          <a:prstGeom prst="rect">
            <a:avLst/>
          </a:prstGeom>
          <a:noFill/>
        </p:spPr>
        <p:txBody>
          <a:bodyPr wrap="square" rtlCol="0">
            <a:spAutoFit/>
          </a:bodyPr>
          <a:lstStyle/>
          <a:p>
            <a:r>
              <a:rPr lang="de-DE" sz="800" dirty="0" err="1"/>
              <a:t>Number</a:t>
            </a:r>
            <a:r>
              <a:rPr lang="de-DE" sz="800" dirty="0"/>
              <a:t> </a:t>
            </a:r>
            <a:r>
              <a:rPr lang="de-DE" sz="800" dirty="0" err="1"/>
              <a:t>of</a:t>
            </a:r>
            <a:endParaRPr lang="de-DE" sz="800" dirty="0"/>
          </a:p>
          <a:p>
            <a:r>
              <a:rPr lang="de-DE" sz="800" dirty="0"/>
              <a:t> </a:t>
            </a:r>
            <a:r>
              <a:rPr lang="de-DE" sz="800" dirty="0" err="1"/>
              <a:t>Patients</a:t>
            </a:r>
            <a:r>
              <a:rPr lang="de-DE" sz="800" dirty="0"/>
              <a:t> (N)</a:t>
            </a:r>
          </a:p>
        </p:txBody>
      </p:sp>
      <p:sp>
        <p:nvSpPr>
          <p:cNvPr id="84" name="Textfeld 83">
            <a:extLst>
              <a:ext uri="{FF2B5EF4-FFF2-40B4-BE49-F238E27FC236}">
                <a16:creationId xmlns:a16="http://schemas.microsoft.com/office/drawing/2014/main" id="{BEDFE431-C345-CCC5-567D-EEF82769832E}"/>
              </a:ext>
            </a:extLst>
          </p:cNvPr>
          <p:cNvSpPr txBox="1"/>
          <p:nvPr/>
        </p:nvSpPr>
        <p:spPr>
          <a:xfrm>
            <a:off x="2148590" y="3720898"/>
            <a:ext cx="785215" cy="338554"/>
          </a:xfrm>
          <a:prstGeom prst="rect">
            <a:avLst/>
          </a:prstGeom>
          <a:noFill/>
        </p:spPr>
        <p:txBody>
          <a:bodyPr wrap="square" rtlCol="0">
            <a:spAutoFit/>
          </a:bodyPr>
          <a:lstStyle/>
          <a:p>
            <a:r>
              <a:rPr lang="de-DE" sz="800" dirty="0" err="1"/>
              <a:t>Number</a:t>
            </a:r>
            <a:r>
              <a:rPr lang="de-DE" sz="800" dirty="0"/>
              <a:t> </a:t>
            </a:r>
            <a:r>
              <a:rPr lang="de-DE" sz="800" dirty="0" err="1"/>
              <a:t>of</a:t>
            </a:r>
            <a:endParaRPr lang="de-DE" sz="800" dirty="0"/>
          </a:p>
          <a:p>
            <a:r>
              <a:rPr lang="de-DE" sz="800" dirty="0"/>
              <a:t> </a:t>
            </a:r>
            <a:r>
              <a:rPr lang="de-DE" sz="800" dirty="0" err="1"/>
              <a:t>Patients</a:t>
            </a:r>
            <a:r>
              <a:rPr lang="de-DE" sz="800" dirty="0"/>
              <a:t> (N)</a:t>
            </a:r>
          </a:p>
        </p:txBody>
      </p:sp>
      <p:sp>
        <p:nvSpPr>
          <p:cNvPr id="101" name="Rechteck 100">
            <a:extLst>
              <a:ext uri="{FF2B5EF4-FFF2-40B4-BE49-F238E27FC236}">
                <a16:creationId xmlns:a16="http://schemas.microsoft.com/office/drawing/2014/main" id="{9126E0A8-E40C-D93B-1C4D-5334B7F4F811}"/>
              </a:ext>
            </a:extLst>
          </p:cNvPr>
          <p:cNvSpPr/>
          <p:nvPr/>
        </p:nvSpPr>
        <p:spPr>
          <a:xfrm>
            <a:off x="4559827" y="4073955"/>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00" dirty="0" err="1"/>
              <a:t>hepatotoxicity</a:t>
            </a:r>
            <a:endParaRPr lang="de-DE" sz="600" dirty="0"/>
          </a:p>
          <a:p>
            <a:pPr algn="ctr"/>
            <a:r>
              <a:rPr lang="de-DE" sz="600" dirty="0"/>
              <a:t>N=11</a:t>
            </a:r>
          </a:p>
        </p:txBody>
      </p:sp>
      <p:sp>
        <p:nvSpPr>
          <p:cNvPr id="104" name="Rechteck 103">
            <a:extLst>
              <a:ext uri="{FF2B5EF4-FFF2-40B4-BE49-F238E27FC236}">
                <a16:creationId xmlns:a16="http://schemas.microsoft.com/office/drawing/2014/main" id="{7E61ECAB-D57F-7CE1-DC7F-855C789068EE}"/>
              </a:ext>
            </a:extLst>
          </p:cNvPr>
          <p:cNvSpPr/>
          <p:nvPr/>
        </p:nvSpPr>
        <p:spPr>
          <a:xfrm>
            <a:off x="5428558" y="4073955"/>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00" dirty="0" err="1"/>
              <a:t>hepatotoxicity</a:t>
            </a:r>
            <a:endParaRPr lang="de-DE" sz="600" dirty="0"/>
          </a:p>
          <a:p>
            <a:pPr algn="ctr"/>
            <a:r>
              <a:rPr lang="de-DE" sz="600" dirty="0"/>
              <a:t>N=16</a:t>
            </a:r>
          </a:p>
        </p:txBody>
      </p:sp>
      <p:cxnSp>
        <p:nvCxnSpPr>
          <p:cNvPr id="106" name="Gerade Verbindung mit Pfeil 105">
            <a:extLst>
              <a:ext uri="{FF2B5EF4-FFF2-40B4-BE49-F238E27FC236}">
                <a16:creationId xmlns:a16="http://schemas.microsoft.com/office/drawing/2014/main" id="{442770E4-8197-C842-383E-CAA82E63DCD2}"/>
              </a:ext>
            </a:extLst>
          </p:cNvPr>
          <p:cNvCxnSpPr>
            <a:cxnSpLocks/>
          </p:cNvCxnSpPr>
          <p:nvPr/>
        </p:nvCxnSpPr>
        <p:spPr>
          <a:xfrm>
            <a:off x="3738562" y="3060700"/>
            <a:ext cx="0" cy="171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Gerade Verbindung mit Pfeil 108">
            <a:extLst>
              <a:ext uri="{FF2B5EF4-FFF2-40B4-BE49-F238E27FC236}">
                <a16:creationId xmlns:a16="http://schemas.microsoft.com/office/drawing/2014/main" id="{BCCB23DE-6410-A03A-1B15-B9A9CFA1C51E}"/>
              </a:ext>
            </a:extLst>
          </p:cNvPr>
          <p:cNvCxnSpPr>
            <a:cxnSpLocks/>
          </p:cNvCxnSpPr>
          <p:nvPr/>
        </p:nvCxnSpPr>
        <p:spPr>
          <a:xfrm>
            <a:off x="4593773" y="2957692"/>
            <a:ext cx="0" cy="274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Gerade Verbindung mit Pfeil 109">
            <a:extLst>
              <a:ext uri="{FF2B5EF4-FFF2-40B4-BE49-F238E27FC236}">
                <a16:creationId xmlns:a16="http://schemas.microsoft.com/office/drawing/2014/main" id="{2BD33A6A-FCA9-C7E0-CAE6-C6111BFDE4D7}"/>
              </a:ext>
            </a:extLst>
          </p:cNvPr>
          <p:cNvCxnSpPr>
            <a:cxnSpLocks/>
            <a:endCxn id="64" idx="0"/>
          </p:cNvCxnSpPr>
          <p:nvPr/>
        </p:nvCxnSpPr>
        <p:spPr>
          <a:xfrm>
            <a:off x="5521690" y="3060701"/>
            <a:ext cx="0" cy="1703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Gerader Verbinder 115">
            <a:extLst>
              <a:ext uri="{FF2B5EF4-FFF2-40B4-BE49-F238E27FC236}">
                <a16:creationId xmlns:a16="http://schemas.microsoft.com/office/drawing/2014/main" id="{6C0A21ED-55CD-87C2-6371-6E24A43596BD}"/>
              </a:ext>
            </a:extLst>
          </p:cNvPr>
          <p:cNvCxnSpPr>
            <a:cxnSpLocks/>
          </p:cNvCxnSpPr>
          <p:nvPr/>
        </p:nvCxnSpPr>
        <p:spPr>
          <a:xfrm>
            <a:off x="3738562" y="3060700"/>
            <a:ext cx="17831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Gerade Verbindung mit Pfeil 121">
            <a:extLst>
              <a:ext uri="{FF2B5EF4-FFF2-40B4-BE49-F238E27FC236}">
                <a16:creationId xmlns:a16="http://schemas.microsoft.com/office/drawing/2014/main" id="{C0996A90-3620-5259-836D-DC50CFA4FD5F}"/>
              </a:ext>
            </a:extLst>
          </p:cNvPr>
          <p:cNvCxnSpPr>
            <a:cxnSpLocks/>
          </p:cNvCxnSpPr>
          <p:nvPr/>
        </p:nvCxnSpPr>
        <p:spPr>
          <a:xfrm>
            <a:off x="3496032" y="4221224"/>
            <a:ext cx="158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Gerader Verbinder 129">
            <a:extLst>
              <a:ext uri="{FF2B5EF4-FFF2-40B4-BE49-F238E27FC236}">
                <a16:creationId xmlns:a16="http://schemas.microsoft.com/office/drawing/2014/main" id="{CD233744-5258-0CA9-581B-D5AAAD97A438}"/>
              </a:ext>
            </a:extLst>
          </p:cNvPr>
          <p:cNvCxnSpPr>
            <a:cxnSpLocks/>
          </p:cNvCxnSpPr>
          <p:nvPr/>
        </p:nvCxnSpPr>
        <p:spPr>
          <a:xfrm flipV="1">
            <a:off x="3498229" y="3595528"/>
            <a:ext cx="0" cy="6216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Gerade Verbindung mit Pfeil 131">
            <a:extLst>
              <a:ext uri="{FF2B5EF4-FFF2-40B4-BE49-F238E27FC236}">
                <a16:creationId xmlns:a16="http://schemas.microsoft.com/office/drawing/2014/main" id="{6237E3EA-CACD-333E-5C4C-B116AB8A0155}"/>
              </a:ext>
            </a:extLst>
          </p:cNvPr>
          <p:cNvCxnSpPr>
            <a:cxnSpLocks/>
          </p:cNvCxnSpPr>
          <p:nvPr/>
        </p:nvCxnSpPr>
        <p:spPr>
          <a:xfrm>
            <a:off x="4401076" y="4218849"/>
            <a:ext cx="158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5" name="Gerader Verbinder 134">
            <a:extLst>
              <a:ext uri="{FF2B5EF4-FFF2-40B4-BE49-F238E27FC236}">
                <a16:creationId xmlns:a16="http://schemas.microsoft.com/office/drawing/2014/main" id="{D5379383-F1DE-4BC7-8050-FBDDE00B2753}"/>
              </a:ext>
            </a:extLst>
          </p:cNvPr>
          <p:cNvCxnSpPr>
            <a:cxnSpLocks/>
          </p:cNvCxnSpPr>
          <p:nvPr/>
        </p:nvCxnSpPr>
        <p:spPr>
          <a:xfrm flipV="1">
            <a:off x="4401077" y="3593154"/>
            <a:ext cx="2197" cy="6240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Gerade Verbindung mit Pfeil 135">
            <a:extLst>
              <a:ext uri="{FF2B5EF4-FFF2-40B4-BE49-F238E27FC236}">
                <a16:creationId xmlns:a16="http://schemas.microsoft.com/office/drawing/2014/main" id="{16C5041A-2698-D6C8-E7ED-C431931C1CEC}"/>
              </a:ext>
            </a:extLst>
          </p:cNvPr>
          <p:cNvCxnSpPr>
            <a:cxnSpLocks/>
          </p:cNvCxnSpPr>
          <p:nvPr/>
        </p:nvCxnSpPr>
        <p:spPr>
          <a:xfrm>
            <a:off x="5269807" y="4218849"/>
            <a:ext cx="158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9" name="Gerader Verbinder 138">
            <a:extLst>
              <a:ext uri="{FF2B5EF4-FFF2-40B4-BE49-F238E27FC236}">
                <a16:creationId xmlns:a16="http://schemas.microsoft.com/office/drawing/2014/main" id="{35C5BE20-5F07-0E3D-ADAF-75115BDC2C3C}"/>
              </a:ext>
            </a:extLst>
          </p:cNvPr>
          <p:cNvCxnSpPr>
            <a:cxnSpLocks/>
          </p:cNvCxnSpPr>
          <p:nvPr/>
        </p:nvCxnSpPr>
        <p:spPr>
          <a:xfrm flipV="1">
            <a:off x="5269808" y="3593154"/>
            <a:ext cx="2197" cy="624037"/>
          </a:xfrm>
          <a:prstGeom prst="line">
            <a:avLst/>
          </a:prstGeom>
        </p:spPr>
        <p:style>
          <a:lnRef idx="1">
            <a:schemeClr val="accent1"/>
          </a:lnRef>
          <a:fillRef idx="0">
            <a:schemeClr val="accent1"/>
          </a:fillRef>
          <a:effectRef idx="0">
            <a:schemeClr val="accent1"/>
          </a:effectRef>
          <a:fontRef idx="minor">
            <a:schemeClr val="tx1"/>
          </a:fontRef>
        </p:style>
      </p:cxnSp>
      <p:sp>
        <p:nvSpPr>
          <p:cNvPr id="140" name="Textfeld 139">
            <a:extLst>
              <a:ext uri="{FF2B5EF4-FFF2-40B4-BE49-F238E27FC236}">
                <a16:creationId xmlns:a16="http://schemas.microsoft.com/office/drawing/2014/main" id="{C22D4183-CEDF-A34E-BC41-4708A05306B6}"/>
              </a:ext>
            </a:extLst>
          </p:cNvPr>
          <p:cNvSpPr txBox="1"/>
          <p:nvPr/>
        </p:nvSpPr>
        <p:spPr>
          <a:xfrm>
            <a:off x="2142878" y="4073954"/>
            <a:ext cx="785215" cy="338554"/>
          </a:xfrm>
          <a:prstGeom prst="rect">
            <a:avLst/>
          </a:prstGeom>
          <a:noFill/>
        </p:spPr>
        <p:txBody>
          <a:bodyPr wrap="square" rtlCol="0">
            <a:spAutoFit/>
          </a:bodyPr>
          <a:lstStyle/>
          <a:p>
            <a:r>
              <a:rPr lang="de-DE" sz="800" dirty="0" err="1"/>
              <a:t>Number</a:t>
            </a:r>
            <a:r>
              <a:rPr lang="de-DE" sz="800" dirty="0"/>
              <a:t> </a:t>
            </a:r>
            <a:r>
              <a:rPr lang="de-DE" sz="800" dirty="0" err="1"/>
              <a:t>of</a:t>
            </a:r>
            <a:endParaRPr lang="de-DE" sz="800" dirty="0"/>
          </a:p>
          <a:p>
            <a:r>
              <a:rPr lang="de-DE" sz="800" dirty="0"/>
              <a:t> </a:t>
            </a:r>
            <a:r>
              <a:rPr lang="de-DE" sz="800" dirty="0" err="1"/>
              <a:t>Patients</a:t>
            </a:r>
            <a:r>
              <a:rPr lang="de-DE" sz="800" dirty="0"/>
              <a:t> (N)</a:t>
            </a:r>
          </a:p>
        </p:txBody>
      </p:sp>
      <p:sp>
        <p:nvSpPr>
          <p:cNvPr id="142" name="Rechteck 141">
            <a:extLst>
              <a:ext uri="{FF2B5EF4-FFF2-40B4-BE49-F238E27FC236}">
                <a16:creationId xmlns:a16="http://schemas.microsoft.com/office/drawing/2014/main" id="{EF753DEA-D4A6-7D61-4CB9-B6D70220B30E}"/>
              </a:ext>
            </a:extLst>
          </p:cNvPr>
          <p:cNvSpPr/>
          <p:nvPr/>
        </p:nvSpPr>
        <p:spPr>
          <a:xfrm>
            <a:off x="6087523" y="3231032"/>
            <a:ext cx="802540"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900" dirty="0" err="1"/>
              <a:t>Diclofenac</a:t>
            </a:r>
            <a:endParaRPr lang="de-DE" sz="900" dirty="0"/>
          </a:p>
          <a:p>
            <a:pPr algn="ctr"/>
            <a:r>
              <a:rPr lang="de-DE" sz="900" dirty="0"/>
              <a:t>N=11</a:t>
            </a:r>
          </a:p>
        </p:txBody>
      </p:sp>
      <p:sp>
        <p:nvSpPr>
          <p:cNvPr id="143" name="Rechteck 142">
            <a:extLst>
              <a:ext uri="{FF2B5EF4-FFF2-40B4-BE49-F238E27FC236}">
                <a16:creationId xmlns:a16="http://schemas.microsoft.com/office/drawing/2014/main" id="{4B148522-37A3-5F72-04C4-AB655B584046}"/>
              </a:ext>
            </a:extLst>
          </p:cNvPr>
          <p:cNvSpPr/>
          <p:nvPr/>
        </p:nvSpPr>
        <p:spPr>
          <a:xfrm>
            <a:off x="6983558" y="3229373"/>
            <a:ext cx="80253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900" dirty="0"/>
              <a:t>Ibuprofen</a:t>
            </a:r>
          </a:p>
          <a:p>
            <a:pPr algn="ctr"/>
            <a:r>
              <a:rPr lang="de-DE" sz="900" dirty="0"/>
              <a:t>N=2</a:t>
            </a:r>
          </a:p>
        </p:txBody>
      </p:sp>
      <p:sp>
        <p:nvSpPr>
          <p:cNvPr id="144" name="Rechteck 143">
            <a:extLst>
              <a:ext uri="{FF2B5EF4-FFF2-40B4-BE49-F238E27FC236}">
                <a16:creationId xmlns:a16="http://schemas.microsoft.com/office/drawing/2014/main" id="{7EA88A8C-214E-572A-24AC-FCFE143244FC}"/>
              </a:ext>
            </a:extLst>
          </p:cNvPr>
          <p:cNvSpPr/>
          <p:nvPr/>
        </p:nvSpPr>
        <p:spPr>
          <a:xfrm>
            <a:off x="7879591" y="3229373"/>
            <a:ext cx="80253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900" dirty="0"/>
              <a:t>Paracetamol</a:t>
            </a:r>
          </a:p>
          <a:p>
            <a:pPr algn="ctr"/>
            <a:r>
              <a:rPr lang="de-DE" sz="900" dirty="0"/>
              <a:t>N=5</a:t>
            </a:r>
          </a:p>
        </p:txBody>
      </p:sp>
      <p:sp>
        <p:nvSpPr>
          <p:cNvPr id="145" name="Rechteck 144">
            <a:extLst>
              <a:ext uri="{FF2B5EF4-FFF2-40B4-BE49-F238E27FC236}">
                <a16:creationId xmlns:a16="http://schemas.microsoft.com/office/drawing/2014/main" id="{F1317AF3-F84E-0F72-8EBC-3A1FF395F8F2}"/>
              </a:ext>
            </a:extLst>
          </p:cNvPr>
          <p:cNvSpPr/>
          <p:nvPr/>
        </p:nvSpPr>
        <p:spPr>
          <a:xfrm>
            <a:off x="6416149" y="3749207"/>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500" dirty="0">
                <a:solidFill>
                  <a:schemeClr val="bg1"/>
                </a:solidFill>
              </a:rPr>
              <a:t>Epidermal </a:t>
            </a:r>
            <a:r>
              <a:rPr lang="de-DE" sz="500" dirty="0" err="1">
                <a:solidFill>
                  <a:schemeClr val="bg1"/>
                </a:solidFill>
              </a:rPr>
              <a:t>reaction</a:t>
            </a:r>
            <a:endParaRPr lang="de-DE" sz="500" dirty="0">
              <a:solidFill>
                <a:schemeClr val="bg1"/>
              </a:solidFill>
            </a:endParaRPr>
          </a:p>
          <a:p>
            <a:pPr algn="ctr"/>
            <a:r>
              <a:rPr lang="de-DE" sz="500" dirty="0">
                <a:solidFill>
                  <a:schemeClr val="bg1"/>
                </a:solidFill>
              </a:rPr>
              <a:t>N=2</a:t>
            </a:r>
          </a:p>
        </p:txBody>
      </p:sp>
      <p:sp>
        <p:nvSpPr>
          <p:cNvPr id="147" name="Rechteck 146">
            <a:extLst>
              <a:ext uri="{FF2B5EF4-FFF2-40B4-BE49-F238E27FC236}">
                <a16:creationId xmlns:a16="http://schemas.microsoft.com/office/drawing/2014/main" id="{7B7EFADC-EF1B-E71E-FA74-A40AF90676CF}"/>
              </a:ext>
            </a:extLst>
          </p:cNvPr>
          <p:cNvSpPr/>
          <p:nvPr/>
        </p:nvSpPr>
        <p:spPr>
          <a:xfrm>
            <a:off x="6413951" y="4072296"/>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00" dirty="0" err="1"/>
              <a:t>hepatotoxicity</a:t>
            </a:r>
            <a:endParaRPr lang="de-DE" sz="600" dirty="0"/>
          </a:p>
          <a:p>
            <a:pPr algn="ctr"/>
            <a:r>
              <a:rPr lang="de-DE" sz="600" dirty="0"/>
              <a:t>N=9</a:t>
            </a:r>
          </a:p>
        </p:txBody>
      </p:sp>
      <p:sp>
        <p:nvSpPr>
          <p:cNvPr id="150" name="Rechteck 149">
            <a:extLst>
              <a:ext uri="{FF2B5EF4-FFF2-40B4-BE49-F238E27FC236}">
                <a16:creationId xmlns:a16="http://schemas.microsoft.com/office/drawing/2014/main" id="{4A4D78E8-97D0-99AF-9F39-8F6780BCD2DE}"/>
              </a:ext>
            </a:extLst>
          </p:cNvPr>
          <p:cNvSpPr/>
          <p:nvPr/>
        </p:nvSpPr>
        <p:spPr>
          <a:xfrm>
            <a:off x="7318995" y="4072296"/>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00" dirty="0" err="1"/>
              <a:t>hepatotoxicity</a:t>
            </a:r>
            <a:endParaRPr lang="de-DE" sz="600" dirty="0"/>
          </a:p>
          <a:p>
            <a:pPr algn="ctr"/>
            <a:r>
              <a:rPr lang="de-DE" sz="600" dirty="0"/>
              <a:t>N=2</a:t>
            </a:r>
          </a:p>
        </p:txBody>
      </p:sp>
      <p:sp>
        <p:nvSpPr>
          <p:cNvPr id="153" name="Rechteck 152">
            <a:extLst>
              <a:ext uri="{FF2B5EF4-FFF2-40B4-BE49-F238E27FC236}">
                <a16:creationId xmlns:a16="http://schemas.microsoft.com/office/drawing/2014/main" id="{510ECDA2-EE8D-C44F-9ECF-488330B783EC}"/>
              </a:ext>
            </a:extLst>
          </p:cNvPr>
          <p:cNvSpPr/>
          <p:nvPr/>
        </p:nvSpPr>
        <p:spPr>
          <a:xfrm>
            <a:off x="8187726" y="4072296"/>
            <a:ext cx="473915" cy="26414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00" dirty="0" err="1"/>
              <a:t>hepatotoxicity</a:t>
            </a:r>
            <a:endParaRPr lang="de-DE" sz="600" dirty="0"/>
          </a:p>
          <a:p>
            <a:pPr algn="ctr"/>
            <a:r>
              <a:rPr lang="de-DE" sz="600" dirty="0"/>
              <a:t>N=5</a:t>
            </a:r>
          </a:p>
        </p:txBody>
      </p:sp>
      <p:cxnSp>
        <p:nvCxnSpPr>
          <p:cNvPr id="154" name="Gerade Verbindung mit Pfeil 153">
            <a:extLst>
              <a:ext uri="{FF2B5EF4-FFF2-40B4-BE49-F238E27FC236}">
                <a16:creationId xmlns:a16="http://schemas.microsoft.com/office/drawing/2014/main" id="{D10AB78B-AEBC-010B-BA6D-DCC0CECF45B7}"/>
              </a:ext>
            </a:extLst>
          </p:cNvPr>
          <p:cNvCxnSpPr>
            <a:cxnSpLocks/>
          </p:cNvCxnSpPr>
          <p:nvPr/>
        </p:nvCxnSpPr>
        <p:spPr>
          <a:xfrm>
            <a:off x="6497730" y="3059041"/>
            <a:ext cx="0" cy="171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5" name="Gerade Verbindung mit Pfeil 154">
            <a:extLst>
              <a:ext uri="{FF2B5EF4-FFF2-40B4-BE49-F238E27FC236}">
                <a16:creationId xmlns:a16="http://schemas.microsoft.com/office/drawing/2014/main" id="{B60A2C69-2F22-E30B-15BB-A484F6F988FA}"/>
              </a:ext>
            </a:extLst>
          </p:cNvPr>
          <p:cNvCxnSpPr>
            <a:cxnSpLocks/>
          </p:cNvCxnSpPr>
          <p:nvPr/>
        </p:nvCxnSpPr>
        <p:spPr>
          <a:xfrm>
            <a:off x="7352941" y="2956033"/>
            <a:ext cx="0" cy="274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6" name="Gerade Verbindung mit Pfeil 155">
            <a:extLst>
              <a:ext uri="{FF2B5EF4-FFF2-40B4-BE49-F238E27FC236}">
                <a16:creationId xmlns:a16="http://schemas.microsoft.com/office/drawing/2014/main" id="{672EF5AD-467A-5E0D-CC01-F763ACB99C77}"/>
              </a:ext>
            </a:extLst>
          </p:cNvPr>
          <p:cNvCxnSpPr>
            <a:cxnSpLocks/>
            <a:endCxn id="144" idx="0"/>
          </p:cNvCxnSpPr>
          <p:nvPr/>
        </p:nvCxnSpPr>
        <p:spPr>
          <a:xfrm>
            <a:off x="8280858" y="3059042"/>
            <a:ext cx="0" cy="1703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Gerader Verbinder 156">
            <a:extLst>
              <a:ext uri="{FF2B5EF4-FFF2-40B4-BE49-F238E27FC236}">
                <a16:creationId xmlns:a16="http://schemas.microsoft.com/office/drawing/2014/main" id="{9B6F4444-2C73-D770-EF59-F44F4E15BC4B}"/>
              </a:ext>
            </a:extLst>
          </p:cNvPr>
          <p:cNvCxnSpPr>
            <a:cxnSpLocks/>
          </p:cNvCxnSpPr>
          <p:nvPr/>
        </p:nvCxnSpPr>
        <p:spPr>
          <a:xfrm>
            <a:off x="6497730" y="3059041"/>
            <a:ext cx="17831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Gerade Verbindung mit Pfeil 157">
            <a:extLst>
              <a:ext uri="{FF2B5EF4-FFF2-40B4-BE49-F238E27FC236}">
                <a16:creationId xmlns:a16="http://schemas.microsoft.com/office/drawing/2014/main" id="{4E48C586-FBD0-B7F8-C89F-166BEB62D66A}"/>
              </a:ext>
            </a:extLst>
          </p:cNvPr>
          <p:cNvCxnSpPr>
            <a:cxnSpLocks/>
          </p:cNvCxnSpPr>
          <p:nvPr/>
        </p:nvCxnSpPr>
        <p:spPr>
          <a:xfrm>
            <a:off x="6255200" y="4219565"/>
            <a:ext cx="158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Gerade Verbindung mit Pfeil 159">
            <a:extLst>
              <a:ext uri="{FF2B5EF4-FFF2-40B4-BE49-F238E27FC236}">
                <a16:creationId xmlns:a16="http://schemas.microsoft.com/office/drawing/2014/main" id="{1DA49674-6A0A-D9E4-E6C4-640462210C08}"/>
              </a:ext>
            </a:extLst>
          </p:cNvPr>
          <p:cNvCxnSpPr>
            <a:cxnSpLocks/>
          </p:cNvCxnSpPr>
          <p:nvPr/>
        </p:nvCxnSpPr>
        <p:spPr>
          <a:xfrm>
            <a:off x="6257397" y="3888516"/>
            <a:ext cx="158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1" name="Gerader Verbinder 160">
            <a:extLst>
              <a:ext uri="{FF2B5EF4-FFF2-40B4-BE49-F238E27FC236}">
                <a16:creationId xmlns:a16="http://schemas.microsoft.com/office/drawing/2014/main" id="{8AB1F88F-219A-FF4F-E35D-134271EC3E13}"/>
              </a:ext>
            </a:extLst>
          </p:cNvPr>
          <p:cNvCxnSpPr>
            <a:cxnSpLocks/>
          </p:cNvCxnSpPr>
          <p:nvPr/>
        </p:nvCxnSpPr>
        <p:spPr>
          <a:xfrm flipV="1">
            <a:off x="6257397" y="3593870"/>
            <a:ext cx="0" cy="6233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Gerade Verbindung mit Pfeil 161">
            <a:extLst>
              <a:ext uri="{FF2B5EF4-FFF2-40B4-BE49-F238E27FC236}">
                <a16:creationId xmlns:a16="http://schemas.microsoft.com/office/drawing/2014/main" id="{59E51EC6-64A0-CF12-4F99-BAC2B2A265E3}"/>
              </a:ext>
            </a:extLst>
          </p:cNvPr>
          <p:cNvCxnSpPr>
            <a:cxnSpLocks/>
          </p:cNvCxnSpPr>
          <p:nvPr/>
        </p:nvCxnSpPr>
        <p:spPr>
          <a:xfrm>
            <a:off x="7160244" y="4217190"/>
            <a:ext cx="158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5" name="Gerader Verbinder 164">
            <a:extLst>
              <a:ext uri="{FF2B5EF4-FFF2-40B4-BE49-F238E27FC236}">
                <a16:creationId xmlns:a16="http://schemas.microsoft.com/office/drawing/2014/main" id="{7A8B5FDA-4A67-7BD1-0286-C643BFDFF152}"/>
              </a:ext>
            </a:extLst>
          </p:cNvPr>
          <p:cNvCxnSpPr>
            <a:cxnSpLocks/>
          </p:cNvCxnSpPr>
          <p:nvPr/>
        </p:nvCxnSpPr>
        <p:spPr>
          <a:xfrm flipV="1">
            <a:off x="7162441" y="3591494"/>
            <a:ext cx="0" cy="625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6" name="Gerade Verbindung mit Pfeil 165">
            <a:extLst>
              <a:ext uri="{FF2B5EF4-FFF2-40B4-BE49-F238E27FC236}">
                <a16:creationId xmlns:a16="http://schemas.microsoft.com/office/drawing/2014/main" id="{729814C3-C927-CB26-BBD9-B9D217F06B8E}"/>
              </a:ext>
            </a:extLst>
          </p:cNvPr>
          <p:cNvCxnSpPr>
            <a:cxnSpLocks/>
          </p:cNvCxnSpPr>
          <p:nvPr/>
        </p:nvCxnSpPr>
        <p:spPr>
          <a:xfrm>
            <a:off x="8028975" y="4217190"/>
            <a:ext cx="158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9" name="Gerader Verbinder 168">
            <a:extLst>
              <a:ext uri="{FF2B5EF4-FFF2-40B4-BE49-F238E27FC236}">
                <a16:creationId xmlns:a16="http://schemas.microsoft.com/office/drawing/2014/main" id="{581A666F-3B57-76A6-C1D2-83FA2DC836B0}"/>
              </a:ext>
            </a:extLst>
          </p:cNvPr>
          <p:cNvCxnSpPr>
            <a:cxnSpLocks/>
          </p:cNvCxnSpPr>
          <p:nvPr/>
        </p:nvCxnSpPr>
        <p:spPr>
          <a:xfrm flipV="1">
            <a:off x="8028976" y="3591494"/>
            <a:ext cx="2197" cy="62569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5999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FE21E269-76AB-8D19-1AEA-0F14FD0E09CE}"/>
              </a:ext>
            </a:extLst>
          </p:cNvPr>
          <p:cNvSpPr/>
          <p:nvPr/>
        </p:nvSpPr>
        <p:spPr>
          <a:xfrm>
            <a:off x="4333815" y="4167187"/>
            <a:ext cx="2149595" cy="1746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13" dirty="0" err="1"/>
              <a:t>Number</a:t>
            </a:r>
            <a:r>
              <a:rPr lang="de-DE" sz="1013" dirty="0"/>
              <a:t> </a:t>
            </a:r>
            <a:r>
              <a:rPr lang="de-DE" sz="1013" dirty="0" err="1"/>
              <a:t>of</a:t>
            </a:r>
            <a:r>
              <a:rPr lang="de-DE" sz="1013" dirty="0"/>
              <a:t> </a:t>
            </a:r>
            <a:r>
              <a:rPr lang="de-DE" sz="1013" dirty="0" err="1"/>
              <a:t>Labvalue</a:t>
            </a:r>
            <a:r>
              <a:rPr lang="de-DE" sz="1013" dirty="0"/>
              <a:t>-Parameters</a:t>
            </a:r>
          </a:p>
        </p:txBody>
      </p:sp>
      <p:sp>
        <p:nvSpPr>
          <p:cNvPr id="5" name="Rechteck 4">
            <a:extLst>
              <a:ext uri="{FF2B5EF4-FFF2-40B4-BE49-F238E27FC236}">
                <a16:creationId xmlns:a16="http://schemas.microsoft.com/office/drawing/2014/main" id="{DE401F50-5B39-1A17-EAB0-A5E8127F3459}"/>
              </a:ext>
            </a:extLst>
          </p:cNvPr>
          <p:cNvSpPr/>
          <p:nvPr/>
        </p:nvSpPr>
        <p:spPr>
          <a:xfrm>
            <a:off x="2413088" y="4341873"/>
            <a:ext cx="1620688" cy="5143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err="1"/>
              <a:t>Diclofenac</a:t>
            </a:r>
            <a:endParaRPr lang="de-DE" sz="1013" dirty="0"/>
          </a:p>
          <a:p>
            <a:pPr algn="ctr"/>
            <a:r>
              <a:rPr lang="de-DE" sz="1013" dirty="0"/>
              <a:t>N=</a:t>
            </a:r>
          </a:p>
        </p:txBody>
      </p:sp>
      <p:sp>
        <p:nvSpPr>
          <p:cNvPr id="6" name="Rechteck 5">
            <a:extLst>
              <a:ext uri="{FF2B5EF4-FFF2-40B4-BE49-F238E27FC236}">
                <a16:creationId xmlns:a16="http://schemas.microsoft.com/office/drawing/2014/main" id="{DDD7072F-227D-E95D-EA4F-3E56E091DB0E}"/>
              </a:ext>
            </a:extLst>
          </p:cNvPr>
          <p:cNvSpPr/>
          <p:nvPr/>
        </p:nvSpPr>
        <p:spPr>
          <a:xfrm>
            <a:off x="4598268" y="4341873"/>
            <a:ext cx="1620688" cy="5143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a:t>Ibuprofen</a:t>
            </a:r>
          </a:p>
          <a:p>
            <a:pPr algn="ctr"/>
            <a:r>
              <a:rPr lang="de-DE" sz="1013" dirty="0"/>
              <a:t>N=</a:t>
            </a:r>
          </a:p>
        </p:txBody>
      </p:sp>
      <p:sp>
        <p:nvSpPr>
          <p:cNvPr id="7" name="Rechteck 6">
            <a:extLst>
              <a:ext uri="{FF2B5EF4-FFF2-40B4-BE49-F238E27FC236}">
                <a16:creationId xmlns:a16="http://schemas.microsoft.com/office/drawing/2014/main" id="{E9D59C1D-E28E-1237-13EE-C284D641C4F1}"/>
              </a:ext>
            </a:extLst>
          </p:cNvPr>
          <p:cNvSpPr/>
          <p:nvPr/>
        </p:nvSpPr>
        <p:spPr>
          <a:xfrm>
            <a:off x="6783447" y="4341873"/>
            <a:ext cx="1620688" cy="5143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a:t>Paracetamol</a:t>
            </a:r>
          </a:p>
          <a:p>
            <a:pPr algn="ctr"/>
            <a:r>
              <a:rPr lang="de-DE" sz="1013" dirty="0"/>
              <a:t>N=</a:t>
            </a:r>
          </a:p>
        </p:txBody>
      </p:sp>
      <p:sp>
        <p:nvSpPr>
          <p:cNvPr id="8" name="Rechteck 7">
            <a:extLst>
              <a:ext uri="{FF2B5EF4-FFF2-40B4-BE49-F238E27FC236}">
                <a16:creationId xmlns:a16="http://schemas.microsoft.com/office/drawing/2014/main" id="{36310DBC-7D36-EC40-0A7E-415E071E72C1}"/>
              </a:ext>
            </a:extLst>
          </p:cNvPr>
          <p:cNvSpPr/>
          <p:nvPr/>
        </p:nvSpPr>
        <p:spPr>
          <a:xfrm>
            <a:off x="2413090"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a:p>
            <a:pPr algn="ctr"/>
            <a:r>
              <a:rPr lang="de-DE" sz="675" dirty="0"/>
              <a:t>N=</a:t>
            </a:r>
          </a:p>
        </p:txBody>
      </p:sp>
      <p:sp>
        <p:nvSpPr>
          <p:cNvPr id="9" name="Rechteck 8">
            <a:extLst>
              <a:ext uri="{FF2B5EF4-FFF2-40B4-BE49-F238E27FC236}">
                <a16:creationId xmlns:a16="http://schemas.microsoft.com/office/drawing/2014/main" id="{FF5D34DD-8B30-B829-28CE-27D01DE370A4}"/>
              </a:ext>
            </a:extLst>
          </p:cNvPr>
          <p:cNvSpPr/>
          <p:nvPr/>
        </p:nvSpPr>
        <p:spPr>
          <a:xfrm>
            <a:off x="2986477"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Skin</a:t>
            </a:r>
          </a:p>
          <a:p>
            <a:pPr algn="ctr"/>
            <a:r>
              <a:rPr lang="de-DE" sz="675" dirty="0"/>
              <a:t>N=</a:t>
            </a:r>
          </a:p>
        </p:txBody>
      </p:sp>
      <p:sp>
        <p:nvSpPr>
          <p:cNvPr id="10" name="Rechteck 9">
            <a:extLst>
              <a:ext uri="{FF2B5EF4-FFF2-40B4-BE49-F238E27FC236}">
                <a16:creationId xmlns:a16="http://schemas.microsoft.com/office/drawing/2014/main" id="{2CA44EAD-7A53-9491-3427-1186E504068A}"/>
              </a:ext>
            </a:extLst>
          </p:cNvPr>
          <p:cNvSpPr/>
          <p:nvPr/>
        </p:nvSpPr>
        <p:spPr>
          <a:xfrm>
            <a:off x="3559864"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Liver</a:t>
            </a:r>
          </a:p>
          <a:p>
            <a:pPr algn="ctr"/>
            <a:r>
              <a:rPr lang="de-DE" sz="675" dirty="0"/>
              <a:t>N=</a:t>
            </a:r>
          </a:p>
        </p:txBody>
      </p:sp>
      <p:sp>
        <p:nvSpPr>
          <p:cNvPr id="11" name="Rechteck 10">
            <a:extLst>
              <a:ext uri="{FF2B5EF4-FFF2-40B4-BE49-F238E27FC236}">
                <a16:creationId xmlns:a16="http://schemas.microsoft.com/office/drawing/2014/main" id="{19BB1C89-2F5C-F98C-7B19-26A58D8660DC}"/>
              </a:ext>
            </a:extLst>
          </p:cNvPr>
          <p:cNvSpPr/>
          <p:nvPr/>
        </p:nvSpPr>
        <p:spPr>
          <a:xfrm>
            <a:off x="4598269"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a:p>
            <a:pPr algn="ctr"/>
            <a:r>
              <a:rPr lang="de-DE" sz="675" dirty="0"/>
              <a:t>N=</a:t>
            </a:r>
          </a:p>
        </p:txBody>
      </p:sp>
      <p:sp>
        <p:nvSpPr>
          <p:cNvPr id="12" name="Rechteck 11">
            <a:extLst>
              <a:ext uri="{FF2B5EF4-FFF2-40B4-BE49-F238E27FC236}">
                <a16:creationId xmlns:a16="http://schemas.microsoft.com/office/drawing/2014/main" id="{D3EDBD45-A004-8766-499B-4F3735525877}"/>
              </a:ext>
            </a:extLst>
          </p:cNvPr>
          <p:cNvSpPr/>
          <p:nvPr/>
        </p:nvSpPr>
        <p:spPr>
          <a:xfrm>
            <a:off x="5171656"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Skin</a:t>
            </a:r>
          </a:p>
          <a:p>
            <a:pPr algn="ctr"/>
            <a:r>
              <a:rPr lang="de-DE" sz="675" dirty="0"/>
              <a:t>N=</a:t>
            </a:r>
          </a:p>
        </p:txBody>
      </p:sp>
      <p:sp>
        <p:nvSpPr>
          <p:cNvPr id="13" name="Rechteck 12">
            <a:extLst>
              <a:ext uri="{FF2B5EF4-FFF2-40B4-BE49-F238E27FC236}">
                <a16:creationId xmlns:a16="http://schemas.microsoft.com/office/drawing/2014/main" id="{19828D1A-875E-2162-268D-DA8764BA274E}"/>
              </a:ext>
            </a:extLst>
          </p:cNvPr>
          <p:cNvSpPr/>
          <p:nvPr/>
        </p:nvSpPr>
        <p:spPr>
          <a:xfrm>
            <a:off x="5745042"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Liver</a:t>
            </a:r>
          </a:p>
          <a:p>
            <a:pPr algn="ctr"/>
            <a:r>
              <a:rPr lang="de-DE" sz="675" dirty="0"/>
              <a:t>N=</a:t>
            </a:r>
          </a:p>
        </p:txBody>
      </p:sp>
      <p:sp>
        <p:nvSpPr>
          <p:cNvPr id="14" name="Rechteck 13">
            <a:extLst>
              <a:ext uri="{FF2B5EF4-FFF2-40B4-BE49-F238E27FC236}">
                <a16:creationId xmlns:a16="http://schemas.microsoft.com/office/drawing/2014/main" id="{BA6FE86F-6A69-1230-9919-63593C2FCCA4}"/>
              </a:ext>
            </a:extLst>
          </p:cNvPr>
          <p:cNvSpPr/>
          <p:nvPr/>
        </p:nvSpPr>
        <p:spPr>
          <a:xfrm>
            <a:off x="6783448"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a:p>
            <a:pPr algn="ctr"/>
            <a:r>
              <a:rPr lang="de-DE" sz="675" dirty="0"/>
              <a:t>N=</a:t>
            </a:r>
          </a:p>
        </p:txBody>
      </p:sp>
      <p:sp>
        <p:nvSpPr>
          <p:cNvPr id="15" name="Rechteck 14">
            <a:extLst>
              <a:ext uri="{FF2B5EF4-FFF2-40B4-BE49-F238E27FC236}">
                <a16:creationId xmlns:a16="http://schemas.microsoft.com/office/drawing/2014/main" id="{CC30F6D0-847F-589E-1699-8B8CE0AF93D8}"/>
              </a:ext>
            </a:extLst>
          </p:cNvPr>
          <p:cNvSpPr/>
          <p:nvPr/>
        </p:nvSpPr>
        <p:spPr>
          <a:xfrm>
            <a:off x="7356835"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Skin</a:t>
            </a:r>
          </a:p>
          <a:p>
            <a:pPr algn="ctr"/>
            <a:r>
              <a:rPr lang="de-DE" sz="675" dirty="0"/>
              <a:t>N=</a:t>
            </a:r>
          </a:p>
        </p:txBody>
      </p:sp>
      <p:sp>
        <p:nvSpPr>
          <p:cNvPr id="16" name="Rechteck 15">
            <a:extLst>
              <a:ext uri="{FF2B5EF4-FFF2-40B4-BE49-F238E27FC236}">
                <a16:creationId xmlns:a16="http://schemas.microsoft.com/office/drawing/2014/main" id="{BFF623FB-E9B4-0AF2-39CE-686CA0B96F33}"/>
              </a:ext>
            </a:extLst>
          </p:cNvPr>
          <p:cNvSpPr/>
          <p:nvPr/>
        </p:nvSpPr>
        <p:spPr>
          <a:xfrm>
            <a:off x="7930221"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Liver</a:t>
            </a:r>
          </a:p>
          <a:p>
            <a:pPr algn="ctr"/>
            <a:r>
              <a:rPr lang="de-DE" sz="675" dirty="0"/>
              <a:t>N=</a:t>
            </a:r>
          </a:p>
        </p:txBody>
      </p:sp>
      <p:sp>
        <p:nvSpPr>
          <p:cNvPr id="17" name="Rechteck 16">
            <a:extLst>
              <a:ext uri="{FF2B5EF4-FFF2-40B4-BE49-F238E27FC236}">
                <a16:creationId xmlns:a16="http://schemas.microsoft.com/office/drawing/2014/main" id="{BE6568A1-24ED-16E3-9E69-55E075EFB205}"/>
              </a:ext>
            </a:extLst>
          </p:cNvPr>
          <p:cNvSpPr/>
          <p:nvPr/>
        </p:nvSpPr>
        <p:spPr>
          <a:xfrm>
            <a:off x="2413090"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SJS</a:t>
            </a:r>
          </a:p>
          <a:p>
            <a:pPr algn="ctr"/>
            <a:r>
              <a:rPr lang="de-DE" sz="619" dirty="0"/>
              <a:t>Parameters N=5</a:t>
            </a:r>
          </a:p>
        </p:txBody>
      </p:sp>
      <p:sp>
        <p:nvSpPr>
          <p:cNvPr id="18" name="Rechteck 17">
            <a:extLst>
              <a:ext uri="{FF2B5EF4-FFF2-40B4-BE49-F238E27FC236}">
                <a16:creationId xmlns:a16="http://schemas.microsoft.com/office/drawing/2014/main" id="{31912E01-F30C-39BC-4006-D449FB0AB282}"/>
              </a:ext>
            </a:extLst>
          </p:cNvPr>
          <p:cNvSpPr/>
          <p:nvPr/>
        </p:nvSpPr>
        <p:spPr>
          <a:xfrm>
            <a:off x="2986477"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Skin</a:t>
            </a:r>
          </a:p>
          <a:p>
            <a:pPr algn="ctr"/>
            <a:r>
              <a:rPr lang="de-DE" sz="619" dirty="0" err="1"/>
              <a:t>ParametersN</a:t>
            </a:r>
            <a:r>
              <a:rPr lang="de-DE" sz="619" dirty="0"/>
              <a:t>=1</a:t>
            </a:r>
          </a:p>
        </p:txBody>
      </p:sp>
      <p:sp>
        <p:nvSpPr>
          <p:cNvPr id="19" name="Rechteck 18">
            <a:extLst>
              <a:ext uri="{FF2B5EF4-FFF2-40B4-BE49-F238E27FC236}">
                <a16:creationId xmlns:a16="http://schemas.microsoft.com/office/drawing/2014/main" id="{13608C71-7A47-0B56-791C-AAD9AA2FDBC0}"/>
              </a:ext>
            </a:extLst>
          </p:cNvPr>
          <p:cNvSpPr/>
          <p:nvPr/>
        </p:nvSpPr>
        <p:spPr>
          <a:xfrm>
            <a:off x="3559864"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Liver</a:t>
            </a:r>
          </a:p>
          <a:p>
            <a:pPr algn="ctr"/>
            <a:r>
              <a:rPr lang="de-DE" sz="619" dirty="0"/>
              <a:t>Parameters N=51</a:t>
            </a:r>
          </a:p>
        </p:txBody>
      </p:sp>
      <p:sp>
        <p:nvSpPr>
          <p:cNvPr id="20" name="Rechteck 19">
            <a:extLst>
              <a:ext uri="{FF2B5EF4-FFF2-40B4-BE49-F238E27FC236}">
                <a16:creationId xmlns:a16="http://schemas.microsoft.com/office/drawing/2014/main" id="{60BD120C-071C-EAD9-8E13-9F29E7FA2C7A}"/>
              </a:ext>
            </a:extLst>
          </p:cNvPr>
          <p:cNvSpPr/>
          <p:nvPr/>
        </p:nvSpPr>
        <p:spPr>
          <a:xfrm>
            <a:off x="4598269"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SJS</a:t>
            </a:r>
          </a:p>
          <a:p>
            <a:pPr algn="ctr"/>
            <a:r>
              <a:rPr lang="de-DE" sz="619" dirty="0"/>
              <a:t>Parameters N=8</a:t>
            </a:r>
          </a:p>
        </p:txBody>
      </p:sp>
      <p:sp>
        <p:nvSpPr>
          <p:cNvPr id="21" name="Rechteck 20">
            <a:extLst>
              <a:ext uri="{FF2B5EF4-FFF2-40B4-BE49-F238E27FC236}">
                <a16:creationId xmlns:a16="http://schemas.microsoft.com/office/drawing/2014/main" id="{1D3E1DCD-573A-CBD2-9C6F-8C449238CFDC}"/>
              </a:ext>
            </a:extLst>
          </p:cNvPr>
          <p:cNvSpPr/>
          <p:nvPr/>
        </p:nvSpPr>
        <p:spPr>
          <a:xfrm>
            <a:off x="5171656"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Skin</a:t>
            </a:r>
          </a:p>
          <a:p>
            <a:pPr algn="ctr"/>
            <a:r>
              <a:rPr lang="de-DE" sz="619" dirty="0"/>
              <a:t>Parameters N=6</a:t>
            </a:r>
          </a:p>
        </p:txBody>
      </p:sp>
      <p:sp>
        <p:nvSpPr>
          <p:cNvPr id="22" name="Rechteck 21">
            <a:extLst>
              <a:ext uri="{FF2B5EF4-FFF2-40B4-BE49-F238E27FC236}">
                <a16:creationId xmlns:a16="http://schemas.microsoft.com/office/drawing/2014/main" id="{363B354E-E053-F601-FF79-5F1705413BAA}"/>
              </a:ext>
            </a:extLst>
          </p:cNvPr>
          <p:cNvSpPr/>
          <p:nvPr/>
        </p:nvSpPr>
        <p:spPr>
          <a:xfrm>
            <a:off x="5745042"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Liver</a:t>
            </a:r>
          </a:p>
          <a:p>
            <a:pPr algn="ctr"/>
            <a:r>
              <a:rPr lang="de-DE" sz="619" dirty="0"/>
              <a:t>Parameters N=35</a:t>
            </a:r>
          </a:p>
        </p:txBody>
      </p:sp>
      <p:sp>
        <p:nvSpPr>
          <p:cNvPr id="23" name="Rechteck 22">
            <a:extLst>
              <a:ext uri="{FF2B5EF4-FFF2-40B4-BE49-F238E27FC236}">
                <a16:creationId xmlns:a16="http://schemas.microsoft.com/office/drawing/2014/main" id="{33BECC50-5FF0-B96C-23CA-2DFFECE341DF}"/>
              </a:ext>
            </a:extLst>
          </p:cNvPr>
          <p:cNvSpPr/>
          <p:nvPr/>
        </p:nvSpPr>
        <p:spPr>
          <a:xfrm>
            <a:off x="6783448"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SJS</a:t>
            </a:r>
          </a:p>
          <a:p>
            <a:pPr algn="ctr"/>
            <a:r>
              <a:rPr lang="de-DE" sz="619" dirty="0"/>
              <a:t>Parameters N=10</a:t>
            </a:r>
          </a:p>
        </p:txBody>
      </p:sp>
      <p:sp>
        <p:nvSpPr>
          <p:cNvPr id="24" name="Rechteck 23">
            <a:extLst>
              <a:ext uri="{FF2B5EF4-FFF2-40B4-BE49-F238E27FC236}">
                <a16:creationId xmlns:a16="http://schemas.microsoft.com/office/drawing/2014/main" id="{919BEE8E-3863-6E16-5985-0535D09561B5}"/>
              </a:ext>
            </a:extLst>
          </p:cNvPr>
          <p:cNvSpPr/>
          <p:nvPr/>
        </p:nvSpPr>
        <p:spPr>
          <a:xfrm>
            <a:off x="7356835"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Skin</a:t>
            </a:r>
          </a:p>
          <a:p>
            <a:pPr algn="ctr"/>
            <a:r>
              <a:rPr lang="de-DE" sz="619" dirty="0"/>
              <a:t>Parameters N=7</a:t>
            </a:r>
          </a:p>
        </p:txBody>
      </p:sp>
      <p:sp>
        <p:nvSpPr>
          <p:cNvPr id="25" name="Rechteck 24">
            <a:extLst>
              <a:ext uri="{FF2B5EF4-FFF2-40B4-BE49-F238E27FC236}">
                <a16:creationId xmlns:a16="http://schemas.microsoft.com/office/drawing/2014/main" id="{666F886C-3A0A-94E2-77F1-20E0DC229A66}"/>
              </a:ext>
            </a:extLst>
          </p:cNvPr>
          <p:cNvSpPr/>
          <p:nvPr/>
        </p:nvSpPr>
        <p:spPr>
          <a:xfrm>
            <a:off x="7930221"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Liver</a:t>
            </a:r>
          </a:p>
          <a:p>
            <a:pPr algn="ctr"/>
            <a:r>
              <a:rPr lang="de-DE" sz="619" dirty="0"/>
              <a:t>Parameters N=52</a:t>
            </a:r>
          </a:p>
        </p:txBody>
      </p:sp>
      <p:sp>
        <p:nvSpPr>
          <p:cNvPr id="26" name="Textfeld 25">
            <a:extLst>
              <a:ext uri="{FF2B5EF4-FFF2-40B4-BE49-F238E27FC236}">
                <a16:creationId xmlns:a16="http://schemas.microsoft.com/office/drawing/2014/main" id="{6E3E75A0-A338-66FC-811D-1D39CA8421DB}"/>
              </a:ext>
            </a:extLst>
          </p:cNvPr>
          <p:cNvSpPr txBox="1"/>
          <p:nvPr/>
        </p:nvSpPr>
        <p:spPr>
          <a:xfrm>
            <a:off x="2887004" y="5335488"/>
            <a:ext cx="5170593" cy="248209"/>
          </a:xfrm>
          <a:prstGeom prst="rect">
            <a:avLst/>
          </a:prstGeom>
          <a:noFill/>
        </p:spPr>
        <p:txBody>
          <a:bodyPr wrap="square">
            <a:spAutoFit/>
          </a:bodyPr>
          <a:lstStyle/>
          <a:p>
            <a:r>
              <a:rPr lang="de-DE" sz="1013" dirty="0" err="1"/>
              <a:t>Filtering</a:t>
            </a:r>
            <a:r>
              <a:rPr lang="de-DE" sz="1013" dirty="0"/>
              <a:t> Parameters </a:t>
            </a:r>
            <a:r>
              <a:rPr lang="de-DE" sz="1013" dirty="0" err="1"/>
              <a:t>with</a:t>
            </a:r>
            <a:r>
              <a:rPr lang="de-DE" sz="1013" dirty="0"/>
              <a:t> at least 3 </a:t>
            </a:r>
            <a:r>
              <a:rPr lang="de-DE" sz="1013" dirty="0" err="1"/>
              <a:t>measurements</a:t>
            </a:r>
            <a:r>
              <a:rPr lang="de-DE" sz="1013" dirty="0"/>
              <a:t> </a:t>
            </a:r>
            <a:r>
              <a:rPr lang="de-DE" sz="1013" dirty="0" err="1"/>
              <a:t>for</a:t>
            </a:r>
            <a:r>
              <a:rPr lang="de-DE" sz="1013" dirty="0"/>
              <a:t> 3 different time </a:t>
            </a:r>
            <a:r>
              <a:rPr lang="de-DE" sz="1013" dirty="0" err="1"/>
              <a:t>points</a:t>
            </a:r>
            <a:r>
              <a:rPr lang="de-DE" sz="1013" dirty="0"/>
              <a:t> </a:t>
            </a:r>
            <a:r>
              <a:rPr lang="de-DE" sz="1013" dirty="0" err="1"/>
              <a:t>for</a:t>
            </a:r>
            <a:r>
              <a:rPr lang="de-DE" sz="1013" dirty="0"/>
              <a:t> </a:t>
            </a:r>
            <a:r>
              <a:rPr lang="de-DE" sz="1013" dirty="0" err="1"/>
              <a:t>one</a:t>
            </a:r>
            <a:r>
              <a:rPr lang="de-DE" sz="1013" dirty="0"/>
              <a:t> </a:t>
            </a:r>
            <a:r>
              <a:rPr lang="de-DE" sz="1013" dirty="0" err="1"/>
              <a:t>patient</a:t>
            </a:r>
            <a:endParaRPr lang="de-DE" sz="1013" dirty="0"/>
          </a:p>
        </p:txBody>
      </p:sp>
      <p:sp>
        <p:nvSpPr>
          <p:cNvPr id="27" name="Rechteck 26">
            <a:extLst>
              <a:ext uri="{FF2B5EF4-FFF2-40B4-BE49-F238E27FC236}">
                <a16:creationId xmlns:a16="http://schemas.microsoft.com/office/drawing/2014/main" id="{872F9A54-9307-65AD-E30C-F2C4AFFC8A4E}"/>
              </a:ext>
            </a:extLst>
          </p:cNvPr>
          <p:cNvSpPr/>
          <p:nvPr/>
        </p:nvSpPr>
        <p:spPr>
          <a:xfrm>
            <a:off x="2413089" y="6016341"/>
            <a:ext cx="4828097" cy="5143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a:t>Siehe: „</a:t>
            </a:r>
            <a:r>
              <a:rPr lang="de-DE" sz="1013" dirty="0" err="1"/>
              <a:t>count</a:t>
            </a:r>
            <a:r>
              <a:rPr lang="de-DE" sz="1013" dirty="0"/>
              <a:t> </a:t>
            </a:r>
            <a:r>
              <a:rPr lang="de-DE" sz="1013" dirty="0" err="1"/>
              <a:t>cases</a:t>
            </a:r>
            <a:r>
              <a:rPr lang="de-DE" sz="1013" dirty="0"/>
              <a:t> </a:t>
            </a:r>
            <a:r>
              <a:rPr lang="de-DE" sz="1013" dirty="0" err="1"/>
              <a:t>with</a:t>
            </a:r>
            <a:r>
              <a:rPr lang="de-DE" sz="1013" dirty="0"/>
              <a:t> </a:t>
            </a:r>
            <a:r>
              <a:rPr lang="de-DE" sz="1013" dirty="0" err="1"/>
              <a:t>labvalues</a:t>
            </a:r>
            <a:r>
              <a:rPr lang="de-DE" sz="1013" dirty="0"/>
              <a:t> in time </a:t>
            </a:r>
            <a:r>
              <a:rPr lang="de-DE" sz="1013" dirty="0" err="1"/>
              <a:t>course</a:t>
            </a:r>
            <a:endParaRPr lang="de-DE" sz="1013" dirty="0"/>
          </a:p>
        </p:txBody>
      </p:sp>
    </p:spTree>
    <p:extLst>
      <p:ext uri="{BB962C8B-B14F-4D97-AF65-F5344CB8AC3E}">
        <p14:creationId xmlns:p14="http://schemas.microsoft.com/office/powerpoint/2010/main" val="3794534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EBAEA405-62D9-802A-551F-AE5B2DF48509}"/>
              </a:ext>
            </a:extLst>
          </p:cNvPr>
          <p:cNvSpPr/>
          <p:nvPr/>
        </p:nvSpPr>
        <p:spPr>
          <a:xfrm>
            <a:off x="5560652" y="6831132"/>
            <a:ext cx="3276960" cy="119368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de-DE" sz="1013" dirty="0" err="1"/>
              <a:t>Inclusion</a:t>
            </a:r>
            <a:r>
              <a:rPr lang="de-DE" sz="1013" dirty="0"/>
              <a:t> </a:t>
            </a:r>
            <a:r>
              <a:rPr lang="de-DE" sz="1013" dirty="0" err="1"/>
              <a:t>criteria</a:t>
            </a:r>
            <a:endParaRPr lang="de-DE" sz="1013" dirty="0"/>
          </a:p>
          <a:p>
            <a:r>
              <a:rPr lang="de-DE" sz="1013" dirty="0" err="1"/>
              <a:t>Exclusion</a:t>
            </a:r>
            <a:r>
              <a:rPr lang="de-DE" sz="1013" dirty="0"/>
              <a:t> </a:t>
            </a:r>
            <a:r>
              <a:rPr lang="de-DE" sz="1013" dirty="0" err="1"/>
              <a:t>criteria</a:t>
            </a:r>
            <a:endParaRPr lang="de-DE" sz="1013" dirty="0"/>
          </a:p>
          <a:p>
            <a:pPr marL="160734" indent="-160734">
              <a:buFont typeface="Symbol" panose="05050102010706020507" pitchFamily="18" charset="2"/>
              <a:buChar char="-"/>
            </a:pPr>
            <a:r>
              <a:rPr lang="de-DE" sz="1013" dirty="0"/>
              <a:t>Cases </a:t>
            </a:r>
            <a:r>
              <a:rPr lang="de-DE" sz="1013" dirty="0" err="1"/>
              <a:t>without</a:t>
            </a:r>
            <a:r>
              <a:rPr lang="de-DE" sz="1013" dirty="0"/>
              <a:t> </a:t>
            </a:r>
            <a:r>
              <a:rPr lang="de-DE" sz="1013" dirty="0" err="1"/>
              <a:t>information</a:t>
            </a:r>
            <a:r>
              <a:rPr lang="de-DE" sz="1013" dirty="0"/>
              <a:t> </a:t>
            </a:r>
            <a:r>
              <a:rPr lang="de-DE" sz="1013" dirty="0" err="1"/>
              <a:t>about</a:t>
            </a:r>
            <a:r>
              <a:rPr lang="de-DE" sz="1013" dirty="0"/>
              <a:t> </a:t>
            </a:r>
            <a:r>
              <a:rPr lang="de-DE" sz="1013" dirty="0" err="1"/>
              <a:t>cumulative</a:t>
            </a:r>
            <a:r>
              <a:rPr lang="de-DE" sz="1013" dirty="0"/>
              <a:t> dose</a:t>
            </a:r>
          </a:p>
          <a:p>
            <a:pPr marL="160734" indent="-160734">
              <a:buFont typeface="Symbol" panose="05050102010706020507" pitchFamily="18" charset="2"/>
              <a:buChar char="-"/>
            </a:pPr>
            <a:r>
              <a:rPr lang="de-DE" sz="1013" dirty="0"/>
              <a:t>Cases </a:t>
            </a:r>
            <a:r>
              <a:rPr lang="de-DE" sz="1013" dirty="0" err="1"/>
              <a:t>with</a:t>
            </a:r>
            <a:r>
              <a:rPr lang="de-DE" sz="1013" dirty="0"/>
              <a:t> </a:t>
            </a:r>
            <a:r>
              <a:rPr lang="de-DE" sz="1013" dirty="0" err="1"/>
              <a:t>unknown</a:t>
            </a:r>
            <a:r>
              <a:rPr lang="de-DE" sz="1013" dirty="0"/>
              <a:t> time </a:t>
            </a:r>
            <a:r>
              <a:rPr lang="de-DE" sz="1013" dirty="0" err="1"/>
              <a:t>of</a:t>
            </a:r>
            <a:r>
              <a:rPr lang="de-DE" sz="1013" dirty="0"/>
              <a:t> </a:t>
            </a:r>
            <a:r>
              <a:rPr lang="de-DE" sz="1013" dirty="0" err="1"/>
              <a:t>intake</a:t>
            </a:r>
            <a:r>
              <a:rPr lang="de-DE" sz="1013" dirty="0"/>
              <a:t> („999-cases“)</a:t>
            </a:r>
          </a:p>
        </p:txBody>
      </p:sp>
      <p:sp>
        <p:nvSpPr>
          <p:cNvPr id="5" name="Rechteck 4">
            <a:extLst>
              <a:ext uri="{FF2B5EF4-FFF2-40B4-BE49-F238E27FC236}">
                <a16:creationId xmlns:a16="http://schemas.microsoft.com/office/drawing/2014/main" id="{DBBA3EED-D59C-6642-1E78-92D8A158EEA4}"/>
              </a:ext>
            </a:extLst>
          </p:cNvPr>
          <p:cNvSpPr/>
          <p:nvPr/>
        </p:nvSpPr>
        <p:spPr>
          <a:xfrm>
            <a:off x="4333815" y="4167187"/>
            <a:ext cx="2149595" cy="1746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13" dirty="0" err="1"/>
              <a:t>Number</a:t>
            </a:r>
            <a:r>
              <a:rPr lang="de-DE" sz="1013" dirty="0"/>
              <a:t> </a:t>
            </a:r>
            <a:r>
              <a:rPr lang="de-DE" sz="1013" dirty="0" err="1"/>
              <a:t>of</a:t>
            </a:r>
            <a:r>
              <a:rPr lang="de-DE" sz="1013" dirty="0"/>
              <a:t> Patiens </a:t>
            </a:r>
            <a:r>
              <a:rPr lang="de-DE" sz="1013" dirty="0" err="1"/>
              <a:t>with</a:t>
            </a:r>
            <a:r>
              <a:rPr lang="de-DE" sz="1013" dirty="0"/>
              <a:t> Drug-Info</a:t>
            </a:r>
          </a:p>
        </p:txBody>
      </p:sp>
      <p:sp>
        <p:nvSpPr>
          <p:cNvPr id="6" name="Rechteck 5">
            <a:extLst>
              <a:ext uri="{FF2B5EF4-FFF2-40B4-BE49-F238E27FC236}">
                <a16:creationId xmlns:a16="http://schemas.microsoft.com/office/drawing/2014/main" id="{C685AE76-72C2-BB3D-921D-2F3EECD3DCB1}"/>
              </a:ext>
            </a:extLst>
          </p:cNvPr>
          <p:cNvSpPr/>
          <p:nvPr/>
        </p:nvSpPr>
        <p:spPr>
          <a:xfrm>
            <a:off x="2413089" y="4341873"/>
            <a:ext cx="1620688" cy="5143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err="1"/>
              <a:t>Diclofenac</a:t>
            </a:r>
            <a:endParaRPr lang="de-DE" sz="1013" dirty="0"/>
          </a:p>
          <a:p>
            <a:pPr algn="ctr"/>
            <a:endParaRPr lang="de-DE" sz="1013" dirty="0"/>
          </a:p>
        </p:txBody>
      </p:sp>
      <p:sp>
        <p:nvSpPr>
          <p:cNvPr id="7" name="Rechteck 6">
            <a:extLst>
              <a:ext uri="{FF2B5EF4-FFF2-40B4-BE49-F238E27FC236}">
                <a16:creationId xmlns:a16="http://schemas.microsoft.com/office/drawing/2014/main" id="{452B85BE-15F8-DA52-FAAF-95733D84A328}"/>
              </a:ext>
            </a:extLst>
          </p:cNvPr>
          <p:cNvSpPr/>
          <p:nvPr/>
        </p:nvSpPr>
        <p:spPr>
          <a:xfrm>
            <a:off x="4598268" y="4341873"/>
            <a:ext cx="1620688" cy="5143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a:t>Ibuprofen</a:t>
            </a:r>
          </a:p>
        </p:txBody>
      </p:sp>
      <p:sp>
        <p:nvSpPr>
          <p:cNvPr id="8" name="Rechteck 7">
            <a:extLst>
              <a:ext uri="{FF2B5EF4-FFF2-40B4-BE49-F238E27FC236}">
                <a16:creationId xmlns:a16="http://schemas.microsoft.com/office/drawing/2014/main" id="{83A6B5DA-1903-49C0-84F9-7F03F54B4695}"/>
              </a:ext>
            </a:extLst>
          </p:cNvPr>
          <p:cNvSpPr/>
          <p:nvPr/>
        </p:nvSpPr>
        <p:spPr>
          <a:xfrm>
            <a:off x="6783447" y="4341873"/>
            <a:ext cx="1620688" cy="5143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1013" dirty="0"/>
              <a:t>Paracetamol</a:t>
            </a:r>
          </a:p>
        </p:txBody>
      </p:sp>
      <p:sp>
        <p:nvSpPr>
          <p:cNvPr id="9" name="Rechteck 8">
            <a:extLst>
              <a:ext uri="{FF2B5EF4-FFF2-40B4-BE49-F238E27FC236}">
                <a16:creationId xmlns:a16="http://schemas.microsoft.com/office/drawing/2014/main" id="{7FE14F01-8339-94F8-8427-0F3375B59411}"/>
              </a:ext>
            </a:extLst>
          </p:cNvPr>
          <p:cNvSpPr/>
          <p:nvPr/>
        </p:nvSpPr>
        <p:spPr>
          <a:xfrm>
            <a:off x="2413090"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a:p>
            <a:pPr algn="ctr"/>
            <a:r>
              <a:rPr lang="de-DE" sz="675" dirty="0"/>
              <a:t>N=</a:t>
            </a:r>
          </a:p>
        </p:txBody>
      </p:sp>
      <p:sp>
        <p:nvSpPr>
          <p:cNvPr id="10" name="Rechteck 9">
            <a:extLst>
              <a:ext uri="{FF2B5EF4-FFF2-40B4-BE49-F238E27FC236}">
                <a16:creationId xmlns:a16="http://schemas.microsoft.com/office/drawing/2014/main" id="{AAA778D4-88AC-45F2-C947-DF6026EEDE53}"/>
              </a:ext>
            </a:extLst>
          </p:cNvPr>
          <p:cNvSpPr/>
          <p:nvPr/>
        </p:nvSpPr>
        <p:spPr>
          <a:xfrm>
            <a:off x="2986476"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Skin</a:t>
            </a:r>
          </a:p>
          <a:p>
            <a:pPr algn="ctr"/>
            <a:r>
              <a:rPr lang="de-DE" sz="675" dirty="0"/>
              <a:t>N=</a:t>
            </a:r>
          </a:p>
        </p:txBody>
      </p:sp>
      <p:sp>
        <p:nvSpPr>
          <p:cNvPr id="11" name="Rechteck 10">
            <a:extLst>
              <a:ext uri="{FF2B5EF4-FFF2-40B4-BE49-F238E27FC236}">
                <a16:creationId xmlns:a16="http://schemas.microsoft.com/office/drawing/2014/main" id="{6782A9A3-0040-EBA6-0DF6-F41D2FDDB939}"/>
              </a:ext>
            </a:extLst>
          </p:cNvPr>
          <p:cNvSpPr/>
          <p:nvPr/>
        </p:nvSpPr>
        <p:spPr>
          <a:xfrm>
            <a:off x="3559863"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Liver</a:t>
            </a:r>
          </a:p>
          <a:p>
            <a:pPr algn="ctr"/>
            <a:r>
              <a:rPr lang="de-DE" sz="675" dirty="0"/>
              <a:t>N=</a:t>
            </a:r>
          </a:p>
        </p:txBody>
      </p:sp>
      <p:sp>
        <p:nvSpPr>
          <p:cNvPr id="12" name="Rechteck 11">
            <a:extLst>
              <a:ext uri="{FF2B5EF4-FFF2-40B4-BE49-F238E27FC236}">
                <a16:creationId xmlns:a16="http://schemas.microsoft.com/office/drawing/2014/main" id="{96009252-41D3-E806-80B1-80C888DCC56A}"/>
              </a:ext>
            </a:extLst>
          </p:cNvPr>
          <p:cNvSpPr/>
          <p:nvPr/>
        </p:nvSpPr>
        <p:spPr>
          <a:xfrm>
            <a:off x="4598269"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a:p>
            <a:pPr algn="ctr"/>
            <a:r>
              <a:rPr lang="de-DE" sz="675" dirty="0"/>
              <a:t>N=</a:t>
            </a:r>
          </a:p>
        </p:txBody>
      </p:sp>
      <p:sp>
        <p:nvSpPr>
          <p:cNvPr id="13" name="Rechteck 12">
            <a:extLst>
              <a:ext uri="{FF2B5EF4-FFF2-40B4-BE49-F238E27FC236}">
                <a16:creationId xmlns:a16="http://schemas.microsoft.com/office/drawing/2014/main" id="{BF9AE2A0-8BCB-B267-9E98-9CC262CFE656}"/>
              </a:ext>
            </a:extLst>
          </p:cNvPr>
          <p:cNvSpPr/>
          <p:nvPr/>
        </p:nvSpPr>
        <p:spPr>
          <a:xfrm>
            <a:off x="5171656"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Skin</a:t>
            </a:r>
          </a:p>
          <a:p>
            <a:pPr algn="ctr"/>
            <a:r>
              <a:rPr lang="de-DE" sz="675" dirty="0"/>
              <a:t>N=</a:t>
            </a:r>
          </a:p>
        </p:txBody>
      </p:sp>
      <p:sp>
        <p:nvSpPr>
          <p:cNvPr id="14" name="Rechteck 13">
            <a:extLst>
              <a:ext uri="{FF2B5EF4-FFF2-40B4-BE49-F238E27FC236}">
                <a16:creationId xmlns:a16="http://schemas.microsoft.com/office/drawing/2014/main" id="{F2C1E457-0D9B-38BF-B82C-5A509D1EE746}"/>
              </a:ext>
            </a:extLst>
          </p:cNvPr>
          <p:cNvSpPr/>
          <p:nvPr/>
        </p:nvSpPr>
        <p:spPr>
          <a:xfrm>
            <a:off x="5745042"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Liver</a:t>
            </a:r>
          </a:p>
          <a:p>
            <a:pPr algn="ctr"/>
            <a:r>
              <a:rPr lang="de-DE" sz="675" dirty="0"/>
              <a:t>N=</a:t>
            </a:r>
          </a:p>
        </p:txBody>
      </p:sp>
      <p:sp>
        <p:nvSpPr>
          <p:cNvPr id="15" name="Rechteck 14">
            <a:extLst>
              <a:ext uri="{FF2B5EF4-FFF2-40B4-BE49-F238E27FC236}">
                <a16:creationId xmlns:a16="http://schemas.microsoft.com/office/drawing/2014/main" id="{26CAC753-1FE4-CE30-7CDB-A92F3EF1CE07}"/>
              </a:ext>
            </a:extLst>
          </p:cNvPr>
          <p:cNvSpPr/>
          <p:nvPr/>
        </p:nvSpPr>
        <p:spPr>
          <a:xfrm>
            <a:off x="6783448"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SJS</a:t>
            </a:r>
          </a:p>
          <a:p>
            <a:pPr algn="ctr"/>
            <a:r>
              <a:rPr lang="de-DE" sz="675" dirty="0"/>
              <a:t>N=</a:t>
            </a:r>
          </a:p>
        </p:txBody>
      </p:sp>
      <p:sp>
        <p:nvSpPr>
          <p:cNvPr id="16" name="Rechteck 15">
            <a:extLst>
              <a:ext uri="{FF2B5EF4-FFF2-40B4-BE49-F238E27FC236}">
                <a16:creationId xmlns:a16="http://schemas.microsoft.com/office/drawing/2014/main" id="{71ED4FEC-9BBD-56BC-9BF8-9591F8FA625C}"/>
              </a:ext>
            </a:extLst>
          </p:cNvPr>
          <p:cNvSpPr/>
          <p:nvPr/>
        </p:nvSpPr>
        <p:spPr>
          <a:xfrm>
            <a:off x="7356835"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Skin</a:t>
            </a:r>
          </a:p>
          <a:p>
            <a:pPr algn="ctr"/>
            <a:r>
              <a:rPr lang="de-DE" sz="675" dirty="0"/>
              <a:t>N=</a:t>
            </a:r>
          </a:p>
        </p:txBody>
      </p:sp>
      <p:sp>
        <p:nvSpPr>
          <p:cNvPr id="17" name="Rechteck 16">
            <a:extLst>
              <a:ext uri="{FF2B5EF4-FFF2-40B4-BE49-F238E27FC236}">
                <a16:creationId xmlns:a16="http://schemas.microsoft.com/office/drawing/2014/main" id="{2B482AC3-C5E2-172F-0E7C-4555B16D7518}"/>
              </a:ext>
            </a:extLst>
          </p:cNvPr>
          <p:cNvSpPr/>
          <p:nvPr/>
        </p:nvSpPr>
        <p:spPr>
          <a:xfrm>
            <a:off x="7930221" y="4941140"/>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75" dirty="0"/>
              <a:t>Liver</a:t>
            </a:r>
          </a:p>
          <a:p>
            <a:pPr algn="ctr"/>
            <a:r>
              <a:rPr lang="de-DE" sz="675" dirty="0"/>
              <a:t>N=</a:t>
            </a:r>
          </a:p>
        </p:txBody>
      </p:sp>
      <p:sp>
        <p:nvSpPr>
          <p:cNvPr id="18" name="Rechteck 17">
            <a:extLst>
              <a:ext uri="{FF2B5EF4-FFF2-40B4-BE49-F238E27FC236}">
                <a16:creationId xmlns:a16="http://schemas.microsoft.com/office/drawing/2014/main" id="{D98307F2-4784-4498-88F2-62CB1801399A}"/>
              </a:ext>
            </a:extLst>
          </p:cNvPr>
          <p:cNvSpPr/>
          <p:nvPr/>
        </p:nvSpPr>
        <p:spPr>
          <a:xfrm>
            <a:off x="2413090"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SJS</a:t>
            </a:r>
          </a:p>
          <a:p>
            <a:pPr algn="ctr"/>
            <a:r>
              <a:rPr lang="de-DE" sz="619" dirty="0"/>
              <a:t>Cases N=1</a:t>
            </a:r>
          </a:p>
        </p:txBody>
      </p:sp>
      <p:sp>
        <p:nvSpPr>
          <p:cNvPr id="19" name="Rechteck 18">
            <a:extLst>
              <a:ext uri="{FF2B5EF4-FFF2-40B4-BE49-F238E27FC236}">
                <a16:creationId xmlns:a16="http://schemas.microsoft.com/office/drawing/2014/main" id="{806C8B1A-CD7B-C160-4DE9-27566CC0EFE1}"/>
              </a:ext>
            </a:extLst>
          </p:cNvPr>
          <p:cNvSpPr/>
          <p:nvPr/>
        </p:nvSpPr>
        <p:spPr>
          <a:xfrm>
            <a:off x="2986476"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Skin</a:t>
            </a:r>
          </a:p>
          <a:p>
            <a:pPr algn="ctr"/>
            <a:r>
              <a:rPr lang="de-DE" sz="619" dirty="0"/>
              <a:t>Cases N=1</a:t>
            </a:r>
          </a:p>
        </p:txBody>
      </p:sp>
      <p:sp>
        <p:nvSpPr>
          <p:cNvPr id="20" name="Rechteck 19">
            <a:extLst>
              <a:ext uri="{FF2B5EF4-FFF2-40B4-BE49-F238E27FC236}">
                <a16:creationId xmlns:a16="http://schemas.microsoft.com/office/drawing/2014/main" id="{ACE8A975-AE0C-0C7E-7F69-80077B62472A}"/>
              </a:ext>
            </a:extLst>
          </p:cNvPr>
          <p:cNvSpPr/>
          <p:nvPr/>
        </p:nvSpPr>
        <p:spPr>
          <a:xfrm>
            <a:off x="3559863"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Liver</a:t>
            </a:r>
          </a:p>
          <a:p>
            <a:pPr algn="ctr"/>
            <a:r>
              <a:rPr lang="de-DE" sz="619" dirty="0"/>
              <a:t>Cases N=73</a:t>
            </a:r>
          </a:p>
        </p:txBody>
      </p:sp>
      <p:sp>
        <p:nvSpPr>
          <p:cNvPr id="21" name="Rechteck 20">
            <a:extLst>
              <a:ext uri="{FF2B5EF4-FFF2-40B4-BE49-F238E27FC236}">
                <a16:creationId xmlns:a16="http://schemas.microsoft.com/office/drawing/2014/main" id="{BF5EE2C0-80B6-56AF-6FE4-AC19B96ECD83}"/>
              </a:ext>
            </a:extLst>
          </p:cNvPr>
          <p:cNvSpPr/>
          <p:nvPr/>
        </p:nvSpPr>
        <p:spPr>
          <a:xfrm>
            <a:off x="4598269"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SJS</a:t>
            </a:r>
          </a:p>
          <a:p>
            <a:pPr algn="ctr"/>
            <a:r>
              <a:rPr lang="de-DE" sz="619" dirty="0"/>
              <a:t>Cases N=2</a:t>
            </a:r>
          </a:p>
        </p:txBody>
      </p:sp>
      <p:sp>
        <p:nvSpPr>
          <p:cNvPr id="22" name="Rechteck 21">
            <a:extLst>
              <a:ext uri="{FF2B5EF4-FFF2-40B4-BE49-F238E27FC236}">
                <a16:creationId xmlns:a16="http://schemas.microsoft.com/office/drawing/2014/main" id="{B0695579-1CC0-67BF-19AD-7E63A56166A6}"/>
              </a:ext>
            </a:extLst>
          </p:cNvPr>
          <p:cNvSpPr/>
          <p:nvPr/>
        </p:nvSpPr>
        <p:spPr>
          <a:xfrm>
            <a:off x="5171656"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Skin</a:t>
            </a:r>
          </a:p>
          <a:p>
            <a:pPr algn="ctr"/>
            <a:r>
              <a:rPr lang="de-DE" sz="619" dirty="0"/>
              <a:t>Cases N=2</a:t>
            </a:r>
          </a:p>
        </p:txBody>
      </p:sp>
      <p:sp>
        <p:nvSpPr>
          <p:cNvPr id="23" name="Rechteck 22">
            <a:extLst>
              <a:ext uri="{FF2B5EF4-FFF2-40B4-BE49-F238E27FC236}">
                <a16:creationId xmlns:a16="http://schemas.microsoft.com/office/drawing/2014/main" id="{FD75EFFE-20EA-7D29-EFC8-7433402D4C99}"/>
              </a:ext>
            </a:extLst>
          </p:cNvPr>
          <p:cNvSpPr/>
          <p:nvPr/>
        </p:nvSpPr>
        <p:spPr>
          <a:xfrm>
            <a:off x="5745042"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Liver</a:t>
            </a:r>
          </a:p>
          <a:p>
            <a:pPr algn="ctr"/>
            <a:r>
              <a:rPr lang="de-DE" sz="619" dirty="0"/>
              <a:t>Cases N=42</a:t>
            </a:r>
          </a:p>
        </p:txBody>
      </p:sp>
      <p:sp>
        <p:nvSpPr>
          <p:cNvPr id="24" name="Rechteck 23">
            <a:extLst>
              <a:ext uri="{FF2B5EF4-FFF2-40B4-BE49-F238E27FC236}">
                <a16:creationId xmlns:a16="http://schemas.microsoft.com/office/drawing/2014/main" id="{33654BF8-29E2-80A1-A9F2-1C4B7AD25EE6}"/>
              </a:ext>
            </a:extLst>
          </p:cNvPr>
          <p:cNvSpPr/>
          <p:nvPr/>
        </p:nvSpPr>
        <p:spPr>
          <a:xfrm>
            <a:off x="6783448"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SJS</a:t>
            </a:r>
          </a:p>
          <a:p>
            <a:pPr algn="ctr"/>
            <a:r>
              <a:rPr lang="de-DE" sz="619" dirty="0"/>
              <a:t>Cases N=9</a:t>
            </a:r>
          </a:p>
        </p:txBody>
      </p:sp>
      <p:sp>
        <p:nvSpPr>
          <p:cNvPr id="25" name="Rechteck 24">
            <a:extLst>
              <a:ext uri="{FF2B5EF4-FFF2-40B4-BE49-F238E27FC236}">
                <a16:creationId xmlns:a16="http://schemas.microsoft.com/office/drawing/2014/main" id="{DD2A086C-00A0-2B29-5870-BCA5C8EC9386}"/>
              </a:ext>
            </a:extLst>
          </p:cNvPr>
          <p:cNvSpPr/>
          <p:nvPr/>
        </p:nvSpPr>
        <p:spPr>
          <a:xfrm>
            <a:off x="7356835"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Skin</a:t>
            </a:r>
          </a:p>
          <a:p>
            <a:pPr algn="ctr"/>
            <a:r>
              <a:rPr lang="de-DE" sz="619" dirty="0"/>
              <a:t>Cases N=2</a:t>
            </a:r>
          </a:p>
        </p:txBody>
      </p:sp>
      <p:sp>
        <p:nvSpPr>
          <p:cNvPr id="26" name="Rechteck 25">
            <a:extLst>
              <a:ext uri="{FF2B5EF4-FFF2-40B4-BE49-F238E27FC236}">
                <a16:creationId xmlns:a16="http://schemas.microsoft.com/office/drawing/2014/main" id="{B119AF48-8F2A-8DAC-BD0D-8FF15D98644B}"/>
              </a:ext>
            </a:extLst>
          </p:cNvPr>
          <p:cNvSpPr/>
          <p:nvPr/>
        </p:nvSpPr>
        <p:spPr>
          <a:xfrm>
            <a:off x="7930221" y="5543237"/>
            <a:ext cx="473915" cy="375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DE" sz="619" dirty="0"/>
              <a:t>Liver</a:t>
            </a:r>
          </a:p>
          <a:p>
            <a:pPr algn="ctr"/>
            <a:r>
              <a:rPr lang="de-DE" sz="619" dirty="0"/>
              <a:t>Cases N=43</a:t>
            </a:r>
          </a:p>
        </p:txBody>
      </p:sp>
      <p:sp>
        <p:nvSpPr>
          <p:cNvPr id="27" name="Textfeld 26">
            <a:extLst>
              <a:ext uri="{FF2B5EF4-FFF2-40B4-BE49-F238E27FC236}">
                <a16:creationId xmlns:a16="http://schemas.microsoft.com/office/drawing/2014/main" id="{474D8B70-A246-9D5A-C698-E9725FF78199}"/>
              </a:ext>
            </a:extLst>
          </p:cNvPr>
          <p:cNvSpPr txBox="1"/>
          <p:nvPr/>
        </p:nvSpPr>
        <p:spPr>
          <a:xfrm>
            <a:off x="2887004" y="5335488"/>
            <a:ext cx="5170593" cy="248209"/>
          </a:xfrm>
          <a:prstGeom prst="rect">
            <a:avLst/>
          </a:prstGeom>
          <a:noFill/>
        </p:spPr>
        <p:txBody>
          <a:bodyPr wrap="square">
            <a:spAutoFit/>
          </a:bodyPr>
          <a:lstStyle/>
          <a:p>
            <a:pPr algn="ctr"/>
            <a:r>
              <a:rPr lang="de-DE" sz="1013" dirty="0" err="1"/>
              <a:t>Filtering</a:t>
            </a:r>
            <a:r>
              <a:rPr lang="de-DE" sz="1013" dirty="0"/>
              <a:t> </a:t>
            </a:r>
            <a:r>
              <a:rPr lang="de-DE" sz="1013" dirty="0" err="1"/>
              <a:t>Patients</a:t>
            </a:r>
            <a:r>
              <a:rPr lang="de-DE" sz="1013" dirty="0"/>
              <a:t> </a:t>
            </a:r>
            <a:r>
              <a:rPr lang="de-DE" sz="1013" dirty="0" err="1"/>
              <a:t>with</a:t>
            </a:r>
            <a:r>
              <a:rPr lang="de-DE" sz="1013" dirty="0"/>
              <a:t> </a:t>
            </a:r>
            <a:r>
              <a:rPr lang="de-DE" sz="1013" dirty="0" err="1"/>
              <a:t>cumulative</a:t>
            </a:r>
            <a:r>
              <a:rPr lang="de-DE" sz="1013" dirty="0"/>
              <a:t> </a:t>
            </a:r>
            <a:r>
              <a:rPr lang="de-DE" sz="1013" dirty="0" err="1"/>
              <a:t>dosis</a:t>
            </a:r>
            <a:endParaRPr lang="de-DE" sz="1013" dirty="0"/>
          </a:p>
        </p:txBody>
      </p:sp>
    </p:spTree>
    <p:extLst>
      <p:ext uri="{BB962C8B-B14F-4D97-AF65-F5344CB8AC3E}">
        <p14:creationId xmlns:p14="http://schemas.microsoft.com/office/powerpoint/2010/main" val="1197378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27A0F692-458E-9ED5-519B-5B3542BB235C}"/>
              </a:ext>
            </a:extLst>
          </p:cNvPr>
          <p:cNvSpPr txBox="1"/>
          <p:nvPr/>
        </p:nvSpPr>
        <p:spPr>
          <a:xfrm>
            <a:off x="2360612" y="342901"/>
            <a:ext cx="6047096" cy="15481161"/>
          </a:xfrm>
          <a:prstGeom prst="rect">
            <a:avLst/>
          </a:prstGeom>
          <a:noFill/>
        </p:spPr>
        <p:txBody>
          <a:bodyPr wrap="square" rtlCol="0">
            <a:spAutoFit/>
          </a:bodyPr>
          <a:lstStyle/>
          <a:p>
            <a:r>
              <a:rPr lang="de-DE" sz="800" dirty="0"/>
              <a:t>Protokoll der Auswertung:</a:t>
            </a:r>
          </a:p>
          <a:p>
            <a:pPr marL="171450" indent="-171450">
              <a:buFont typeface="Symbol" panose="05050102010706020507" pitchFamily="18" charset="2"/>
              <a:buChar char="-"/>
            </a:pPr>
            <a:r>
              <a:rPr lang="de-DE" sz="800" dirty="0"/>
              <a:t>Übersicht (</a:t>
            </a:r>
            <a:r>
              <a:rPr lang="de-DE" sz="800" dirty="0" err="1"/>
              <a:t>Decitiontable</a:t>
            </a:r>
            <a:r>
              <a:rPr lang="de-DE" sz="800" dirty="0"/>
              <a:t>): welche Kategorien von Daten sind vorhanden und wie kann man die gruppieren</a:t>
            </a:r>
          </a:p>
          <a:p>
            <a:pPr marL="171450" indent="-171450">
              <a:buFont typeface="Symbol" panose="05050102010706020507" pitchFamily="18" charset="2"/>
              <a:buChar char="-"/>
            </a:pPr>
            <a:r>
              <a:rPr lang="de-DE" sz="800" dirty="0" err="1"/>
              <a:t>Comparison</a:t>
            </a:r>
            <a:r>
              <a:rPr lang="de-DE" sz="800" dirty="0"/>
              <a:t> </a:t>
            </a:r>
            <a:r>
              <a:rPr lang="de-DE" sz="800" dirty="0" err="1"/>
              <a:t>group</a:t>
            </a:r>
            <a:r>
              <a:rPr lang="de-DE" sz="800" dirty="0"/>
              <a:t> (ehemals „Control </a:t>
            </a:r>
            <a:r>
              <a:rPr lang="de-DE" sz="800" dirty="0" err="1"/>
              <a:t>group</a:t>
            </a:r>
            <a:r>
              <a:rPr lang="de-DE" sz="800" dirty="0"/>
              <a:t>“) (= Fälle ohne Anfangsdatum): </a:t>
            </a:r>
          </a:p>
          <a:p>
            <a:pPr marL="628650" lvl="1" indent="-171450">
              <a:buFont typeface="Symbol" panose="05050102010706020507" pitchFamily="18" charset="2"/>
              <a:buChar char="-"/>
            </a:pPr>
            <a:r>
              <a:rPr lang="de-DE" sz="800" dirty="0"/>
              <a:t>Fälle gezählt und in Gruppen unterteilt, ob Infos bezüglich Dosis und zeitl. Verlauf der Laborwerte vorhanden sind, diese Einteilung grafisch dargestellt und anhand der Grafik das Layout der Tabelle für Datenerhebung festgelegt (Dateipfad: „ E:\Daten(x)\Daten(lw-r)\Abc\Doktorarbeit SJS\Analyse R-</a:t>
            </a:r>
            <a:r>
              <a:rPr lang="de-DE" sz="800" dirty="0" err="1"/>
              <a:t>Statistics</a:t>
            </a:r>
            <a:r>
              <a:rPr lang="de-DE" sz="800" dirty="0"/>
              <a:t>\</a:t>
            </a:r>
            <a:r>
              <a:rPr lang="de-DE" sz="800" dirty="0" err="1"/>
              <a:t>comparison</a:t>
            </a:r>
            <a:r>
              <a:rPr lang="de-DE" sz="800" dirty="0"/>
              <a:t> </a:t>
            </a:r>
            <a:r>
              <a:rPr lang="de-DE" sz="800" dirty="0" err="1"/>
              <a:t>group</a:t>
            </a:r>
            <a:r>
              <a:rPr lang="de-DE" sz="800" dirty="0"/>
              <a:t>“, Datei: „</a:t>
            </a:r>
            <a:r>
              <a:rPr lang="en-US" sz="800" dirty="0"/>
              <a:t> comparison </a:t>
            </a:r>
            <a:r>
              <a:rPr lang="en-US" sz="800" dirty="0" err="1"/>
              <a:t>goup</a:t>
            </a:r>
            <a:r>
              <a:rPr lang="en-US" sz="800" dirty="0"/>
              <a:t> count </a:t>
            </a:r>
            <a:r>
              <a:rPr lang="en-US" sz="800" dirty="0" err="1"/>
              <a:t>Dosis</a:t>
            </a:r>
            <a:r>
              <a:rPr lang="en-US" sz="800" dirty="0"/>
              <a:t> and </a:t>
            </a:r>
            <a:r>
              <a:rPr lang="en-US" sz="800" dirty="0" err="1"/>
              <a:t>Labvalues</a:t>
            </a:r>
            <a:r>
              <a:rPr lang="en-US" sz="800" dirty="0"/>
              <a:t> with timelaps.xlsx”)</a:t>
            </a:r>
          </a:p>
          <a:p>
            <a:pPr marL="628650" lvl="1" indent="-171450">
              <a:buFont typeface="Symbol" panose="05050102010706020507" pitchFamily="18" charset="2"/>
              <a:buChar char="-"/>
            </a:pPr>
            <a:r>
              <a:rPr lang="de-DE" sz="800" dirty="0"/>
              <a:t>Fälle herausgeschrieben („Übersicht Laborwerte (aktuelle Version)“ in „</a:t>
            </a:r>
            <a:r>
              <a:rPr lang="de-DE" sz="800" dirty="0" err="1"/>
              <a:t>Controlgroup</a:t>
            </a:r>
            <a:r>
              <a:rPr lang="de-DE" sz="800" dirty="0"/>
              <a:t> time“ und </a:t>
            </a:r>
            <a:r>
              <a:rPr lang="de-DE" sz="800" dirty="0" err="1"/>
              <a:t>Controlgroup</a:t>
            </a:r>
            <a:r>
              <a:rPr lang="de-DE" sz="800" dirty="0"/>
              <a:t> </a:t>
            </a:r>
            <a:r>
              <a:rPr lang="de-DE" sz="800" dirty="0" err="1"/>
              <a:t>no</a:t>
            </a:r>
            <a:r>
              <a:rPr lang="de-DE" sz="800" dirty="0"/>
              <a:t> time“</a:t>
            </a:r>
          </a:p>
          <a:p>
            <a:pPr marL="628650" lvl="1" indent="-171450">
              <a:buFont typeface="Symbol" panose="05050102010706020507" pitchFamily="18" charset="2"/>
              <a:buChar char="-"/>
            </a:pPr>
            <a:r>
              <a:rPr lang="de-DE" sz="800" dirty="0">
                <a:solidFill>
                  <a:srgbClr val="FF0000"/>
                </a:solidFill>
              </a:rPr>
              <a:t>Statistiken von </a:t>
            </a:r>
            <a:r>
              <a:rPr lang="de-DE" sz="800" dirty="0" err="1">
                <a:solidFill>
                  <a:srgbClr val="FF0000"/>
                </a:solidFill>
              </a:rPr>
              <a:t>testgroup</a:t>
            </a:r>
            <a:r>
              <a:rPr lang="de-DE" sz="800" dirty="0">
                <a:solidFill>
                  <a:srgbClr val="FF0000"/>
                </a:solidFill>
              </a:rPr>
              <a:t> auch für </a:t>
            </a:r>
            <a:r>
              <a:rPr lang="de-DE" sz="800" dirty="0" err="1">
                <a:solidFill>
                  <a:srgbClr val="FF0000"/>
                </a:solidFill>
              </a:rPr>
              <a:t>Controlgroup</a:t>
            </a:r>
            <a:r>
              <a:rPr lang="de-DE" sz="800" dirty="0">
                <a:solidFill>
                  <a:srgbClr val="FF0000"/>
                </a:solidFill>
              </a:rPr>
              <a:t> durchführen</a:t>
            </a:r>
          </a:p>
          <a:p>
            <a:pPr marL="628650" lvl="1" indent="-171450">
              <a:buFont typeface="Symbol" panose="05050102010706020507" pitchFamily="18" charset="2"/>
              <a:buChar char="-"/>
            </a:pPr>
            <a:r>
              <a:rPr lang="de-DE" sz="800" dirty="0"/>
              <a:t>Vergleich zwischen Geschlechtern durchgeführt (wie bei Test-Gruppe) (E:\Daten(x)\Daten(lw-r)\Abc\Doktorarbeit SJS\Analyse R-</a:t>
            </a:r>
            <a:r>
              <a:rPr lang="de-DE" sz="800" dirty="0" err="1"/>
              <a:t>Statistics</a:t>
            </a:r>
            <a:r>
              <a:rPr lang="de-DE" sz="800" dirty="0"/>
              <a:t>\</a:t>
            </a:r>
            <a:r>
              <a:rPr lang="de-DE" sz="800" dirty="0" err="1"/>
              <a:t>comparison</a:t>
            </a:r>
            <a:r>
              <a:rPr lang="de-DE" sz="800" dirty="0"/>
              <a:t> </a:t>
            </a:r>
            <a:r>
              <a:rPr lang="de-DE" sz="800" dirty="0" err="1"/>
              <a:t>group</a:t>
            </a:r>
            <a:r>
              <a:rPr lang="de-DE" sz="800" dirty="0"/>
              <a:t>\Ergebnis Vergleich </a:t>
            </a:r>
            <a:r>
              <a:rPr lang="de-DE" sz="800" dirty="0" err="1"/>
              <a:t>männl_weibl</a:t>
            </a:r>
            <a:r>
              <a:rPr lang="de-DE" sz="800" dirty="0"/>
              <a:t>\</a:t>
            </a:r>
            <a:r>
              <a:rPr lang="de-DE" sz="800" dirty="0" err="1"/>
              <a:t>cgnt</a:t>
            </a:r>
            <a:r>
              <a:rPr lang="de-DE" sz="800" dirty="0"/>
              <a:t> </a:t>
            </a:r>
            <a:r>
              <a:rPr lang="de-DE" sz="800" u="sng" dirty="0"/>
              <a:t>oder</a:t>
            </a:r>
            <a:r>
              <a:rPr lang="de-DE" sz="800" dirty="0"/>
              <a:t> </a:t>
            </a:r>
            <a:r>
              <a:rPr lang="de-DE" sz="800" dirty="0" err="1"/>
              <a:t>cgt</a:t>
            </a:r>
            <a:r>
              <a:rPr lang="de-DE" sz="800" dirty="0"/>
              <a:t>)</a:t>
            </a:r>
          </a:p>
          <a:p>
            <a:pPr marL="628650" lvl="1" indent="-171450">
              <a:buFont typeface="Symbol" panose="05050102010706020507" pitchFamily="18" charset="2"/>
              <a:buChar char="-"/>
            </a:pPr>
            <a:r>
              <a:rPr lang="en-US" sz="800" dirty="0" err="1"/>
              <a:t>Korrelatoin</a:t>
            </a:r>
            <a:r>
              <a:rPr lang="en-US" sz="800" dirty="0"/>
              <a:t> </a:t>
            </a:r>
            <a:r>
              <a:rPr lang="en-US" sz="800" dirty="0" err="1"/>
              <a:t>zw</a:t>
            </a:r>
            <a:r>
              <a:rPr lang="en-US" sz="800" dirty="0"/>
              <a:t>. </a:t>
            </a:r>
            <a:r>
              <a:rPr lang="en-US" sz="800" dirty="0" err="1"/>
              <a:t>Dosis</a:t>
            </a:r>
            <a:r>
              <a:rPr lang="en-US" sz="800" dirty="0"/>
              <a:t> und </a:t>
            </a:r>
            <a:r>
              <a:rPr lang="en-US" sz="800" dirty="0" err="1"/>
              <a:t>Laborwerten</a:t>
            </a:r>
            <a:r>
              <a:rPr lang="en-US" sz="800" dirty="0"/>
              <a:t> </a:t>
            </a:r>
            <a:r>
              <a:rPr lang="en-US" sz="800" dirty="0" err="1"/>
              <a:t>untersucht</a:t>
            </a:r>
            <a:r>
              <a:rPr lang="en-US" sz="800" dirty="0"/>
              <a:t> (</a:t>
            </a:r>
            <a:r>
              <a:rPr lang="en-US" sz="800" dirty="0" err="1"/>
              <a:t>wie</a:t>
            </a:r>
            <a:r>
              <a:rPr lang="en-US" sz="800" dirty="0"/>
              <a:t> </a:t>
            </a:r>
            <a:r>
              <a:rPr lang="en-US" sz="800" dirty="0" err="1"/>
              <a:t>bei</a:t>
            </a:r>
            <a:r>
              <a:rPr lang="en-US" sz="800" dirty="0"/>
              <a:t> Test-Gruppe) (E:\</a:t>
            </a:r>
            <a:r>
              <a:rPr lang="en-US" sz="800" dirty="0" err="1"/>
              <a:t>Daten</a:t>
            </a:r>
            <a:r>
              <a:rPr lang="en-US" sz="800" dirty="0"/>
              <a:t>(x)\</a:t>
            </a:r>
            <a:r>
              <a:rPr lang="en-US" sz="800" dirty="0" err="1"/>
              <a:t>Daten</a:t>
            </a:r>
            <a:r>
              <a:rPr lang="en-US" sz="800" dirty="0"/>
              <a:t>(lw-r)\</a:t>
            </a:r>
            <a:r>
              <a:rPr lang="en-US" sz="800" dirty="0" err="1"/>
              <a:t>Abc</a:t>
            </a:r>
            <a:r>
              <a:rPr lang="en-US" sz="800" dirty="0"/>
              <a:t>\</a:t>
            </a:r>
            <a:r>
              <a:rPr lang="en-US" sz="800" dirty="0" err="1"/>
              <a:t>Doktorarbeit</a:t>
            </a:r>
            <a:r>
              <a:rPr lang="en-US" sz="800" dirty="0"/>
              <a:t> SJS\</a:t>
            </a:r>
            <a:r>
              <a:rPr lang="en-US" sz="800" dirty="0" err="1"/>
              <a:t>Analyse</a:t>
            </a:r>
            <a:r>
              <a:rPr lang="en-US" sz="800" dirty="0"/>
              <a:t> R-Statistics\comparison group\</a:t>
            </a:r>
            <a:r>
              <a:rPr lang="en-US" sz="800" dirty="0" err="1"/>
              <a:t>Ergebnis</a:t>
            </a:r>
            <a:r>
              <a:rPr lang="en-US" sz="800" dirty="0"/>
              <a:t> </a:t>
            </a:r>
            <a:r>
              <a:rPr lang="en-US" sz="800" dirty="0" err="1"/>
              <a:t>Vergleich</a:t>
            </a:r>
            <a:r>
              <a:rPr lang="en-US" sz="800" dirty="0"/>
              <a:t> </a:t>
            </a:r>
            <a:r>
              <a:rPr lang="en-US" sz="800" dirty="0" err="1"/>
              <a:t>dosis_labvalues</a:t>
            </a:r>
            <a:r>
              <a:rPr lang="en-US" sz="800" dirty="0"/>
              <a:t>\</a:t>
            </a:r>
            <a:r>
              <a:rPr lang="en-US" sz="800" dirty="0" err="1"/>
              <a:t>cgnt</a:t>
            </a:r>
            <a:r>
              <a:rPr lang="en-US" sz="800" dirty="0"/>
              <a:t>)</a:t>
            </a:r>
            <a:endParaRPr lang="de-DE" sz="800" dirty="0"/>
          </a:p>
          <a:p>
            <a:pPr marL="171450" indent="-171450">
              <a:buFont typeface="Symbol" panose="05050102010706020507" pitchFamily="18" charset="2"/>
              <a:buChar char="-"/>
            </a:pPr>
            <a:r>
              <a:rPr lang="de-DE" sz="800" dirty="0"/>
              <a:t>Control </a:t>
            </a:r>
            <a:r>
              <a:rPr lang="de-DE" sz="800" dirty="0" err="1"/>
              <a:t>visit</a:t>
            </a:r>
            <a:r>
              <a:rPr lang="de-DE" sz="800" dirty="0"/>
              <a:t> </a:t>
            </a:r>
            <a:r>
              <a:rPr lang="de-DE" sz="800" dirty="0" err="1"/>
              <a:t>group</a:t>
            </a:r>
            <a:r>
              <a:rPr lang="de-DE" sz="800" dirty="0"/>
              <a:t> (Ehemals Kontrollgruppe2) (= Laborwerte vor Krankheitsbeginn erhoben): Daten wurden zusammen mit Test-Gruppe analysiert letztes Mal im Mai</a:t>
            </a:r>
          </a:p>
          <a:p>
            <a:pPr marL="628650" lvl="1" indent="-171450">
              <a:buFont typeface="Symbol" panose="05050102010706020507" pitchFamily="18" charset="2"/>
              <a:buChar char="-"/>
            </a:pPr>
            <a:r>
              <a:rPr lang="de-DE" sz="800" dirty="0"/>
              <a:t>Control </a:t>
            </a:r>
            <a:r>
              <a:rPr lang="de-DE" sz="800" dirty="0" err="1"/>
              <a:t>visit</a:t>
            </a:r>
            <a:r>
              <a:rPr lang="de-DE" sz="800" dirty="0"/>
              <a:t> </a:t>
            </a:r>
            <a:r>
              <a:rPr lang="de-DE" sz="800" dirty="0" err="1"/>
              <a:t>group</a:t>
            </a:r>
            <a:r>
              <a:rPr lang="de-DE" sz="800" dirty="0"/>
              <a:t>: Daten werden grafisch dargestellt, um zu schauen, was vorhanden ist</a:t>
            </a:r>
          </a:p>
          <a:p>
            <a:pPr marL="1085850" lvl="2" indent="-171450">
              <a:buFont typeface="Symbol" panose="05050102010706020507" pitchFamily="18" charset="2"/>
              <a:buChar char="-"/>
            </a:pPr>
            <a:r>
              <a:rPr lang="de-DE" sz="800" dirty="0"/>
              <a:t>Hier sind die Zeitpunkte der Messungen egal, da es sich nur um Kontrollwerte handelt, die alle eig. nicht erhöht sein sollten</a:t>
            </a:r>
          </a:p>
          <a:p>
            <a:pPr marL="1085850" lvl="2" indent="-171450">
              <a:buFont typeface="Symbol" panose="05050102010706020507" pitchFamily="18" charset="2"/>
              <a:buChar char="-"/>
            </a:pPr>
            <a:r>
              <a:rPr lang="de-DE" sz="800" dirty="0"/>
              <a:t>Hier gilt auch nicht die Grenze von 3 Messungen pro Zeitpunkt, weil es nur Kontrollwerte sind</a:t>
            </a:r>
          </a:p>
          <a:p>
            <a:pPr marL="1085850" lvl="2" indent="-171450">
              <a:buFont typeface="Symbol" panose="05050102010706020507" pitchFamily="18" charset="2"/>
              <a:buChar char="-"/>
            </a:pPr>
            <a:r>
              <a:rPr lang="de-DE" sz="800" dirty="0"/>
              <a:t>Grafische Darstellung, zu welchem Pat. wie viel Werte vorhanden sind und wie hoch diese sind (Ordner: „Control </a:t>
            </a:r>
            <a:r>
              <a:rPr lang="de-DE" sz="800" dirty="0" err="1"/>
              <a:t>visit</a:t>
            </a:r>
            <a:r>
              <a:rPr lang="de-DE" sz="800" dirty="0"/>
              <a:t> </a:t>
            </a:r>
            <a:r>
              <a:rPr lang="de-DE" sz="800" dirty="0" err="1"/>
              <a:t>group</a:t>
            </a:r>
            <a:r>
              <a:rPr lang="de-DE" sz="800" dirty="0"/>
              <a:t>“, Datei: „</a:t>
            </a:r>
            <a:r>
              <a:rPr lang="en-US" sz="800" dirty="0"/>
              <a:t>control visit group graphs for </a:t>
            </a:r>
            <a:r>
              <a:rPr lang="en-US" sz="800" dirty="0" err="1"/>
              <a:t>labreads</a:t>
            </a:r>
            <a:r>
              <a:rPr lang="en-US" sz="800" dirty="0"/>
              <a:t> liver_diclo.pptx”</a:t>
            </a:r>
          </a:p>
          <a:p>
            <a:pPr marL="1085850" lvl="2" indent="-171450">
              <a:buFont typeface="Symbol" panose="05050102010706020507" pitchFamily="18" charset="2"/>
              <a:buChar char="-"/>
            </a:pPr>
            <a:r>
              <a:rPr lang="en-US" sz="800" dirty="0" err="1"/>
              <a:t>Grafiken</a:t>
            </a:r>
            <a:r>
              <a:rPr lang="en-US" sz="800" dirty="0"/>
              <a:t> </a:t>
            </a:r>
            <a:r>
              <a:rPr lang="en-US" sz="800" dirty="0" err="1"/>
              <a:t>noch</a:t>
            </a:r>
            <a:r>
              <a:rPr lang="en-US" sz="800" dirty="0"/>
              <a:t> </a:t>
            </a:r>
            <a:r>
              <a:rPr lang="en-US" sz="800" dirty="0" err="1"/>
              <a:t>erstellt</a:t>
            </a:r>
            <a:r>
              <a:rPr lang="en-US" sz="800" dirty="0"/>
              <a:t> für Leber Ibu und Para</a:t>
            </a:r>
          </a:p>
          <a:p>
            <a:pPr marL="1085850" lvl="2" indent="-171450">
              <a:buFont typeface="Symbol" panose="05050102010706020507" pitchFamily="18" charset="2"/>
              <a:buChar char="-"/>
            </a:pPr>
            <a:r>
              <a:rPr lang="en-US" sz="800" dirty="0" err="1"/>
              <a:t>Nicht</a:t>
            </a:r>
            <a:r>
              <a:rPr lang="en-US" sz="800" dirty="0"/>
              <a:t> für SJS und Haut </a:t>
            </a:r>
            <a:r>
              <a:rPr lang="en-US" sz="800" dirty="0" err="1"/>
              <a:t>erstellen?ja</a:t>
            </a:r>
            <a:endParaRPr lang="en-US" sz="800" dirty="0"/>
          </a:p>
          <a:p>
            <a:pPr marL="1085850" lvl="2" indent="-171450">
              <a:buFont typeface="Symbol" panose="05050102010706020507" pitchFamily="18" charset="2"/>
              <a:buChar char="-"/>
            </a:pPr>
            <a:r>
              <a:rPr lang="en-US" sz="800" dirty="0" err="1"/>
              <a:t>herausstechende</a:t>
            </a:r>
            <a:r>
              <a:rPr lang="en-US" sz="800" dirty="0"/>
              <a:t> </a:t>
            </a:r>
            <a:r>
              <a:rPr lang="en-US" sz="800" dirty="0" err="1"/>
              <a:t>Werte</a:t>
            </a:r>
            <a:r>
              <a:rPr lang="en-US" sz="800" dirty="0"/>
              <a:t> </a:t>
            </a:r>
            <a:r>
              <a:rPr lang="en-US" sz="800" dirty="0" err="1"/>
              <a:t>kontrolliert</a:t>
            </a:r>
            <a:r>
              <a:rPr lang="en-US" sz="800" dirty="0"/>
              <a:t> und </a:t>
            </a:r>
            <a:r>
              <a:rPr lang="en-US" sz="800" dirty="0" err="1"/>
              <a:t>korrigiert</a:t>
            </a:r>
            <a:r>
              <a:rPr lang="en-US" sz="800" dirty="0"/>
              <a:t>, falls </a:t>
            </a:r>
            <a:r>
              <a:rPr lang="en-US" sz="800" dirty="0" err="1"/>
              <a:t>falsch</a:t>
            </a:r>
            <a:r>
              <a:rPr lang="en-US" sz="800" dirty="0"/>
              <a:t> </a:t>
            </a:r>
            <a:r>
              <a:rPr lang="en-US" sz="800" dirty="0" err="1"/>
              <a:t>erhoben</a:t>
            </a:r>
            <a:endParaRPr lang="de-DE" sz="800" dirty="0"/>
          </a:p>
          <a:p>
            <a:pPr marL="171450" indent="-171450">
              <a:buFont typeface="Symbol" panose="05050102010706020507" pitchFamily="18" charset="2"/>
              <a:buChar char="-"/>
            </a:pPr>
            <a:r>
              <a:rPr lang="de-DE" sz="800" dirty="0"/>
              <a:t>Test-Gruppe (Fälle mit Anfangsdatum)</a:t>
            </a:r>
          </a:p>
          <a:p>
            <a:pPr marL="628650" lvl="1" indent="-171450">
              <a:buFont typeface="Symbol" panose="05050102010706020507" pitchFamily="18" charset="2"/>
              <a:buChar char="-"/>
            </a:pPr>
            <a:r>
              <a:rPr lang="de-DE" sz="800" dirty="0"/>
              <a:t>Laborwerte zählen: „</a:t>
            </a:r>
            <a:r>
              <a:rPr lang="en-US" sz="800" dirty="0"/>
              <a:t>count </a:t>
            </a:r>
            <a:r>
              <a:rPr lang="en-US" sz="800" dirty="0" err="1"/>
              <a:t>labvalues</a:t>
            </a:r>
            <a:r>
              <a:rPr lang="en-US" sz="800" dirty="0"/>
              <a:t> greater then 3 per timepoint.xlsx”</a:t>
            </a:r>
          </a:p>
          <a:p>
            <a:pPr marL="1085850" lvl="2" indent="-171450">
              <a:buFont typeface="Symbol" panose="05050102010706020507" pitchFamily="18" charset="2"/>
              <a:buChar char="-"/>
            </a:pPr>
            <a:r>
              <a:rPr lang="en-US" sz="800" dirty="0"/>
              <a:t>Alle </a:t>
            </a:r>
            <a:r>
              <a:rPr lang="en-US" sz="800" dirty="0" err="1"/>
              <a:t>Laborwerte</a:t>
            </a:r>
            <a:r>
              <a:rPr lang="en-US" sz="800" dirty="0"/>
              <a:t> </a:t>
            </a:r>
            <a:r>
              <a:rPr lang="en-US" sz="800" dirty="0" err="1"/>
              <a:t>gezählt</a:t>
            </a:r>
            <a:r>
              <a:rPr lang="en-US" sz="800" dirty="0"/>
              <a:t> (</a:t>
            </a:r>
            <a:r>
              <a:rPr lang="en-US" sz="800" dirty="0" err="1"/>
              <a:t>aber</a:t>
            </a:r>
            <a:r>
              <a:rPr lang="en-US" sz="800" dirty="0"/>
              <a:t> </a:t>
            </a:r>
            <a:r>
              <a:rPr lang="en-US" sz="800" dirty="0" err="1"/>
              <a:t>mit</a:t>
            </a:r>
            <a:r>
              <a:rPr lang="en-US" sz="800" dirty="0"/>
              <a:t> control visit group und “Tag </a:t>
            </a:r>
            <a:r>
              <a:rPr lang="en-US" sz="800" dirty="0" err="1"/>
              <a:t>unbekannt</a:t>
            </a:r>
            <a:r>
              <a:rPr lang="en-US" sz="800" dirty="0"/>
              <a:t>” </a:t>
            </a:r>
            <a:r>
              <a:rPr lang="en-US" sz="800" dirty="0" err="1"/>
              <a:t>eingeschlossen</a:t>
            </a:r>
            <a:r>
              <a:rPr lang="en-US" sz="800" dirty="0"/>
              <a:t>)</a:t>
            </a:r>
          </a:p>
          <a:p>
            <a:pPr marL="1085850" lvl="2" indent="-171450">
              <a:buFont typeface="Symbol" panose="05050102010706020507" pitchFamily="18" charset="2"/>
              <a:buChar char="-"/>
            </a:pPr>
            <a:r>
              <a:rPr lang="de-DE" sz="800" dirty="0"/>
              <a:t>Anzahl der Laborwerte gezählt, wenn nach ≥3 Werten pro Zeitpunkt gefiltert wird (aber mit Control </a:t>
            </a:r>
            <a:r>
              <a:rPr lang="de-DE" sz="800" dirty="0" err="1"/>
              <a:t>visit</a:t>
            </a:r>
            <a:r>
              <a:rPr lang="de-DE" sz="800" dirty="0"/>
              <a:t> </a:t>
            </a:r>
            <a:r>
              <a:rPr lang="de-DE" sz="800" dirty="0" err="1"/>
              <a:t>group</a:t>
            </a:r>
            <a:r>
              <a:rPr lang="de-DE" sz="800" dirty="0"/>
              <a:t> + „Tag unbekannt“ eingeschlossen)</a:t>
            </a:r>
          </a:p>
          <a:p>
            <a:pPr marL="1085850" lvl="2" indent="-171450">
              <a:buFont typeface="Symbol" panose="05050102010706020507" pitchFamily="18" charset="2"/>
              <a:buChar char="-"/>
            </a:pPr>
            <a:r>
              <a:rPr lang="de-DE" sz="800" dirty="0"/>
              <a:t>Anzahl der Laborwerte gezählt, wenn nach ≥3 Werten pro Zeitpunkt gefiltert wird (ohne Control </a:t>
            </a:r>
            <a:r>
              <a:rPr lang="de-DE" sz="800" dirty="0" err="1"/>
              <a:t>visit</a:t>
            </a:r>
            <a:r>
              <a:rPr lang="de-DE" sz="800" dirty="0"/>
              <a:t> </a:t>
            </a:r>
            <a:r>
              <a:rPr lang="de-DE" sz="800" dirty="0" err="1"/>
              <a:t>group</a:t>
            </a:r>
            <a:r>
              <a:rPr lang="de-DE" sz="800" dirty="0"/>
              <a:t>  + „Tag unbekannt“ eingeschlossen)</a:t>
            </a:r>
          </a:p>
          <a:p>
            <a:pPr marL="1085850" lvl="2" indent="-171450">
              <a:buFont typeface="Symbol" panose="05050102010706020507" pitchFamily="18" charset="2"/>
              <a:buChar char="-"/>
            </a:pPr>
            <a:r>
              <a:rPr lang="de-DE" sz="800" dirty="0"/>
              <a:t>Laborwerte grafisch dargestellt in </a:t>
            </a:r>
            <a:r>
              <a:rPr lang="de-DE" sz="800" dirty="0" err="1"/>
              <a:t>boxplot</a:t>
            </a:r>
            <a:r>
              <a:rPr lang="de-DE" sz="800" dirty="0"/>
              <a:t> (Ergebnisse leber_diclo_männl_weibl_allezeitpunkte.pptx) vorzeigen</a:t>
            </a:r>
          </a:p>
          <a:p>
            <a:pPr marL="628650" lvl="1" indent="-171450">
              <a:buFont typeface="Symbol" panose="05050102010706020507" pitchFamily="18" charset="2"/>
              <a:buChar char="-"/>
            </a:pPr>
            <a:r>
              <a:rPr lang="de-DE" sz="800" dirty="0"/>
              <a:t>Pat. mit zeitlichem Verlauf an Laborwerten gezählt</a:t>
            </a:r>
          </a:p>
          <a:p>
            <a:pPr marL="1085850" lvl="2" indent="-171450">
              <a:buFont typeface="Symbol" panose="05050102010706020507" pitchFamily="18" charset="2"/>
              <a:buChar char="-"/>
            </a:pPr>
            <a:r>
              <a:rPr lang="de-DE" sz="800" dirty="0"/>
              <a:t>Alle Pat. gezählt, welche einen zeitlichen Verlauf von ≥3 Werten pro Fall aufweisen für die verschiedenen Laborparameter („</a:t>
            </a:r>
            <a:r>
              <a:rPr lang="en-US" sz="800" dirty="0"/>
              <a:t>count patients with time course test group.xlsx”</a:t>
            </a:r>
            <a:r>
              <a:rPr lang="de-DE" sz="800" dirty="0"/>
              <a:t>)</a:t>
            </a:r>
          </a:p>
          <a:p>
            <a:pPr marL="1085850" lvl="2" indent="-171450">
              <a:buFont typeface="Symbol" panose="05050102010706020507" pitchFamily="18" charset="2"/>
              <a:buChar char="-"/>
            </a:pPr>
            <a:r>
              <a:rPr lang="de-DE" sz="800" dirty="0"/>
              <a:t>Graphisch dargestellt, welche dieser zeitl.-Verlauf-Werte bei mehreren Pat. zum gleichen Zeitpunkt vorkommen und somit vergleichbar sind (Ordner: „</a:t>
            </a:r>
            <a:r>
              <a:rPr lang="de-DE" sz="800" dirty="0" err="1"/>
              <a:t>cases</a:t>
            </a:r>
            <a:r>
              <a:rPr lang="de-DE" sz="800" dirty="0"/>
              <a:t> </a:t>
            </a:r>
            <a:r>
              <a:rPr lang="de-DE" sz="800" dirty="0" err="1"/>
              <a:t>with</a:t>
            </a:r>
            <a:r>
              <a:rPr lang="de-DE" sz="800" dirty="0"/>
              <a:t> time </a:t>
            </a:r>
            <a:r>
              <a:rPr lang="de-DE" sz="800" dirty="0" err="1"/>
              <a:t>course</a:t>
            </a:r>
            <a:r>
              <a:rPr lang="de-DE" sz="800" dirty="0"/>
              <a:t>“, Datei: „</a:t>
            </a:r>
            <a:r>
              <a:rPr lang="en-US" sz="800" dirty="0"/>
              <a:t> </a:t>
            </a:r>
            <a:r>
              <a:rPr lang="en-US" sz="800" dirty="0" err="1"/>
              <a:t>liver_diclo</a:t>
            </a:r>
            <a:r>
              <a:rPr lang="en-US" sz="800" dirty="0"/>
              <a:t> count cases with time course graphs.pptx”)</a:t>
            </a:r>
            <a:endParaRPr lang="de-DE" sz="800" dirty="0"/>
          </a:p>
          <a:p>
            <a:pPr marL="1543050" lvl="3" indent="-171450">
              <a:buFont typeface="Symbol" panose="05050102010706020507" pitchFamily="18" charset="2"/>
              <a:buChar char="-"/>
            </a:pPr>
            <a:r>
              <a:rPr lang="de-DE" sz="800" dirty="0"/>
              <a:t>dabei nur die Pat. betrachtet, die einen Verlauf von mindestens 3 Werten haben</a:t>
            </a:r>
          </a:p>
          <a:p>
            <a:pPr marL="1543050" lvl="3" indent="-171450">
              <a:buFont typeface="Symbol" panose="05050102010706020507" pitchFamily="18" charset="2"/>
              <a:buChar char="-"/>
            </a:pPr>
            <a:r>
              <a:rPr lang="de-DE" sz="800" dirty="0"/>
              <a:t>Dann bestimmt, welche dieser 3 Werte mit anderen Pat. zum selben Zeitpunkt erhoben wurden und somit vergleichbar sind</a:t>
            </a:r>
          </a:p>
          <a:p>
            <a:pPr marL="1543050" lvl="3" indent="-171450">
              <a:buFont typeface="Symbol" panose="05050102010706020507" pitchFamily="18" charset="2"/>
              <a:buChar char="-"/>
            </a:pPr>
            <a:r>
              <a:rPr lang="de-DE" sz="800" dirty="0"/>
              <a:t>Dabei nur die Testgroup berücksichtigt</a:t>
            </a:r>
          </a:p>
          <a:p>
            <a:pPr marL="628650" lvl="1" indent="-171450">
              <a:buFont typeface="Symbol" panose="05050102010706020507" pitchFamily="18" charset="2"/>
              <a:buChar char="-"/>
            </a:pPr>
            <a:r>
              <a:rPr lang="de-DE" sz="800" dirty="0"/>
              <a:t>Vergleich der Laborwerte zwischen Geschlechtern (Ordner: „Ergebnis Vergleich </a:t>
            </a:r>
            <a:r>
              <a:rPr lang="de-DE" sz="800" dirty="0" err="1"/>
              <a:t>männl_weibl</a:t>
            </a:r>
            <a:r>
              <a:rPr lang="de-DE" sz="800" dirty="0"/>
              <a:t>“)</a:t>
            </a:r>
          </a:p>
          <a:p>
            <a:pPr marL="1085850" lvl="2" indent="-171450">
              <a:buFont typeface="Symbol" panose="05050102010706020507" pitchFamily="18" charset="2"/>
              <a:buChar char="-"/>
            </a:pPr>
            <a:r>
              <a:rPr lang="de-DE" sz="800" dirty="0"/>
              <a:t>Bei Leberfällen Datensatz mit minimal </a:t>
            </a:r>
            <a:r>
              <a:rPr lang="de-DE" sz="800" b="1" dirty="0">
                <a:solidFill>
                  <a:srgbClr val="FF0000"/>
                </a:solidFill>
              </a:rPr>
              <a:t>3</a:t>
            </a:r>
            <a:r>
              <a:rPr lang="de-DE" sz="800" dirty="0"/>
              <a:t> Laborwerten pro Messzeitpunkt verwendet -&gt; für jeden auf der Grafik dargestellten Punkt gibt es mind. 3 Messwerte (</a:t>
            </a:r>
            <a:r>
              <a:rPr lang="de-DE" sz="800" dirty="0" err="1"/>
              <a:t>liver_diclo_labvaluesex</a:t>
            </a:r>
            <a:r>
              <a:rPr lang="de-DE" sz="800" dirty="0"/>
              <a:t> 2nd </a:t>
            </a:r>
            <a:r>
              <a:rPr lang="de-DE" sz="800" dirty="0" err="1"/>
              <a:t>try.Rmd</a:t>
            </a:r>
            <a:r>
              <a:rPr lang="de-DE" sz="800" dirty="0"/>
              <a:t>)</a:t>
            </a:r>
          </a:p>
          <a:p>
            <a:pPr marL="1085850" lvl="2" indent="-171450">
              <a:buFont typeface="Symbol" panose="05050102010706020507" pitchFamily="18" charset="2"/>
              <a:buChar char="-"/>
            </a:pPr>
            <a:r>
              <a:rPr lang="de-DE" sz="800" dirty="0"/>
              <a:t>Alles auf </a:t>
            </a:r>
            <a:r>
              <a:rPr lang="de-DE" sz="800" dirty="0" err="1"/>
              <a:t>minimum</a:t>
            </a:r>
            <a:r>
              <a:rPr lang="de-DE" sz="800" dirty="0"/>
              <a:t> </a:t>
            </a:r>
            <a:r>
              <a:rPr lang="de-DE" sz="800" dirty="0" err="1"/>
              <a:t>count</a:t>
            </a:r>
            <a:r>
              <a:rPr lang="de-DE" sz="800" dirty="0"/>
              <a:t>  3 geändert, Grafiken noch mal neu erstellt mit alle Änderungen und neu hinzugefügten Fällen</a:t>
            </a:r>
          </a:p>
          <a:p>
            <a:pPr marL="1085850" lvl="2" indent="-171450">
              <a:buFont typeface="Symbol" panose="05050102010706020507" pitchFamily="18" charset="2"/>
              <a:buChar char="-"/>
            </a:pPr>
            <a:r>
              <a:rPr lang="de-DE" sz="800" dirty="0"/>
              <a:t>1. Shapiro-Wilk </a:t>
            </a:r>
            <a:r>
              <a:rPr lang="de-DE" sz="800" dirty="0" err="1"/>
              <a:t>test</a:t>
            </a:r>
            <a:r>
              <a:rPr lang="de-DE" sz="800" dirty="0"/>
              <a:t> </a:t>
            </a:r>
            <a:r>
              <a:rPr lang="de-DE" sz="800" dirty="0" err="1"/>
              <a:t>of</a:t>
            </a:r>
            <a:r>
              <a:rPr lang="de-DE" sz="800" dirty="0"/>
              <a:t> </a:t>
            </a:r>
            <a:r>
              <a:rPr lang="de-DE" sz="800" dirty="0" err="1"/>
              <a:t>normality</a:t>
            </a:r>
            <a:r>
              <a:rPr lang="de-DE" sz="800" dirty="0"/>
              <a:t> durchgeführt (</a:t>
            </a:r>
            <a:r>
              <a:rPr lang="de-DE" sz="800" dirty="0" err="1"/>
              <a:t>liver_diclo_labvaluesex</a:t>
            </a:r>
            <a:r>
              <a:rPr lang="de-DE" sz="800" dirty="0"/>
              <a:t> 2nd </a:t>
            </a:r>
            <a:r>
              <a:rPr lang="de-DE" sz="800" dirty="0" err="1"/>
              <a:t>try.Rmd</a:t>
            </a:r>
            <a:r>
              <a:rPr lang="de-DE" sz="800" dirty="0"/>
              <a:t>)</a:t>
            </a:r>
          </a:p>
          <a:p>
            <a:pPr marL="1085850" lvl="2" indent="-171450">
              <a:buFont typeface="Symbol" panose="05050102010706020507" pitchFamily="18" charset="2"/>
              <a:buChar char="-"/>
            </a:pPr>
            <a:r>
              <a:rPr lang="de-DE" sz="800" dirty="0"/>
              <a:t>2. „</a:t>
            </a:r>
            <a:r>
              <a:rPr lang="en-US" sz="800" dirty="0"/>
              <a:t>Box/Violin plots for between-subjects comparisons” </a:t>
            </a:r>
            <a:r>
              <a:rPr lang="en-US" sz="800" dirty="0" err="1"/>
              <a:t>erstellt</a:t>
            </a:r>
            <a:r>
              <a:rPr lang="en-US" sz="800" dirty="0"/>
              <a:t> (</a:t>
            </a:r>
            <a:r>
              <a:rPr lang="en-US" sz="800" dirty="0" err="1"/>
              <a:t>enthält</a:t>
            </a:r>
            <a:r>
              <a:rPr lang="en-US" sz="800" dirty="0"/>
              <a:t> Mann-Whitney-Test) (</a:t>
            </a:r>
            <a:r>
              <a:rPr lang="en-US" sz="800" dirty="0" err="1"/>
              <a:t>liver_diclo_labvaluesex</a:t>
            </a:r>
            <a:r>
              <a:rPr lang="en-US" sz="800" dirty="0"/>
              <a:t> 2</a:t>
            </a:r>
            <a:r>
              <a:rPr lang="en-US" sz="800" baseline="30000" dirty="0"/>
              <a:t>nd</a:t>
            </a:r>
            <a:r>
              <a:rPr lang="en-US" sz="800" dirty="0"/>
              <a:t> </a:t>
            </a:r>
            <a:r>
              <a:rPr lang="en-US" sz="800" dirty="0" err="1"/>
              <a:t>try.Rmd</a:t>
            </a:r>
            <a:r>
              <a:rPr lang="en-US" sz="800" dirty="0"/>
              <a:t>)</a:t>
            </a:r>
          </a:p>
          <a:p>
            <a:pPr marL="1085850" lvl="2" indent="-171450">
              <a:buFont typeface="Symbol" panose="05050102010706020507" pitchFamily="18" charset="2"/>
              <a:buChar char="-"/>
            </a:pPr>
            <a:r>
              <a:rPr lang="en-US" sz="800" dirty="0"/>
              <a:t>3.  </a:t>
            </a:r>
            <a:r>
              <a:rPr lang="en-US" sz="800" dirty="0" err="1"/>
              <a:t>zeitl</a:t>
            </a:r>
            <a:r>
              <a:rPr lang="en-US" sz="800" dirty="0"/>
              <a:t>. </a:t>
            </a:r>
            <a:r>
              <a:rPr lang="en-US" sz="800" dirty="0" err="1"/>
              <a:t>Verlauf</a:t>
            </a:r>
            <a:r>
              <a:rPr lang="en-US" sz="800" dirty="0"/>
              <a:t> der </a:t>
            </a:r>
            <a:r>
              <a:rPr lang="en-US" sz="800" dirty="0" err="1"/>
              <a:t>Laborwerte</a:t>
            </a:r>
            <a:r>
              <a:rPr lang="en-US" sz="800" dirty="0"/>
              <a:t> </a:t>
            </a:r>
            <a:r>
              <a:rPr lang="en-US" sz="800" dirty="0" err="1"/>
              <a:t>dagrestellt</a:t>
            </a:r>
            <a:r>
              <a:rPr lang="en-US" sz="800" dirty="0"/>
              <a:t> </a:t>
            </a:r>
            <a:r>
              <a:rPr lang="en-US" sz="800" dirty="0" err="1"/>
              <a:t>im</a:t>
            </a:r>
            <a:r>
              <a:rPr lang="en-US" sz="800" dirty="0"/>
              <a:t> </a:t>
            </a:r>
            <a:r>
              <a:rPr lang="en-US" sz="800" dirty="0" err="1"/>
              <a:t>Vergleich</a:t>
            </a:r>
            <a:r>
              <a:rPr lang="en-US" sz="800" dirty="0"/>
              <a:t> von </a:t>
            </a:r>
            <a:r>
              <a:rPr lang="en-US" sz="800" dirty="0" err="1"/>
              <a:t>Männern</a:t>
            </a:r>
            <a:r>
              <a:rPr lang="en-US" sz="800" dirty="0"/>
              <a:t> </a:t>
            </a:r>
            <a:r>
              <a:rPr lang="en-US" sz="800" dirty="0" err="1"/>
              <a:t>zu</a:t>
            </a:r>
            <a:r>
              <a:rPr lang="en-US" sz="800" dirty="0"/>
              <a:t> Frauen (</a:t>
            </a:r>
            <a:r>
              <a:rPr lang="en-US" sz="800" dirty="0" err="1"/>
              <a:t>liver_diclo_sex_labvaluetime</a:t>
            </a:r>
            <a:r>
              <a:rPr lang="en-US" sz="800" dirty="0"/>
              <a:t> 2</a:t>
            </a:r>
            <a:r>
              <a:rPr lang="en-US" sz="800" baseline="30000" dirty="0"/>
              <a:t>nd</a:t>
            </a:r>
            <a:r>
              <a:rPr lang="en-US" sz="800" dirty="0"/>
              <a:t> </a:t>
            </a:r>
            <a:r>
              <a:rPr lang="en-US" sz="800" dirty="0" err="1"/>
              <a:t>try.Rmd</a:t>
            </a:r>
            <a:r>
              <a:rPr lang="en-US" sz="800" dirty="0"/>
              <a:t>)</a:t>
            </a:r>
          </a:p>
          <a:p>
            <a:pPr marL="1085850" lvl="2" indent="-171450">
              <a:buFont typeface="Symbol" panose="05050102010706020507" pitchFamily="18" charset="2"/>
              <a:buChar char="-"/>
            </a:pPr>
            <a:r>
              <a:rPr lang="en-US" sz="800" dirty="0"/>
              <a:t>4. Boxplot für </a:t>
            </a:r>
            <a:r>
              <a:rPr lang="en-US" sz="800" dirty="0" err="1"/>
              <a:t>Werte</a:t>
            </a:r>
            <a:r>
              <a:rPr lang="en-US" sz="800" dirty="0"/>
              <a:t> </a:t>
            </a:r>
            <a:r>
              <a:rPr lang="en-US" sz="800" dirty="0" err="1"/>
              <a:t>im</a:t>
            </a:r>
            <a:r>
              <a:rPr lang="en-US" sz="800" dirty="0"/>
              <a:t> </a:t>
            </a:r>
            <a:r>
              <a:rPr lang="en-US" sz="800" dirty="0" err="1"/>
              <a:t>zeitlichen</a:t>
            </a:r>
            <a:r>
              <a:rPr lang="en-US" sz="800" dirty="0"/>
              <a:t> </a:t>
            </a:r>
            <a:r>
              <a:rPr lang="en-US" sz="800" dirty="0" err="1"/>
              <a:t>Verlauf</a:t>
            </a:r>
            <a:r>
              <a:rPr lang="en-US" sz="800" dirty="0"/>
              <a:t> für </a:t>
            </a:r>
            <a:r>
              <a:rPr lang="en-US" sz="800" dirty="0" err="1"/>
              <a:t>beide</a:t>
            </a:r>
            <a:r>
              <a:rPr lang="en-US" sz="800" dirty="0"/>
              <a:t> </a:t>
            </a:r>
            <a:r>
              <a:rPr lang="en-US" sz="800" dirty="0" err="1"/>
              <a:t>Geschlechter</a:t>
            </a:r>
            <a:r>
              <a:rPr lang="en-US" sz="800" dirty="0"/>
              <a:t> </a:t>
            </a:r>
            <a:r>
              <a:rPr lang="en-US" sz="800" dirty="0" err="1"/>
              <a:t>erstellt</a:t>
            </a:r>
            <a:r>
              <a:rPr lang="en-US" sz="800" dirty="0"/>
              <a:t> (</a:t>
            </a:r>
            <a:r>
              <a:rPr lang="en-US" sz="800" dirty="0" err="1"/>
              <a:t>liver_diclo_sex_labvaluetime</a:t>
            </a:r>
            <a:r>
              <a:rPr lang="en-US" sz="800" dirty="0"/>
              <a:t> 2</a:t>
            </a:r>
            <a:r>
              <a:rPr lang="en-US" sz="800" baseline="30000" dirty="0"/>
              <a:t>nd</a:t>
            </a:r>
            <a:r>
              <a:rPr lang="en-US" sz="800" dirty="0"/>
              <a:t> </a:t>
            </a:r>
            <a:r>
              <a:rPr lang="en-US" sz="800" dirty="0" err="1"/>
              <a:t>try.Rmd</a:t>
            </a:r>
            <a:r>
              <a:rPr lang="en-US" sz="800" dirty="0"/>
              <a:t>)</a:t>
            </a:r>
          </a:p>
          <a:p>
            <a:pPr marL="628650" lvl="1" indent="-171450">
              <a:buFont typeface="Symbol" panose="05050102010706020507" pitchFamily="18" charset="2"/>
              <a:buChar char="-"/>
            </a:pPr>
            <a:r>
              <a:rPr lang="en-US" sz="800" dirty="0" err="1"/>
              <a:t>Korrelatoin</a:t>
            </a:r>
            <a:r>
              <a:rPr lang="en-US" sz="800" dirty="0"/>
              <a:t> </a:t>
            </a:r>
            <a:r>
              <a:rPr lang="en-US" sz="800" dirty="0" err="1"/>
              <a:t>zw</a:t>
            </a:r>
            <a:r>
              <a:rPr lang="en-US" sz="800" dirty="0"/>
              <a:t>. </a:t>
            </a:r>
            <a:r>
              <a:rPr lang="en-US" sz="800" dirty="0" err="1"/>
              <a:t>Dosis</a:t>
            </a:r>
            <a:r>
              <a:rPr lang="en-US" sz="800" dirty="0"/>
              <a:t> und </a:t>
            </a:r>
            <a:r>
              <a:rPr lang="en-US" sz="800" dirty="0" err="1"/>
              <a:t>Laborwerten</a:t>
            </a:r>
            <a:r>
              <a:rPr lang="en-US" sz="800" dirty="0"/>
              <a:t> </a:t>
            </a:r>
            <a:r>
              <a:rPr lang="en-US" sz="800" dirty="0" err="1"/>
              <a:t>untersucht</a:t>
            </a:r>
            <a:r>
              <a:rPr lang="en-US" sz="800" dirty="0"/>
              <a:t> (</a:t>
            </a:r>
            <a:r>
              <a:rPr lang="en-US" sz="800" dirty="0" err="1"/>
              <a:t>Ordner</a:t>
            </a:r>
            <a:r>
              <a:rPr lang="en-US" sz="800" dirty="0"/>
              <a:t>: </a:t>
            </a:r>
            <a:r>
              <a:rPr lang="en-US" sz="800" dirty="0" err="1"/>
              <a:t>Ergebnis</a:t>
            </a:r>
            <a:r>
              <a:rPr lang="en-US" sz="800" dirty="0"/>
              <a:t> </a:t>
            </a:r>
            <a:r>
              <a:rPr lang="en-US" sz="800" dirty="0" err="1"/>
              <a:t>Vergleich</a:t>
            </a:r>
            <a:r>
              <a:rPr lang="en-US" sz="800" dirty="0"/>
              <a:t> </a:t>
            </a:r>
            <a:r>
              <a:rPr lang="en-US" sz="800" dirty="0" err="1"/>
              <a:t>dosis_labvalues</a:t>
            </a:r>
            <a:r>
              <a:rPr lang="en-US" sz="800" dirty="0"/>
              <a:t>)</a:t>
            </a:r>
          </a:p>
          <a:p>
            <a:pPr marL="1085850" lvl="2" indent="-171450">
              <a:buFont typeface="Symbol" panose="05050102010706020507" pitchFamily="18" charset="2"/>
              <a:buChar char="-"/>
            </a:pPr>
            <a:r>
              <a:rPr lang="en-US" sz="800" dirty="0"/>
              <a:t>Alle </a:t>
            </a:r>
            <a:r>
              <a:rPr lang="en-US" sz="800" dirty="0" err="1"/>
              <a:t>Statistiken</a:t>
            </a:r>
            <a:r>
              <a:rPr lang="en-US" sz="800" dirty="0"/>
              <a:t> und </a:t>
            </a:r>
            <a:r>
              <a:rPr lang="en-US" sz="800" dirty="0" err="1"/>
              <a:t>Graphiken</a:t>
            </a:r>
            <a:r>
              <a:rPr lang="en-US" sz="800" dirty="0"/>
              <a:t> </a:t>
            </a:r>
            <a:r>
              <a:rPr lang="en-US" sz="800" dirty="0" err="1"/>
              <a:t>nur</a:t>
            </a:r>
            <a:r>
              <a:rPr lang="en-US" sz="800" dirty="0"/>
              <a:t> </a:t>
            </a:r>
            <a:r>
              <a:rPr lang="en-US" sz="800" dirty="0" err="1"/>
              <a:t>mit</a:t>
            </a:r>
            <a:r>
              <a:rPr lang="en-US" sz="800" dirty="0"/>
              <a:t> minimal </a:t>
            </a:r>
            <a:r>
              <a:rPr lang="en-US" sz="800" b="1" dirty="0">
                <a:solidFill>
                  <a:srgbClr val="FF0000"/>
                </a:solidFill>
              </a:rPr>
              <a:t>3</a:t>
            </a:r>
            <a:r>
              <a:rPr lang="en-US" sz="800" dirty="0"/>
              <a:t> </a:t>
            </a:r>
            <a:r>
              <a:rPr lang="de-DE" sz="800" dirty="0"/>
              <a:t>Laborwerten pro Messzeitpunkt </a:t>
            </a:r>
            <a:r>
              <a:rPr lang="en-US" sz="800" dirty="0" err="1"/>
              <a:t>erstellt</a:t>
            </a:r>
            <a:endParaRPr lang="en-US" sz="800" dirty="0"/>
          </a:p>
          <a:p>
            <a:pPr marL="1085850" lvl="2" indent="-171450">
              <a:buFont typeface="Symbol" panose="05050102010706020507" pitchFamily="18" charset="2"/>
              <a:buChar char="-"/>
            </a:pPr>
            <a:r>
              <a:rPr lang="en-US" sz="800" dirty="0" err="1"/>
              <a:t>Unterstellung</a:t>
            </a:r>
            <a:r>
              <a:rPr lang="en-US" sz="800" dirty="0"/>
              <a:t> von </a:t>
            </a:r>
            <a:r>
              <a:rPr lang="en-US" sz="800" dirty="0" err="1"/>
              <a:t>Standartdosen</a:t>
            </a:r>
            <a:r>
              <a:rPr lang="en-US" sz="800" dirty="0"/>
              <a:t> und “</a:t>
            </a:r>
            <a:r>
              <a:rPr lang="en-US" sz="800" dirty="0" err="1"/>
              <a:t>Häufigkeit</a:t>
            </a:r>
            <a:r>
              <a:rPr lang="en-US" sz="800" dirty="0"/>
              <a:t> der </a:t>
            </a:r>
            <a:r>
              <a:rPr lang="en-US" sz="800" dirty="0" err="1"/>
              <a:t>Einnahme</a:t>
            </a:r>
            <a:r>
              <a:rPr lang="en-US" sz="800" dirty="0"/>
              <a:t> pro Tag” </a:t>
            </a:r>
            <a:r>
              <a:rPr lang="en-US" sz="800" dirty="0" err="1"/>
              <a:t>bei</a:t>
            </a:r>
            <a:r>
              <a:rPr lang="en-US" sz="800" dirty="0"/>
              <a:t> </a:t>
            </a:r>
            <a:r>
              <a:rPr lang="en-US" sz="800" dirty="0" err="1"/>
              <a:t>Fällen</a:t>
            </a:r>
            <a:r>
              <a:rPr lang="en-US" sz="800" dirty="0"/>
              <a:t> </a:t>
            </a:r>
            <a:r>
              <a:rPr lang="en-US" sz="800" dirty="0" err="1"/>
              <a:t>ohne</a:t>
            </a:r>
            <a:r>
              <a:rPr lang="en-US" sz="800" dirty="0"/>
              <a:t> </a:t>
            </a:r>
            <a:r>
              <a:rPr lang="en-US" sz="800" dirty="0" err="1"/>
              <a:t>Dosisangabe</a:t>
            </a:r>
            <a:r>
              <a:rPr lang="en-US" sz="800" dirty="0"/>
              <a:t> </a:t>
            </a:r>
            <a:r>
              <a:rPr lang="en-US" sz="800" dirty="0" err="1"/>
              <a:t>bei</a:t>
            </a:r>
            <a:r>
              <a:rPr lang="en-US" sz="800" dirty="0"/>
              <a:t> “Dose table.xlsx”</a:t>
            </a:r>
          </a:p>
          <a:p>
            <a:pPr marL="1543050" lvl="3" indent="-171450">
              <a:buFont typeface="Symbol" panose="05050102010706020507" pitchFamily="18" charset="2"/>
              <a:buChar char="-"/>
            </a:pPr>
            <a:r>
              <a:rPr lang="en-US" sz="800" dirty="0" err="1"/>
              <a:t>Unterstellung</a:t>
            </a:r>
            <a:r>
              <a:rPr lang="en-US" sz="800" dirty="0"/>
              <a:t> </a:t>
            </a:r>
            <a:r>
              <a:rPr lang="en-US" sz="800" dirty="0" err="1"/>
              <a:t>auch</a:t>
            </a:r>
            <a:r>
              <a:rPr lang="en-US" sz="800" dirty="0"/>
              <a:t> </a:t>
            </a:r>
            <a:r>
              <a:rPr lang="en-US" sz="800" dirty="0" err="1"/>
              <a:t>bei</a:t>
            </a:r>
            <a:r>
              <a:rPr lang="en-US" sz="800" dirty="0"/>
              <a:t> der Comparison group in “Dose table cgnt.xlsx”</a:t>
            </a:r>
          </a:p>
          <a:p>
            <a:pPr marL="1085850" lvl="2" indent="-171450">
              <a:buFont typeface="Symbol" panose="05050102010706020507" pitchFamily="18" charset="2"/>
              <a:buChar char="-"/>
            </a:pPr>
            <a:r>
              <a:rPr lang="en-US" sz="800" dirty="0" err="1"/>
              <a:t>Tabelle</a:t>
            </a:r>
            <a:r>
              <a:rPr lang="en-US" sz="800" dirty="0"/>
              <a:t> </a:t>
            </a:r>
            <a:r>
              <a:rPr lang="en-US" sz="800" dirty="0" err="1"/>
              <a:t>mit</a:t>
            </a:r>
            <a:r>
              <a:rPr lang="en-US" sz="800" dirty="0"/>
              <a:t> </a:t>
            </a:r>
            <a:r>
              <a:rPr lang="en-US" sz="800" dirty="0" err="1"/>
              <a:t>Berechnung</a:t>
            </a:r>
            <a:r>
              <a:rPr lang="en-US" sz="800" dirty="0"/>
              <a:t> der </a:t>
            </a:r>
            <a:r>
              <a:rPr lang="en-US" sz="800" dirty="0" err="1"/>
              <a:t>kumulativen</a:t>
            </a:r>
            <a:r>
              <a:rPr lang="en-US" sz="800" dirty="0"/>
              <a:t> </a:t>
            </a:r>
            <a:r>
              <a:rPr lang="en-US" sz="800" dirty="0" err="1"/>
              <a:t>Dosen</a:t>
            </a:r>
            <a:r>
              <a:rPr lang="en-US" sz="800" dirty="0"/>
              <a:t> </a:t>
            </a:r>
            <a:r>
              <a:rPr lang="en-US" sz="800" dirty="0" err="1"/>
              <a:t>erstellt</a:t>
            </a:r>
            <a:r>
              <a:rPr lang="en-US" sz="800" dirty="0"/>
              <a:t> (“</a:t>
            </a:r>
            <a:r>
              <a:rPr lang="en-US" sz="800" dirty="0" err="1"/>
              <a:t>Medikamente</a:t>
            </a:r>
            <a:r>
              <a:rPr lang="en-US" sz="800" dirty="0"/>
              <a:t> Arun Testversion.xlsx”)</a:t>
            </a:r>
          </a:p>
          <a:p>
            <a:pPr marL="1085850" lvl="2" indent="-171450">
              <a:buFont typeface="Symbol" panose="05050102010706020507" pitchFamily="18" charset="2"/>
              <a:buChar char="-"/>
            </a:pPr>
            <a:r>
              <a:rPr lang="en-US" sz="800" dirty="0" err="1"/>
              <a:t>Anzahl</a:t>
            </a:r>
            <a:r>
              <a:rPr lang="en-US" sz="800" dirty="0"/>
              <a:t> der </a:t>
            </a:r>
            <a:r>
              <a:rPr lang="en-US" sz="800" dirty="0" err="1"/>
              <a:t>Patienten</a:t>
            </a:r>
            <a:r>
              <a:rPr lang="en-US" sz="800" dirty="0"/>
              <a:t> für </a:t>
            </a:r>
            <a:r>
              <a:rPr lang="en-US" sz="800" dirty="0" err="1"/>
              <a:t>jede</a:t>
            </a:r>
            <a:r>
              <a:rPr lang="en-US" sz="800" dirty="0"/>
              <a:t> </a:t>
            </a:r>
            <a:r>
              <a:rPr lang="en-US" sz="800" dirty="0" err="1"/>
              <a:t>einzelne</a:t>
            </a:r>
            <a:r>
              <a:rPr lang="en-US" sz="800" dirty="0"/>
              <a:t> </a:t>
            </a:r>
            <a:r>
              <a:rPr lang="en-US" sz="800" dirty="0" err="1"/>
              <a:t>vorhandene</a:t>
            </a:r>
            <a:r>
              <a:rPr lang="en-US" sz="800" dirty="0"/>
              <a:t> </a:t>
            </a:r>
            <a:r>
              <a:rPr lang="en-US" sz="800" dirty="0" err="1"/>
              <a:t>kumulative</a:t>
            </a:r>
            <a:r>
              <a:rPr lang="en-US" sz="800" dirty="0"/>
              <a:t> </a:t>
            </a:r>
            <a:r>
              <a:rPr lang="en-US" sz="800" dirty="0" err="1"/>
              <a:t>Dosis</a:t>
            </a:r>
            <a:r>
              <a:rPr lang="en-US" sz="800" dirty="0"/>
              <a:t> </a:t>
            </a:r>
            <a:r>
              <a:rPr lang="en-US" sz="800" dirty="0" err="1"/>
              <a:t>graphisch</a:t>
            </a:r>
            <a:r>
              <a:rPr lang="en-US" sz="800" dirty="0"/>
              <a:t> </a:t>
            </a:r>
            <a:r>
              <a:rPr lang="en-US" sz="800" dirty="0" err="1"/>
              <a:t>dargestellt</a:t>
            </a:r>
            <a:r>
              <a:rPr lang="en-US" sz="800" dirty="0"/>
              <a:t> (“Comparison </a:t>
            </a:r>
            <a:r>
              <a:rPr lang="en-US" sz="800" dirty="0" err="1"/>
              <a:t>Dosis_Labvalues</a:t>
            </a:r>
            <a:r>
              <a:rPr lang="en-US" sz="800" dirty="0"/>
              <a:t> for Diclo.pptx”)</a:t>
            </a:r>
          </a:p>
          <a:p>
            <a:pPr marL="1085850" lvl="2" indent="-171450">
              <a:buFont typeface="Symbol" panose="05050102010706020507" pitchFamily="18" charset="2"/>
              <a:buChar char="-"/>
            </a:pPr>
            <a:r>
              <a:rPr lang="en-US" sz="800" dirty="0" err="1"/>
              <a:t>Häufigkeit</a:t>
            </a:r>
            <a:r>
              <a:rPr lang="en-US" sz="800" dirty="0"/>
              <a:t> der </a:t>
            </a:r>
            <a:r>
              <a:rPr lang="en-US" sz="800" dirty="0" err="1"/>
              <a:t>verschiedenen</a:t>
            </a:r>
            <a:r>
              <a:rPr lang="en-US" sz="800" dirty="0"/>
              <a:t> </a:t>
            </a:r>
            <a:r>
              <a:rPr lang="en-US" sz="800" dirty="0" err="1"/>
              <a:t>Dosisgruppen</a:t>
            </a:r>
            <a:r>
              <a:rPr lang="en-US" sz="800" dirty="0"/>
              <a:t> </a:t>
            </a:r>
            <a:r>
              <a:rPr lang="en-US" sz="800" dirty="0" err="1"/>
              <a:t>dargestellt</a:t>
            </a:r>
            <a:r>
              <a:rPr lang="en-US" sz="800" dirty="0"/>
              <a:t> (“Comparison </a:t>
            </a:r>
            <a:r>
              <a:rPr lang="en-US" sz="800" dirty="0" err="1"/>
              <a:t>Dosis_Labvalues</a:t>
            </a:r>
            <a:r>
              <a:rPr lang="en-US" sz="800" dirty="0"/>
              <a:t> for Diclo.pptx”)</a:t>
            </a:r>
          </a:p>
          <a:p>
            <a:pPr marL="1085850" lvl="2" indent="-171450">
              <a:buFont typeface="Symbol" panose="05050102010706020507" pitchFamily="18" charset="2"/>
              <a:buChar char="-"/>
            </a:pPr>
            <a:r>
              <a:rPr lang="en-US" sz="800" dirty="0" err="1"/>
              <a:t>Druchführung</a:t>
            </a:r>
            <a:r>
              <a:rPr lang="en-US" sz="800" dirty="0"/>
              <a:t> und </a:t>
            </a:r>
            <a:r>
              <a:rPr lang="en-US" sz="800" dirty="0" err="1"/>
              <a:t>graphische</a:t>
            </a:r>
            <a:r>
              <a:rPr lang="en-US" sz="800" dirty="0"/>
              <a:t> </a:t>
            </a:r>
            <a:r>
              <a:rPr lang="en-US" sz="800" dirty="0" err="1"/>
              <a:t>Darstellung</a:t>
            </a:r>
            <a:r>
              <a:rPr lang="en-US" sz="800" dirty="0"/>
              <a:t> des Kruskal-Wallis-Tests </a:t>
            </a:r>
            <a:r>
              <a:rPr lang="en-US" sz="800" dirty="0" err="1"/>
              <a:t>zum</a:t>
            </a:r>
            <a:r>
              <a:rPr lang="en-US" sz="800" dirty="0"/>
              <a:t> </a:t>
            </a:r>
            <a:r>
              <a:rPr lang="en-US" sz="800" dirty="0" err="1"/>
              <a:t>Vergleich</a:t>
            </a:r>
            <a:r>
              <a:rPr lang="en-US" sz="800" dirty="0"/>
              <a:t> der </a:t>
            </a:r>
            <a:r>
              <a:rPr lang="en-US" sz="800" dirty="0" err="1"/>
              <a:t>Laborwerte</a:t>
            </a:r>
            <a:r>
              <a:rPr lang="en-US" sz="800" dirty="0"/>
              <a:t> </a:t>
            </a:r>
            <a:r>
              <a:rPr lang="en-US" sz="800" dirty="0" err="1"/>
              <a:t>bei</a:t>
            </a:r>
            <a:r>
              <a:rPr lang="en-US" sz="800" dirty="0"/>
              <a:t> den </a:t>
            </a:r>
            <a:r>
              <a:rPr lang="en-US" sz="800" dirty="0" err="1"/>
              <a:t>verschiedenen</a:t>
            </a:r>
            <a:r>
              <a:rPr lang="en-US" sz="800" dirty="0"/>
              <a:t> </a:t>
            </a:r>
            <a:r>
              <a:rPr lang="en-US" sz="800" dirty="0" err="1"/>
              <a:t>täglichen</a:t>
            </a:r>
            <a:r>
              <a:rPr lang="en-US" sz="800" dirty="0"/>
              <a:t> </a:t>
            </a:r>
            <a:r>
              <a:rPr lang="en-US" sz="800" dirty="0" err="1"/>
              <a:t>Dosen</a:t>
            </a:r>
            <a:r>
              <a:rPr lang="en-US" sz="800" dirty="0"/>
              <a:t> (“Comparison </a:t>
            </a:r>
            <a:r>
              <a:rPr lang="en-US" sz="800" dirty="0" err="1"/>
              <a:t>Dosis_Labvalues</a:t>
            </a:r>
            <a:r>
              <a:rPr lang="en-US" sz="800" dirty="0"/>
              <a:t> for Diclo.pptx”)</a:t>
            </a:r>
          </a:p>
          <a:p>
            <a:pPr marL="1085850" lvl="2" indent="-171450">
              <a:buFont typeface="Symbol" panose="05050102010706020507" pitchFamily="18" charset="2"/>
              <a:buChar char="-"/>
            </a:pPr>
            <a:r>
              <a:rPr lang="en-US" sz="800" dirty="0" err="1"/>
              <a:t>Laborwerte</a:t>
            </a:r>
            <a:r>
              <a:rPr lang="en-US" sz="800" dirty="0"/>
              <a:t> </a:t>
            </a:r>
            <a:r>
              <a:rPr lang="en-US" sz="800" dirty="0" err="1"/>
              <a:t>im</a:t>
            </a:r>
            <a:r>
              <a:rPr lang="en-US" sz="800" dirty="0"/>
              <a:t> </a:t>
            </a:r>
            <a:r>
              <a:rPr lang="en-US" sz="800" dirty="0" err="1"/>
              <a:t>zeitl</a:t>
            </a:r>
            <a:r>
              <a:rPr lang="en-US" sz="800" dirty="0"/>
              <a:t>. </a:t>
            </a:r>
            <a:r>
              <a:rPr lang="en-US" sz="800" dirty="0" err="1"/>
              <a:t>Verlauf</a:t>
            </a:r>
            <a:r>
              <a:rPr lang="en-US" sz="800" dirty="0"/>
              <a:t> </a:t>
            </a:r>
            <a:r>
              <a:rPr lang="en-US" sz="800" dirty="0" err="1"/>
              <a:t>bei</a:t>
            </a:r>
            <a:r>
              <a:rPr lang="en-US" sz="800" dirty="0"/>
              <a:t> </a:t>
            </a:r>
            <a:r>
              <a:rPr lang="en-US" sz="800" dirty="0" err="1"/>
              <a:t>verschiedenen</a:t>
            </a:r>
            <a:r>
              <a:rPr lang="en-US" sz="800" dirty="0"/>
              <a:t> </a:t>
            </a:r>
            <a:r>
              <a:rPr lang="en-US" sz="800" dirty="0" err="1"/>
              <a:t>täglichen</a:t>
            </a:r>
            <a:r>
              <a:rPr lang="en-US" sz="800" dirty="0"/>
              <a:t> </a:t>
            </a:r>
            <a:r>
              <a:rPr lang="en-US" sz="800" dirty="0" err="1"/>
              <a:t>Dosen</a:t>
            </a:r>
            <a:r>
              <a:rPr lang="en-US" sz="800" dirty="0"/>
              <a:t> </a:t>
            </a:r>
            <a:r>
              <a:rPr lang="en-US" sz="800" dirty="0" err="1"/>
              <a:t>graphisch</a:t>
            </a:r>
            <a:r>
              <a:rPr lang="en-US" sz="800" dirty="0"/>
              <a:t> </a:t>
            </a:r>
            <a:r>
              <a:rPr lang="en-US" sz="800" dirty="0" err="1"/>
              <a:t>dargestellt</a:t>
            </a:r>
            <a:r>
              <a:rPr lang="en-US" sz="800" dirty="0"/>
              <a:t> </a:t>
            </a:r>
          </a:p>
          <a:p>
            <a:pPr marL="1085850" lvl="2" indent="-171450">
              <a:buFont typeface="Symbol" panose="05050102010706020507" pitchFamily="18" charset="2"/>
              <a:buChar char="-"/>
            </a:pPr>
            <a:r>
              <a:rPr lang="en-US" sz="800" dirty="0" err="1"/>
              <a:t>Lineare</a:t>
            </a:r>
            <a:r>
              <a:rPr lang="en-US" sz="800" dirty="0"/>
              <a:t> Regression-</a:t>
            </a:r>
            <a:r>
              <a:rPr lang="en-US" sz="800" dirty="0" err="1"/>
              <a:t>Grafik</a:t>
            </a:r>
            <a:r>
              <a:rPr lang="en-US" sz="800" dirty="0"/>
              <a:t> </a:t>
            </a:r>
            <a:r>
              <a:rPr lang="en-US" sz="800" dirty="0" err="1"/>
              <a:t>zur</a:t>
            </a:r>
            <a:r>
              <a:rPr lang="en-US" sz="800" dirty="0"/>
              <a:t> </a:t>
            </a:r>
            <a:r>
              <a:rPr lang="en-US" sz="800" dirty="0" err="1"/>
              <a:t>Beurteilung</a:t>
            </a:r>
            <a:r>
              <a:rPr lang="en-US" sz="800" dirty="0"/>
              <a:t> </a:t>
            </a:r>
            <a:r>
              <a:rPr lang="en-US" sz="800" dirty="0" err="1"/>
              <a:t>eines</a:t>
            </a:r>
            <a:r>
              <a:rPr lang="en-US" sz="800" dirty="0"/>
              <a:t> </a:t>
            </a:r>
            <a:r>
              <a:rPr lang="en-US" sz="800" dirty="0" err="1"/>
              <a:t>linearen</a:t>
            </a:r>
            <a:r>
              <a:rPr lang="en-US" sz="800" dirty="0"/>
              <a:t> </a:t>
            </a:r>
            <a:r>
              <a:rPr lang="en-US" sz="800" dirty="0" err="1"/>
              <a:t>Zusammenhanges</a:t>
            </a:r>
            <a:r>
              <a:rPr lang="en-US" sz="800" dirty="0"/>
              <a:t> </a:t>
            </a:r>
            <a:r>
              <a:rPr lang="en-US" sz="800" dirty="0" err="1"/>
              <a:t>zwischen</a:t>
            </a:r>
            <a:r>
              <a:rPr lang="en-US" sz="800" dirty="0"/>
              <a:t> </a:t>
            </a:r>
            <a:r>
              <a:rPr lang="en-US" sz="800" dirty="0" err="1"/>
              <a:t>täglichen</a:t>
            </a:r>
            <a:r>
              <a:rPr lang="en-US" sz="800" dirty="0"/>
              <a:t> </a:t>
            </a:r>
            <a:r>
              <a:rPr lang="en-US" sz="800" dirty="0" err="1"/>
              <a:t>Dosisgruppen</a:t>
            </a:r>
            <a:r>
              <a:rPr lang="en-US" sz="800" dirty="0"/>
              <a:t> und </a:t>
            </a:r>
            <a:r>
              <a:rPr lang="en-US" sz="800" dirty="0" err="1"/>
              <a:t>Laborwerten</a:t>
            </a:r>
            <a:r>
              <a:rPr lang="en-US" sz="800" dirty="0"/>
              <a:t> </a:t>
            </a:r>
            <a:r>
              <a:rPr lang="en-US" sz="800" dirty="0" err="1"/>
              <a:t>erstellt</a:t>
            </a:r>
            <a:r>
              <a:rPr lang="en-US" sz="800" dirty="0"/>
              <a:t> (“Comparison </a:t>
            </a:r>
            <a:r>
              <a:rPr lang="en-US" sz="800" dirty="0" err="1"/>
              <a:t>Dosis_Labvalues</a:t>
            </a:r>
            <a:r>
              <a:rPr lang="en-US" sz="800" dirty="0"/>
              <a:t> for Diclo.pptx”)</a:t>
            </a:r>
          </a:p>
          <a:p>
            <a:pPr marL="1085850" lvl="2" indent="-171450">
              <a:buFont typeface="Symbol" panose="05050102010706020507" pitchFamily="18" charset="2"/>
              <a:buChar char="-"/>
            </a:pPr>
            <a:r>
              <a:rPr lang="en-US" sz="800" dirty="0"/>
              <a:t>Boxplot </a:t>
            </a:r>
            <a:r>
              <a:rPr lang="en-US" sz="800" dirty="0" err="1"/>
              <a:t>mit</a:t>
            </a:r>
            <a:r>
              <a:rPr lang="en-US" sz="800" dirty="0"/>
              <a:t> </a:t>
            </a:r>
            <a:r>
              <a:rPr lang="en-US" sz="800" dirty="0" err="1"/>
              <a:t>Laborwerten</a:t>
            </a:r>
            <a:r>
              <a:rPr lang="en-US" sz="800" dirty="0"/>
              <a:t> </a:t>
            </a:r>
            <a:r>
              <a:rPr lang="en-US" sz="800" dirty="0" err="1"/>
              <a:t>zu</a:t>
            </a:r>
            <a:r>
              <a:rPr lang="en-US" sz="800" dirty="0"/>
              <a:t> den </a:t>
            </a:r>
            <a:r>
              <a:rPr lang="en-US" sz="800" dirty="0" err="1"/>
              <a:t>verschiedenen</a:t>
            </a:r>
            <a:r>
              <a:rPr lang="en-US" sz="800" dirty="0"/>
              <a:t> </a:t>
            </a:r>
            <a:r>
              <a:rPr lang="en-US" sz="800" dirty="0" err="1"/>
              <a:t>täglichen</a:t>
            </a:r>
            <a:r>
              <a:rPr lang="en-US" sz="800" dirty="0"/>
              <a:t> und </a:t>
            </a:r>
            <a:r>
              <a:rPr lang="en-US" sz="800" dirty="0" err="1"/>
              <a:t>kumulativen</a:t>
            </a:r>
            <a:r>
              <a:rPr lang="en-US" sz="800" dirty="0"/>
              <a:t> </a:t>
            </a:r>
            <a:r>
              <a:rPr lang="en-US" sz="800" dirty="0" err="1"/>
              <a:t>Dosen</a:t>
            </a:r>
            <a:r>
              <a:rPr lang="en-US" sz="800" dirty="0"/>
              <a:t> </a:t>
            </a:r>
            <a:r>
              <a:rPr lang="en-US" sz="800" dirty="0" err="1"/>
              <a:t>erstellt</a:t>
            </a:r>
            <a:r>
              <a:rPr lang="en-US" sz="800" dirty="0"/>
              <a:t> (“Comparison </a:t>
            </a:r>
            <a:r>
              <a:rPr lang="en-US" sz="800" dirty="0" err="1"/>
              <a:t>Dosis_Labvalues</a:t>
            </a:r>
            <a:r>
              <a:rPr lang="en-US" sz="800" dirty="0"/>
              <a:t> for Diclo.pptx”)</a:t>
            </a:r>
          </a:p>
          <a:p>
            <a:pPr marL="1085850" lvl="2" indent="-171450">
              <a:buFont typeface="Symbol" panose="05050102010706020507" pitchFamily="18" charset="2"/>
              <a:buChar char="-"/>
            </a:pPr>
            <a:r>
              <a:rPr lang="en-US" sz="800" dirty="0"/>
              <a:t>Alles </a:t>
            </a:r>
            <a:r>
              <a:rPr lang="en-US" sz="800" dirty="0" err="1"/>
              <a:t>noch</a:t>
            </a:r>
            <a:r>
              <a:rPr lang="en-US" sz="800" dirty="0"/>
              <a:t> auf minimum count 3 </a:t>
            </a:r>
            <a:r>
              <a:rPr lang="en-US" sz="800" dirty="0" err="1"/>
              <a:t>geändert</a:t>
            </a:r>
            <a:r>
              <a:rPr lang="en-US" sz="800" dirty="0"/>
              <a:t> und die </a:t>
            </a:r>
            <a:r>
              <a:rPr lang="en-US" sz="800" dirty="0" err="1"/>
              <a:t>Grafiken</a:t>
            </a:r>
            <a:r>
              <a:rPr lang="en-US" sz="800" dirty="0"/>
              <a:t> für die GENAUEN </a:t>
            </a:r>
            <a:r>
              <a:rPr lang="en-US" sz="800" dirty="0" err="1"/>
              <a:t>dosen</a:t>
            </a:r>
            <a:r>
              <a:rPr lang="en-US" sz="800" dirty="0"/>
              <a:t> und </a:t>
            </a:r>
            <a:r>
              <a:rPr lang="en-US" sz="800" dirty="0" err="1"/>
              <a:t>nicht</a:t>
            </a:r>
            <a:r>
              <a:rPr lang="en-US" sz="800" dirty="0"/>
              <a:t> </a:t>
            </a:r>
            <a:r>
              <a:rPr lang="en-US" sz="800" dirty="0" err="1"/>
              <a:t>dosisgruppen</a:t>
            </a:r>
            <a:r>
              <a:rPr lang="en-US" sz="800" dirty="0"/>
              <a:t> </a:t>
            </a:r>
            <a:r>
              <a:rPr lang="en-US" sz="800" dirty="0" err="1"/>
              <a:t>erstellt</a:t>
            </a:r>
            <a:endParaRPr lang="en-US" sz="800" dirty="0"/>
          </a:p>
          <a:p>
            <a:pPr marL="628650" lvl="1" indent="-171450">
              <a:buFont typeface="Symbol" panose="05050102010706020507" pitchFamily="18" charset="2"/>
              <a:buChar char="-"/>
            </a:pPr>
            <a:r>
              <a:rPr lang="en-US" sz="800" dirty="0" err="1"/>
              <a:t>Blutausstrich</a:t>
            </a:r>
            <a:r>
              <a:rPr lang="en-US" sz="800" dirty="0"/>
              <a:t>: </a:t>
            </a:r>
            <a:r>
              <a:rPr lang="en-US" sz="800" dirty="0" err="1"/>
              <a:t>Vergleich</a:t>
            </a:r>
            <a:r>
              <a:rPr lang="en-US" sz="800" dirty="0"/>
              <a:t> der </a:t>
            </a:r>
            <a:r>
              <a:rPr lang="en-US" sz="800" dirty="0" err="1"/>
              <a:t>Ergebnisse</a:t>
            </a:r>
            <a:r>
              <a:rPr lang="en-US" sz="800" dirty="0"/>
              <a:t> des </a:t>
            </a:r>
            <a:r>
              <a:rPr lang="en-US" sz="800" dirty="0" err="1"/>
              <a:t>Blutausstrich</a:t>
            </a:r>
            <a:r>
              <a:rPr lang="en-US" sz="800" dirty="0"/>
              <a:t> </a:t>
            </a:r>
            <a:r>
              <a:rPr lang="en-US" sz="800" dirty="0" err="1"/>
              <a:t>aus</a:t>
            </a:r>
            <a:r>
              <a:rPr lang="en-US" sz="800" dirty="0"/>
              <a:t> den </a:t>
            </a:r>
            <a:r>
              <a:rPr lang="en-US" sz="800" dirty="0" err="1"/>
              <a:t>verschiedenen</a:t>
            </a:r>
            <a:r>
              <a:rPr lang="en-US" sz="800" dirty="0"/>
              <a:t> Gruppen </a:t>
            </a:r>
            <a:r>
              <a:rPr lang="en-US" sz="800" dirty="0" err="1"/>
              <a:t>vergleichen</a:t>
            </a:r>
            <a:endParaRPr lang="en-US" sz="800" dirty="0"/>
          </a:p>
          <a:p>
            <a:pPr marL="1085850" lvl="2" indent="-171450">
              <a:buFont typeface="Symbol" panose="05050102010706020507" pitchFamily="18" charset="2"/>
              <a:buChar char="-"/>
            </a:pPr>
            <a:r>
              <a:rPr lang="en-US" sz="800" dirty="0"/>
              <a:t>Zellen </a:t>
            </a:r>
            <a:r>
              <a:rPr lang="en-US" sz="800" dirty="0" err="1"/>
              <a:t>herausgesucht</a:t>
            </a:r>
            <a:r>
              <a:rPr lang="en-US" sz="800" dirty="0"/>
              <a:t>, die </a:t>
            </a:r>
            <a:r>
              <a:rPr lang="en-US" sz="800" dirty="0" err="1"/>
              <a:t>zum</a:t>
            </a:r>
            <a:r>
              <a:rPr lang="en-US" sz="800" dirty="0"/>
              <a:t> </a:t>
            </a:r>
            <a:r>
              <a:rPr lang="en-US" sz="800" dirty="0" err="1"/>
              <a:t>Blutausstrich</a:t>
            </a:r>
            <a:r>
              <a:rPr lang="en-US" sz="800" dirty="0"/>
              <a:t> </a:t>
            </a:r>
            <a:r>
              <a:rPr lang="en-US" sz="800" dirty="0" err="1"/>
              <a:t>gehören</a:t>
            </a:r>
            <a:endParaRPr lang="en-US" sz="800" dirty="0"/>
          </a:p>
          <a:p>
            <a:pPr marL="1085850" lvl="2" indent="-171450">
              <a:buFont typeface="Symbol" panose="05050102010706020507" pitchFamily="18" charset="2"/>
              <a:buChar char="-"/>
            </a:pPr>
            <a:r>
              <a:rPr lang="en-US" sz="800" dirty="0"/>
              <a:t>Pat. </a:t>
            </a:r>
            <a:r>
              <a:rPr lang="en-US" sz="800" dirty="0" err="1"/>
              <a:t>herausgesucht</a:t>
            </a:r>
            <a:r>
              <a:rPr lang="en-US" sz="800" dirty="0"/>
              <a:t>, die </a:t>
            </a:r>
            <a:r>
              <a:rPr lang="en-US" sz="800" dirty="0" err="1"/>
              <a:t>Werte</a:t>
            </a:r>
            <a:r>
              <a:rPr lang="en-US" sz="800" dirty="0"/>
              <a:t> für die </a:t>
            </a:r>
            <a:r>
              <a:rPr lang="en-US" sz="800" dirty="0" err="1"/>
              <a:t>Blutzellen</a:t>
            </a:r>
            <a:r>
              <a:rPr lang="en-US" sz="800" dirty="0"/>
              <a:t> </a:t>
            </a:r>
            <a:r>
              <a:rPr lang="en-US" sz="800" dirty="0" err="1"/>
              <a:t>haben</a:t>
            </a:r>
            <a:r>
              <a:rPr lang="en-US" sz="800" dirty="0"/>
              <a:t> und </a:t>
            </a:r>
            <a:r>
              <a:rPr lang="en-US" sz="800" dirty="0" err="1"/>
              <a:t>Anzahl</a:t>
            </a:r>
            <a:r>
              <a:rPr lang="en-US" sz="800" dirty="0"/>
              <a:t> der </a:t>
            </a:r>
            <a:r>
              <a:rPr lang="en-US" sz="800" dirty="0" err="1"/>
              <a:t>Messwerte</a:t>
            </a:r>
            <a:r>
              <a:rPr lang="en-US" sz="800" dirty="0"/>
              <a:t> pro Patient </a:t>
            </a:r>
            <a:r>
              <a:rPr lang="en-US" sz="800" dirty="0" err="1"/>
              <a:t>grafisch</a:t>
            </a:r>
            <a:r>
              <a:rPr lang="en-US" sz="800" dirty="0"/>
              <a:t> </a:t>
            </a:r>
            <a:r>
              <a:rPr lang="en-US" sz="800" dirty="0" err="1"/>
              <a:t>dargestellt</a:t>
            </a:r>
            <a:r>
              <a:rPr lang="en-US" sz="800" dirty="0"/>
              <a:t>, um </a:t>
            </a:r>
            <a:r>
              <a:rPr lang="en-US" sz="800" dirty="0" err="1"/>
              <a:t>Vergleichbarkeit</a:t>
            </a:r>
            <a:r>
              <a:rPr lang="en-US" sz="800" dirty="0"/>
              <a:t> der </a:t>
            </a:r>
            <a:r>
              <a:rPr lang="en-US" sz="800" dirty="0" err="1"/>
              <a:t>verschiedenen</a:t>
            </a:r>
            <a:r>
              <a:rPr lang="en-US" sz="800" dirty="0"/>
              <a:t> </a:t>
            </a:r>
            <a:r>
              <a:rPr lang="en-US" sz="800" dirty="0" err="1"/>
              <a:t>Patienten</a:t>
            </a:r>
            <a:r>
              <a:rPr lang="en-US" sz="800" dirty="0"/>
              <a:t> </a:t>
            </a:r>
            <a:r>
              <a:rPr lang="en-US" sz="800" dirty="0" err="1"/>
              <a:t>einer</a:t>
            </a:r>
            <a:r>
              <a:rPr lang="en-US" sz="800" dirty="0"/>
              <a:t> </a:t>
            </a:r>
            <a:r>
              <a:rPr lang="en-US" sz="800" dirty="0" err="1"/>
              <a:t>Reaktion</a:t>
            </a:r>
            <a:r>
              <a:rPr lang="en-US" sz="800" dirty="0"/>
              <a:t>-</a:t>
            </a:r>
            <a:r>
              <a:rPr lang="en-US" sz="800" dirty="0" err="1"/>
              <a:t>Medikamenten</a:t>
            </a:r>
            <a:r>
              <a:rPr lang="en-US" sz="800" dirty="0"/>
              <a:t>-Gruppe </a:t>
            </a:r>
            <a:r>
              <a:rPr lang="en-US" sz="800" dirty="0" err="1"/>
              <a:t>zu</a:t>
            </a:r>
            <a:r>
              <a:rPr lang="en-US" sz="800" dirty="0"/>
              <a:t> </a:t>
            </a:r>
            <a:r>
              <a:rPr lang="en-US" sz="800" dirty="0" err="1"/>
              <a:t>beurteilen</a:t>
            </a:r>
            <a:r>
              <a:rPr lang="en-US" sz="800" dirty="0"/>
              <a:t> (</a:t>
            </a:r>
            <a:r>
              <a:rPr lang="en-US" sz="800" dirty="0" err="1"/>
              <a:t>Ordner</a:t>
            </a:r>
            <a:r>
              <a:rPr lang="en-US" sz="800" dirty="0"/>
              <a:t>: “</a:t>
            </a:r>
            <a:r>
              <a:rPr lang="en-US" sz="800" dirty="0" err="1"/>
              <a:t>bloodsmear</a:t>
            </a:r>
            <a:r>
              <a:rPr lang="en-US" sz="800" dirty="0"/>
              <a:t>”, </a:t>
            </a:r>
            <a:r>
              <a:rPr lang="en-US" sz="800" dirty="0" err="1"/>
              <a:t>Datei</a:t>
            </a:r>
            <a:r>
              <a:rPr lang="en-US" sz="800" dirty="0"/>
              <a:t>: “graphs for </a:t>
            </a:r>
            <a:r>
              <a:rPr lang="en-US" sz="800" dirty="0" err="1"/>
              <a:t>bloodsmear</a:t>
            </a:r>
            <a:r>
              <a:rPr lang="en-US" sz="800" dirty="0"/>
              <a:t> comparison.pptx”)</a:t>
            </a:r>
          </a:p>
          <a:p>
            <a:pPr marL="1543050" lvl="3" indent="-171450">
              <a:buFont typeface="Symbol" panose="05050102010706020507" pitchFamily="18" charset="2"/>
              <a:buChar char="-"/>
            </a:pPr>
            <a:r>
              <a:rPr lang="en-US" sz="800" dirty="0" err="1"/>
              <a:t>Jeweils</a:t>
            </a:r>
            <a:r>
              <a:rPr lang="en-US" sz="800" dirty="0"/>
              <a:t> für alle </a:t>
            </a:r>
            <a:r>
              <a:rPr lang="en-US" sz="800" dirty="0" err="1"/>
              <a:t>drei</a:t>
            </a:r>
            <a:r>
              <a:rPr lang="en-US" sz="800" dirty="0"/>
              <a:t> </a:t>
            </a:r>
            <a:r>
              <a:rPr lang="en-US" sz="800" dirty="0" err="1"/>
              <a:t>Reaktions</a:t>
            </a:r>
            <a:r>
              <a:rPr lang="en-US" sz="800" dirty="0"/>
              <a:t>-Gruppen und alle </a:t>
            </a:r>
            <a:r>
              <a:rPr lang="en-US" sz="800" dirty="0" err="1"/>
              <a:t>drei</a:t>
            </a:r>
            <a:r>
              <a:rPr lang="en-US" sz="800" dirty="0"/>
              <a:t> </a:t>
            </a:r>
            <a:r>
              <a:rPr lang="en-US" sz="800" dirty="0" err="1"/>
              <a:t>Medikamentengruppen</a:t>
            </a:r>
            <a:r>
              <a:rPr lang="en-US" sz="800" dirty="0"/>
              <a:t> </a:t>
            </a:r>
            <a:r>
              <a:rPr lang="en-US" sz="800" dirty="0" err="1"/>
              <a:t>erstellt</a:t>
            </a:r>
            <a:endParaRPr lang="en-US" sz="800" dirty="0"/>
          </a:p>
          <a:p>
            <a:pPr marL="1543050" lvl="3" indent="-171450">
              <a:buFont typeface="Symbol" panose="05050102010706020507" pitchFamily="18" charset="2"/>
              <a:buChar char="-"/>
            </a:pPr>
            <a:r>
              <a:rPr lang="en-US" sz="800" dirty="0"/>
              <a:t>Fall </a:t>
            </a:r>
            <a:r>
              <a:rPr lang="de-DE" sz="800" dirty="0"/>
              <a:t>7126387</a:t>
            </a:r>
            <a:r>
              <a:rPr lang="en-US" sz="800" dirty="0"/>
              <a:t> </a:t>
            </a:r>
            <a:r>
              <a:rPr lang="en-US" sz="800" dirty="0" err="1"/>
              <a:t>aufgrund</a:t>
            </a:r>
            <a:r>
              <a:rPr lang="en-US" sz="800" dirty="0"/>
              <a:t> der </a:t>
            </a:r>
            <a:r>
              <a:rPr lang="en-US" sz="800" dirty="0" err="1"/>
              <a:t>hohen</a:t>
            </a:r>
            <a:r>
              <a:rPr lang="en-US" sz="800" dirty="0"/>
              <a:t> </a:t>
            </a:r>
            <a:r>
              <a:rPr lang="en-US" sz="800" dirty="0" err="1"/>
              <a:t>Anzahl</a:t>
            </a:r>
            <a:r>
              <a:rPr lang="en-US" sz="800" dirty="0"/>
              <a:t> an </a:t>
            </a:r>
            <a:r>
              <a:rPr lang="en-US" sz="800" dirty="0" err="1"/>
              <a:t>Messungen</a:t>
            </a:r>
            <a:r>
              <a:rPr lang="en-US" sz="800" dirty="0"/>
              <a:t> </a:t>
            </a:r>
            <a:r>
              <a:rPr lang="en-US" sz="800" dirty="0" err="1"/>
              <a:t>besonders</a:t>
            </a:r>
            <a:r>
              <a:rPr lang="en-US" sz="800" dirty="0"/>
              <a:t> </a:t>
            </a:r>
            <a:r>
              <a:rPr lang="en-US" sz="800" dirty="0" err="1"/>
              <a:t>betrachtet</a:t>
            </a:r>
            <a:endParaRPr lang="en-US" sz="800" dirty="0"/>
          </a:p>
          <a:p>
            <a:pPr marL="1085850" lvl="2" indent="-171450">
              <a:buFont typeface="Symbol" panose="05050102010706020507" pitchFamily="18" charset="2"/>
              <a:buChar char="-"/>
            </a:pPr>
            <a:r>
              <a:rPr lang="en-US" sz="800" dirty="0" err="1"/>
              <a:t>Patienten</a:t>
            </a:r>
            <a:r>
              <a:rPr lang="en-US" sz="800" dirty="0"/>
              <a:t> </a:t>
            </a:r>
            <a:r>
              <a:rPr lang="en-US" sz="800" dirty="0" err="1"/>
              <a:t>mit</a:t>
            </a:r>
            <a:r>
              <a:rPr lang="en-US" sz="800" dirty="0"/>
              <a:t> </a:t>
            </a:r>
            <a:r>
              <a:rPr lang="en-US" sz="800" dirty="0" err="1"/>
              <a:t>Eosinophilenwerten</a:t>
            </a:r>
            <a:r>
              <a:rPr lang="en-US" sz="800" dirty="0"/>
              <a:t> </a:t>
            </a:r>
            <a:r>
              <a:rPr lang="en-US" sz="800" dirty="0" err="1"/>
              <a:t>im</a:t>
            </a:r>
            <a:r>
              <a:rPr lang="en-US" sz="800" dirty="0"/>
              <a:t> </a:t>
            </a:r>
            <a:r>
              <a:rPr lang="en-US" sz="800" dirty="0" err="1"/>
              <a:t>zeitlichen</a:t>
            </a:r>
            <a:r>
              <a:rPr lang="en-US" sz="800" dirty="0"/>
              <a:t> </a:t>
            </a:r>
            <a:r>
              <a:rPr lang="en-US" sz="800" dirty="0" err="1"/>
              <a:t>Verlauf</a:t>
            </a:r>
            <a:r>
              <a:rPr lang="en-US" sz="800" dirty="0"/>
              <a:t> </a:t>
            </a:r>
            <a:r>
              <a:rPr lang="en-US" sz="800" dirty="0" err="1"/>
              <a:t>graphisch</a:t>
            </a:r>
            <a:r>
              <a:rPr lang="en-US" sz="800" dirty="0"/>
              <a:t> </a:t>
            </a:r>
            <a:r>
              <a:rPr lang="en-US" sz="800" dirty="0" err="1"/>
              <a:t>dargetstellt</a:t>
            </a:r>
            <a:r>
              <a:rPr lang="en-US" sz="800" dirty="0"/>
              <a:t> (</a:t>
            </a:r>
            <a:r>
              <a:rPr lang="en-US" sz="800" dirty="0" err="1"/>
              <a:t>Ordner</a:t>
            </a:r>
            <a:r>
              <a:rPr lang="en-US" sz="800" dirty="0"/>
              <a:t>: “</a:t>
            </a:r>
            <a:r>
              <a:rPr lang="en-US" sz="800" dirty="0" err="1"/>
              <a:t>bloodsmear</a:t>
            </a:r>
            <a:r>
              <a:rPr lang="en-US" sz="800" dirty="0"/>
              <a:t>”, “eosinophiles graphs time course.xlsx”)</a:t>
            </a:r>
          </a:p>
          <a:p>
            <a:pPr marL="628650" lvl="1" indent="-171450">
              <a:buFont typeface="Symbol" panose="05050102010706020507" pitchFamily="18" charset="2"/>
              <a:buChar char="-"/>
            </a:pPr>
            <a:r>
              <a:rPr lang="de-DE" sz="800" dirty="0"/>
              <a:t>Antikörpertiter</a:t>
            </a:r>
          </a:p>
          <a:p>
            <a:pPr marL="1085850" lvl="2" indent="-171450">
              <a:buFont typeface="Symbol" panose="05050102010706020507" pitchFamily="18" charset="2"/>
              <a:buChar char="-"/>
            </a:pPr>
            <a:r>
              <a:rPr lang="de-DE" sz="800" dirty="0"/>
              <a:t>Messungen in 3 verschiedenen Formen vorhanden: </a:t>
            </a:r>
            <a:r>
              <a:rPr lang="de-DE" sz="800" dirty="0" err="1"/>
              <a:t>Messert</a:t>
            </a:r>
            <a:r>
              <a:rPr lang="de-DE" sz="800" dirty="0"/>
              <a:t> als Titer oder in U/ml oder als Nachweis pos. oder neg. -&gt; 3 verschiedene Tabellen erstellt (Ordner: „ </a:t>
            </a:r>
            <a:r>
              <a:rPr lang="de-DE" sz="800" dirty="0" err="1"/>
              <a:t>Antibodies</a:t>
            </a:r>
            <a:r>
              <a:rPr lang="de-DE" sz="800" dirty="0"/>
              <a:t>“, Datei: „</a:t>
            </a:r>
            <a:r>
              <a:rPr lang="de-DE" sz="800" dirty="0" err="1"/>
              <a:t>Antibodies</a:t>
            </a:r>
            <a:r>
              <a:rPr lang="de-DE" sz="800" dirty="0"/>
              <a:t> statistics.xlsx“)</a:t>
            </a:r>
          </a:p>
          <a:p>
            <a:pPr marL="1085850" lvl="2" indent="-171450">
              <a:buFont typeface="Symbol" panose="05050102010706020507" pitchFamily="18" charset="2"/>
              <a:buChar char="-"/>
            </a:pPr>
            <a:r>
              <a:rPr lang="de-DE" sz="800" dirty="0"/>
              <a:t>Ordner: „ </a:t>
            </a:r>
            <a:r>
              <a:rPr lang="de-DE" sz="800" dirty="0" err="1"/>
              <a:t>Antibodies</a:t>
            </a:r>
            <a:r>
              <a:rPr lang="de-DE" sz="800" dirty="0"/>
              <a:t>“, Datei: „</a:t>
            </a:r>
            <a:r>
              <a:rPr lang="de-DE" sz="800" dirty="0" err="1"/>
              <a:t>Antibodies</a:t>
            </a:r>
            <a:r>
              <a:rPr lang="de-DE" sz="800" dirty="0"/>
              <a:t> statistics.xlsx“, Reiter: „Diagramms </a:t>
            </a:r>
            <a:r>
              <a:rPr lang="de-DE" sz="800" dirty="0" err="1"/>
              <a:t>quaQuantitative</a:t>
            </a:r>
            <a:r>
              <a:rPr lang="de-DE" sz="800" dirty="0"/>
              <a:t> Verteilung der Messwerte in allen drei Gruppen graphisch dargestellt (</a:t>
            </a:r>
            <a:r>
              <a:rPr lang="de-DE" sz="800" dirty="0" err="1"/>
              <a:t>nt</a:t>
            </a:r>
            <a:r>
              <a:rPr lang="de-DE" sz="800" dirty="0"/>
              <a:t>“)</a:t>
            </a:r>
          </a:p>
          <a:p>
            <a:pPr marL="1085850" lvl="2" indent="-171450">
              <a:buFont typeface="Symbol" panose="05050102010706020507" pitchFamily="18" charset="2"/>
              <a:buChar char="-"/>
            </a:pPr>
            <a:r>
              <a:rPr lang="de-DE" sz="800" dirty="0"/>
              <a:t>Qualitative Verteilung der Messwerte für die pos./neg.-Gruppe graphisch dargestellt (Ordner: „ </a:t>
            </a:r>
            <a:r>
              <a:rPr lang="de-DE" sz="800" dirty="0" err="1"/>
              <a:t>Antibodies</a:t>
            </a:r>
            <a:r>
              <a:rPr lang="de-DE" sz="800" dirty="0"/>
              <a:t>“, Datei: „</a:t>
            </a:r>
            <a:r>
              <a:rPr lang="de-DE" sz="800" dirty="0" err="1"/>
              <a:t>Antibodies</a:t>
            </a:r>
            <a:r>
              <a:rPr lang="de-DE" sz="800" dirty="0"/>
              <a:t> statistics.xlsx“, Reiter: „Diagramms </a:t>
            </a:r>
            <a:r>
              <a:rPr lang="de-DE" sz="800" dirty="0" err="1"/>
              <a:t>qual</a:t>
            </a:r>
            <a:r>
              <a:rPr lang="de-DE" sz="800" dirty="0"/>
              <a:t>“)</a:t>
            </a:r>
          </a:p>
          <a:p>
            <a:pPr marL="1543050" lvl="3" indent="-171450">
              <a:buFont typeface="Symbol" panose="05050102010706020507" pitchFamily="18" charset="2"/>
              <a:buChar char="-"/>
            </a:pPr>
            <a:r>
              <a:rPr lang="de-DE" sz="800" dirty="0"/>
              <a:t>Für die anderen beiden Gruppen (als Titer und in U/ml gemessen) nicht, da hier nur jeweils ein Parameter mehr als eine Messung aufwies (diese Messungen stattdessen direkt unter die Graphik „Diagramms </a:t>
            </a:r>
            <a:r>
              <a:rPr lang="de-DE" sz="800" dirty="0" err="1"/>
              <a:t>quant</a:t>
            </a:r>
            <a:r>
              <a:rPr lang="de-DE" sz="800" dirty="0"/>
              <a:t>“ geschrieben)</a:t>
            </a:r>
          </a:p>
          <a:p>
            <a:pPr marL="1085850" lvl="2" indent="-171450">
              <a:buFont typeface="Symbol" panose="05050102010706020507" pitchFamily="18" charset="2"/>
              <a:buChar char="-"/>
            </a:pPr>
            <a:r>
              <a:rPr lang="de-DE" sz="800" dirty="0">
                <a:solidFill>
                  <a:srgbClr val="FF0000"/>
                </a:solidFill>
              </a:rPr>
              <a:t>Wie häufig kommen Angaben zu Antikörpern vor (</a:t>
            </a:r>
            <a:r>
              <a:rPr lang="de-DE" sz="800" dirty="0" err="1">
                <a:solidFill>
                  <a:srgbClr val="FF0000"/>
                </a:solidFill>
              </a:rPr>
              <a:t>qual</a:t>
            </a:r>
            <a:r>
              <a:rPr lang="de-DE" sz="800" dirty="0">
                <a:solidFill>
                  <a:srgbClr val="FF0000"/>
                </a:solidFill>
              </a:rPr>
              <a:t>. und </a:t>
            </a:r>
            <a:r>
              <a:rPr lang="de-DE" sz="800" dirty="0" err="1">
                <a:solidFill>
                  <a:srgbClr val="FF0000"/>
                </a:solidFill>
              </a:rPr>
              <a:t>qunat</a:t>
            </a:r>
            <a:r>
              <a:rPr lang="de-DE" sz="800" dirty="0">
                <a:solidFill>
                  <a:srgbClr val="FF0000"/>
                </a:solidFill>
              </a:rPr>
              <a:t>.), sind diese bei SJS, Haut, Leber besonders erhöht?</a:t>
            </a:r>
          </a:p>
          <a:p>
            <a:pPr marL="628650" lvl="1" indent="-171450">
              <a:buFont typeface="Symbol" panose="05050102010706020507" pitchFamily="18" charset="2"/>
              <a:buChar char="-"/>
            </a:pPr>
            <a:r>
              <a:rPr lang="de-DE" sz="800" dirty="0"/>
              <a:t>Hospitalisation</a:t>
            </a:r>
          </a:p>
          <a:p>
            <a:pPr marL="1085850" lvl="2" indent="-171450">
              <a:buFont typeface="Symbol" panose="05050102010706020507" pitchFamily="18" charset="2"/>
              <a:buChar char="-"/>
            </a:pPr>
            <a:r>
              <a:rPr lang="de-DE" sz="800" dirty="0"/>
              <a:t>Alle Fallberichte noch Mals durchgegangen und herausgeschrieben, welche Fälle hospitalisiert sind</a:t>
            </a:r>
          </a:p>
          <a:p>
            <a:pPr marL="1085850" lvl="2" indent="-171450">
              <a:buFont typeface="Symbol" panose="05050102010706020507" pitchFamily="18" charset="2"/>
              <a:buChar char="-"/>
            </a:pPr>
            <a:r>
              <a:rPr lang="de-DE" sz="800" dirty="0"/>
              <a:t>Grafik zur Darstellung der Anzahl der hospitalisierten und nicht hospitalisierten Fälle erstellt (Ordner: „</a:t>
            </a:r>
            <a:r>
              <a:rPr lang="de-DE" sz="800" dirty="0" err="1"/>
              <a:t>hospitalisation</a:t>
            </a:r>
            <a:r>
              <a:rPr lang="de-DE" sz="800" dirty="0"/>
              <a:t>“, Datei: „</a:t>
            </a:r>
            <a:r>
              <a:rPr lang="de-DE" sz="800" dirty="0" err="1"/>
              <a:t>hospitalisation</a:t>
            </a:r>
            <a:r>
              <a:rPr lang="de-DE" sz="800" dirty="0"/>
              <a:t> </a:t>
            </a:r>
            <a:r>
              <a:rPr lang="de-DE" sz="800" dirty="0" err="1"/>
              <a:t>graphs</a:t>
            </a:r>
            <a:r>
              <a:rPr lang="de-DE" sz="800" dirty="0"/>
              <a:t>-xlsx“)</a:t>
            </a:r>
          </a:p>
          <a:p>
            <a:pPr marL="1085850" lvl="2" indent="-171450">
              <a:buFont typeface="Symbol" panose="05050102010706020507" pitchFamily="18" charset="2"/>
              <a:buChar char="-"/>
            </a:pPr>
            <a:r>
              <a:rPr lang="de-DE" sz="800" dirty="0"/>
              <a:t>Grafik zur Darstellung der wegen Leberreaktion oder sonstigen Gründen hospitalisierten Fälle erstellt  (Ordner: „</a:t>
            </a:r>
            <a:r>
              <a:rPr lang="de-DE" sz="800" dirty="0" err="1"/>
              <a:t>hospitalisation</a:t>
            </a:r>
            <a:r>
              <a:rPr lang="de-DE" sz="800" dirty="0"/>
              <a:t>“, Datei: „</a:t>
            </a:r>
            <a:r>
              <a:rPr lang="de-DE" sz="800" dirty="0" err="1"/>
              <a:t>hospitalisation</a:t>
            </a:r>
            <a:r>
              <a:rPr lang="de-DE" sz="800" dirty="0"/>
              <a:t> </a:t>
            </a:r>
            <a:r>
              <a:rPr lang="de-DE" sz="800" dirty="0" err="1"/>
              <a:t>graphs</a:t>
            </a:r>
            <a:r>
              <a:rPr lang="de-DE" sz="800" dirty="0"/>
              <a:t>-xlsx“)</a:t>
            </a:r>
          </a:p>
          <a:p>
            <a:pPr marL="1085850" lvl="2" indent="-171450">
              <a:buFont typeface="Symbol" panose="05050102010706020507" pitchFamily="18" charset="2"/>
              <a:buChar char="-"/>
            </a:pPr>
            <a:r>
              <a:rPr lang="de-DE" sz="800" dirty="0"/>
              <a:t>Laborwerte am Tag der Entlassung graphisch dargestellt (ohne minimal </a:t>
            </a:r>
            <a:r>
              <a:rPr lang="de-DE" sz="800" dirty="0" err="1"/>
              <a:t>count</a:t>
            </a:r>
            <a:r>
              <a:rPr lang="de-DE" sz="800" dirty="0"/>
              <a:t> </a:t>
            </a:r>
            <a:r>
              <a:rPr lang="de-DE" sz="800" dirty="0" err="1"/>
              <a:t>of</a:t>
            </a:r>
            <a:r>
              <a:rPr lang="de-DE" sz="800" dirty="0"/>
              <a:t> 3 Laborwerte) (Ordner: „</a:t>
            </a:r>
            <a:r>
              <a:rPr lang="de-DE" sz="800" dirty="0" err="1"/>
              <a:t>hospitalisation</a:t>
            </a:r>
            <a:r>
              <a:rPr lang="de-DE" sz="800" dirty="0"/>
              <a:t>“, Datei: </a:t>
            </a:r>
            <a:r>
              <a:rPr lang="en-US" sz="800" dirty="0" err="1"/>
              <a:t>labvalues</a:t>
            </a:r>
            <a:r>
              <a:rPr lang="en-US" sz="800" dirty="0"/>
              <a:t> at day of dismiss graphs.pptx</a:t>
            </a:r>
            <a:endParaRPr lang="de-DE" sz="800" dirty="0"/>
          </a:p>
          <a:p>
            <a:pPr marL="628650" lvl="1" indent="-171450">
              <a:buFont typeface="Symbol" panose="05050102010706020507" pitchFamily="18" charset="2"/>
              <a:buChar char="-"/>
            </a:pPr>
            <a:r>
              <a:rPr lang="de-DE" sz="800" dirty="0"/>
              <a:t>Mortalität</a:t>
            </a:r>
          </a:p>
          <a:p>
            <a:pPr marL="1085850" lvl="2" indent="-171450">
              <a:buFont typeface="Symbol" panose="05050102010706020507" pitchFamily="18" charset="2"/>
              <a:buChar char="-"/>
            </a:pPr>
            <a:r>
              <a:rPr lang="de-DE" sz="800" dirty="0"/>
              <a:t>Anzahl der Verstorbenen und Überlebenden graphisch dargestellt (Ordner: „</a:t>
            </a:r>
            <a:r>
              <a:rPr lang="de-DE" sz="800" dirty="0" err="1"/>
              <a:t>death</a:t>
            </a:r>
            <a:r>
              <a:rPr lang="de-DE" sz="800" dirty="0"/>
              <a:t>“, Datei: „</a:t>
            </a:r>
            <a:r>
              <a:rPr lang="de-DE" sz="800" dirty="0" err="1"/>
              <a:t>death</a:t>
            </a:r>
            <a:r>
              <a:rPr lang="de-DE" sz="800" dirty="0"/>
              <a:t> statistic.xlsx“)</a:t>
            </a:r>
          </a:p>
          <a:p>
            <a:pPr marL="1085850" lvl="2" indent="-171450">
              <a:buFont typeface="Symbol" panose="05050102010706020507" pitchFamily="18" charset="2"/>
              <a:buChar char="-"/>
            </a:pPr>
            <a:r>
              <a:rPr lang="de-DE" sz="800" dirty="0"/>
              <a:t>Suizidfälle sollten separat betrachtet werden: nur ein Suizidversuch (dieser hat überlebt)</a:t>
            </a:r>
          </a:p>
          <a:p>
            <a:pPr marL="628650" lvl="1" indent="-171450">
              <a:buFont typeface="Symbol" panose="05050102010706020507" pitchFamily="18" charset="2"/>
              <a:buChar char="-"/>
            </a:pPr>
            <a:r>
              <a:rPr lang="de-DE" sz="800" dirty="0" err="1"/>
              <a:t>Hepatitisfälle</a:t>
            </a:r>
            <a:endParaRPr lang="de-DE" sz="800" dirty="0"/>
          </a:p>
          <a:p>
            <a:pPr marL="1085850" lvl="2" indent="-171450">
              <a:buFont typeface="Symbol" panose="05050102010706020507" pitchFamily="18" charset="2"/>
              <a:buChar char="-"/>
            </a:pPr>
            <a:r>
              <a:rPr lang="de-DE" sz="800" dirty="0" err="1"/>
              <a:t>Hepatitisfälle</a:t>
            </a:r>
            <a:r>
              <a:rPr lang="de-DE" sz="800" dirty="0"/>
              <a:t> in folgende Gruppen unterteilt: </a:t>
            </a:r>
            <a:r>
              <a:rPr lang="de-DE" sz="800" dirty="0">
                <a:solidFill>
                  <a:srgbClr val="000000"/>
                </a:solidFill>
              </a:rPr>
              <a:t>serologisch positiv, viral;</a:t>
            </a:r>
            <a:r>
              <a:rPr lang="de-DE" sz="800" dirty="0"/>
              <a:t> </a:t>
            </a:r>
            <a:r>
              <a:rPr lang="de-DE" sz="800" dirty="0" err="1">
                <a:solidFill>
                  <a:srgbClr val="000000"/>
                </a:solidFill>
              </a:rPr>
              <a:t>serolog</a:t>
            </a:r>
            <a:r>
              <a:rPr lang="de-DE" sz="800" dirty="0">
                <a:solidFill>
                  <a:srgbClr val="000000"/>
                </a:solidFill>
              </a:rPr>
              <a:t>. </a:t>
            </a:r>
            <a:r>
              <a:rPr lang="de-DE" sz="800" dirty="0" err="1">
                <a:solidFill>
                  <a:srgbClr val="000000"/>
                </a:solidFill>
              </a:rPr>
              <a:t>Neg</a:t>
            </a:r>
            <a:r>
              <a:rPr lang="de-DE" sz="800" dirty="0">
                <a:solidFill>
                  <a:srgbClr val="000000"/>
                </a:solidFill>
              </a:rPr>
              <a:t> aber </a:t>
            </a:r>
            <a:r>
              <a:rPr lang="de-DE" sz="800" dirty="0" err="1">
                <a:solidFill>
                  <a:srgbClr val="000000"/>
                </a:solidFill>
              </a:rPr>
              <a:t>autoantikörper</a:t>
            </a:r>
            <a:r>
              <a:rPr lang="de-DE" sz="800" dirty="0">
                <a:solidFill>
                  <a:srgbClr val="000000"/>
                </a:solidFill>
              </a:rPr>
              <a:t> pos.;</a:t>
            </a:r>
            <a:r>
              <a:rPr lang="de-DE" sz="800" dirty="0"/>
              <a:t> </a:t>
            </a:r>
            <a:r>
              <a:rPr lang="de-DE" sz="800" dirty="0" err="1">
                <a:solidFill>
                  <a:srgbClr val="000000"/>
                </a:solidFill>
              </a:rPr>
              <a:t>serolog</a:t>
            </a:r>
            <a:r>
              <a:rPr lang="de-DE" sz="800" dirty="0">
                <a:solidFill>
                  <a:srgbClr val="000000"/>
                </a:solidFill>
              </a:rPr>
              <a:t>. pos. und </a:t>
            </a:r>
            <a:r>
              <a:rPr lang="de-DE" sz="800" dirty="0" err="1">
                <a:solidFill>
                  <a:srgbClr val="000000"/>
                </a:solidFill>
              </a:rPr>
              <a:t>Antoantikörper</a:t>
            </a:r>
            <a:r>
              <a:rPr lang="de-DE" sz="800" dirty="0">
                <a:solidFill>
                  <a:srgbClr val="000000"/>
                </a:solidFill>
              </a:rPr>
              <a:t> pos.;</a:t>
            </a:r>
            <a:r>
              <a:rPr lang="de-DE" sz="800" dirty="0"/>
              <a:t> </a:t>
            </a:r>
            <a:r>
              <a:rPr lang="de-DE" sz="800" dirty="0">
                <a:solidFill>
                  <a:srgbClr val="000000"/>
                </a:solidFill>
              </a:rPr>
              <a:t>Hepatitis (unbekannter Art); </a:t>
            </a:r>
            <a:r>
              <a:rPr lang="de-DE" sz="800" dirty="0"/>
              <a:t> </a:t>
            </a:r>
            <a:r>
              <a:rPr lang="de-DE" sz="800" dirty="0">
                <a:solidFill>
                  <a:srgbClr val="000000"/>
                </a:solidFill>
              </a:rPr>
              <a:t>toxische Hepatitis;</a:t>
            </a:r>
            <a:r>
              <a:rPr lang="de-DE" sz="800" dirty="0"/>
              <a:t> </a:t>
            </a:r>
            <a:r>
              <a:rPr lang="de-DE" sz="800" dirty="0">
                <a:solidFill>
                  <a:srgbClr val="000000"/>
                </a:solidFill>
              </a:rPr>
              <a:t>infektiöse Hepatitis;</a:t>
            </a:r>
            <a:r>
              <a:rPr lang="de-DE" sz="800" dirty="0"/>
              <a:t> </a:t>
            </a:r>
            <a:r>
              <a:rPr lang="de-DE" sz="800" dirty="0">
                <a:solidFill>
                  <a:srgbClr val="000000"/>
                </a:solidFill>
              </a:rPr>
              <a:t>cholestatische Hepatitis;</a:t>
            </a:r>
            <a:r>
              <a:rPr lang="de-DE" sz="800" dirty="0"/>
              <a:t> </a:t>
            </a:r>
            <a:r>
              <a:rPr lang="de-DE" sz="800" dirty="0">
                <a:solidFill>
                  <a:srgbClr val="000000"/>
                </a:solidFill>
              </a:rPr>
              <a:t>hepatozellulär</a:t>
            </a:r>
            <a:r>
              <a:rPr lang="de-DE" sz="800" dirty="0"/>
              <a:t> </a:t>
            </a:r>
            <a:r>
              <a:rPr lang="de-DE" sz="800" dirty="0" err="1">
                <a:solidFill>
                  <a:srgbClr val="000000"/>
                </a:solidFill>
              </a:rPr>
              <a:t>mixed</a:t>
            </a:r>
            <a:r>
              <a:rPr lang="de-DE" sz="800" dirty="0"/>
              <a:t> Hepatitis (Ordner: „</a:t>
            </a:r>
            <a:r>
              <a:rPr lang="de-DE" sz="800" dirty="0" err="1"/>
              <a:t>hepatitis</a:t>
            </a:r>
            <a:r>
              <a:rPr lang="de-DE" sz="800" dirty="0"/>
              <a:t> </a:t>
            </a:r>
            <a:r>
              <a:rPr lang="de-DE" sz="800" dirty="0" err="1"/>
              <a:t>labvalues</a:t>
            </a:r>
            <a:r>
              <a:rPr lang="de-DE" sz="800" dirty="0"/>
              <a:t> </a:t>
            </a:r>
            <a:r>
              <a:rPr lang="de-DE" sz="800" dirty="0" err="1"/>
              <a:t>comparison</a:t>
            </a:r>
            <a:r>
              <a:rPr lang="de-DE" sz="800" dirty="0"/>
              <a:t>“, Datei: „</a:t>
            </a:r>
            <a:r>
              <a:rPr lang="en-US" sz="800" dirty="0"/>
              <a:t>Hepatitis calculation antibodies + r value (2nd try).xlsx</a:t>
            </a:r>
            <a:r>
              <a:rPr lang="de-DE" sz="800" dirty="0"/>
              <a:t>“)</a:t>
            </a:r>
          </a:p>
          <a:p>
            <a:pPr marL="1085850" lvl="2" indent="-171450">
              <a:buFont typeface="Symbol" panose="05050102010706020507" pitchFamily="18" charset="2"/>
              <a:buChar char="-"/>
            </a:pPr>
            <a:r>
              <a:rPr lang="de-DE" sz="800" dirty="0"/>
              <a:t>R-Wert für alle Fälle berechnet und manuelle Bestimmung von hepatisch, cholestatisch oder </a:t>
            </a:r>
            <a:r>
              <a:rPr lang="de-DE" sz="800" dirty="0" err="1"/>
              <a:t>mixed</a:t>
            </a:r>
            <a:r>
              <a:rPr lang="de-DE" sz="800" dirty="0"/>
              <a:t> durchgeführt (Ordner: „</a:t>
            </a:r>
            <a:r>
              <a:rPr lang="de-DE" sz="800" dirty="0" err="1"/>
              <a:t>hepatitis</a:t>
            </a:r>
            <a:r>
              <a:rPr lang="de-DE" sz="800" dirty="0"/>
              <a:t> </a:t>
            </a:r>
            <a:r>
              <a:rPr lang="de-DE" sz="800" dirty="0" err="1"/>
              <a:t>labvalues</a:t>
            </a:r>
            <a:r>
              <a:rPr lang="de-DE" sz="800" dirty="0"/>
              <a:t> </a:t>
            </a:r>
            <a:r>
              <a:rPr lang="de-DE" sz="800" dirty="0" err="1"/>
              <a:t>comparison</a:t>
            </a:r>
            <a:r>
              <a:rPr lang="de-DE" sz="800" dirty="0"/>
              <a:t>“, Datei: „</a:t>
            </a:r>
            <a:r>
              <a:rPr lang="en-US" sz="800" dirty="0"/>
              <a:t>Hepatitis calculation antibodies + r value (2nd try).xlsx</a:t>
            </a:r>
            <a:r>
              <a:rPr lang="de-DE" sz="800" dirty="0"/>
              <a:t>“)</a:t>
            </a:r>
          </a:p>
          <a:p>
            <a:pPr marL="1085850" lvl="2" indent="-171450">
              <a:buFont typeface="Symbol" panose="05050102010706020507" pitchFamily="18" charset="2"/>
              <a:buChar char="-"/>
            </a:pPr>
            <a:r>
              <a:rPr lang="de-DE" sz="800" dirty="0"/>
              <a:t>Verteilung der Fälle in den drei Gruppen graphisch dargestellt (Ordner: „</a:t>
            </a:r>
            <a:r>
              <a:rPr lang="de-DE" sz="800" dirty="0" err="1"/>
              <a:t>hepatitis</a:t>
            </a:r>
            <a:r>
              <a:rPr lang="de-DE" sz="800" dirty="0"/>
              <a:t> </a:t>
            </a:r>
            <a:r>
              <a:rPr lang="de-DE" sz="800" dirty="0" err="1"/>
              <a:t>labvalues</a:t>
            </a:r>
            <a:r>
              <a:rPr lang="de-DE" sz="800" dirty="0"/>
              <a:t> </a:t>
            </a:r>
            <a:r>
              <a:rPr lang="de-DE" sz="800" dirty="0" err="1"/>
              <a:t>comparison</a:t>
            </a:r>
            <a:r>
              <a:rPr lang="de-DE" sz="800" dirty="0"/>
              <a:t>“, Datei: „</a:t>
            </a:r>
            <a:r>
              <a:rPr lang="en-US" sz="800" dirty="0"/>
              <a:t>Hepatitis calculation antibodies + r value (2nd try).xlsx</a:t>
            </a:r>
            <a:r>
              <a:rPr lang="de-DE" sz="800" dirty="0"/>
              <a:t>“)</a:t>
            </a:r>
          </a:p>
          <a:p>
            <a:pPr marL="1085850" lvl="2" indent="-171450">
              <a:buFont typeface="Symbol" panose="05050102010706020507" pitchFamily="18" charset="2"/>
              <a:buChar char="-"/>
            </a:pPr>
            <a:r>
              <a:rPr lang="de-DE" sz="800" dirty="0"/>
              <a:t>Zeitlichen Verlauf der R-Werte graphisch dargestellt für die 5 Patienten der jeweiligen Medikamentengruppen, welche die meisten Messwerte </a:t>
            </a:r>
            <a:r>
              <a:rPr lang="de-DE" sz="800" dirty="0" err="1"/>
              <a:t>ehtnalten</a:t>
            </a:r>
            <a:r>
              <a:rPr lang="de-DE" sz="800" dirty="0"/>
              <a:t> (Ordner: „</a:t>
            </a:r>
            <a:r>
              <a:rPr lang="de-DE" sz="800" dirty="0" err="1"/>
              <a:t>hepatitis</a:t>
            </a:r>
            <a:r>
              <a:rPr lang="de-DE" sz="800" dirty="0"/>
              <a:t> </a:t>
            </a:r>
            <a:r>
              <a:rPr lang="de-DE" sz="800" dirty="0" err="1"/>
              <a:t>labvalues</a:t>
            </a:r>
            <a:r>
              <a:rPr lang="de-DE" sz="800" dirty="0"/>
              <a:t> </a:t>
            </a:r>
            <a:r>
              <a:rPr lang="de-DE" sz="800" dirty="0" err="1"/>
              <a:t>comparison</a:t>
            </a:r>
            <a:r>
              <a:rPr lang="de-DE" sz="800" dirty="0"/>
              <a:t>“, Datei: „</a:t>
            </a:r>
            <a:r>
              <a:rPr lang="en-US" sz="800" dirty="0"/>
              <a:t>Hepatitis calculation antibodies + r value (2nd try).xlsx</a:t>
            </a:r>
            <a:r>
              <a:rPr lang="de-DE" sz="800" dirty="0"/>
              <a:t>“)</a:t>
            </a:r>
          </a:p>
          <a:p>
            <a:pPr marL="628650" lvl="1" indent="-171450">
              <a:buFont typeface="Symbol" panose="05050102010706020507" pitchFamily="18" charset="2"/>
              <a:buChar char="-"/>
            </a:pPr>
            <a:r>
              <a:rPr lang="de-DE" sz="800" dirty="0" err="1"/>
              <a:t>Rucham</a:t>
            </a:r>
            <a:r>
              <a:rPr lang="de-DE" sz="800" dirty="0"/>
              <a:t>-Score</a:t>
            </a:r>
          </a:p>
          <a:p>
            <a:pPr marL="1085850" lvl="2" indent="-171450">
              <a:buFont typeface="Symbol" panose="05050102010706020507" pitchFamily="18" charset="2"/>
              <a:buChar char="-"/>
            </a:pPr>
            <a:r>
              <a:rPr lang="de-DE" sz="800" dirty="0" err="1"/>
              <a:t>Rucham</a:t>
            </a:r>
            <a:r>
              <a:rPr lang="de-DE" sz="800" dirty="0"/>
              <a:t>-Score für die Fälle erstellt, die keine Kausalitätsbewertung im Narrative haben</a:t>
            </a:r>
          </a:p>
          <a:p>
            <a:pPr marL="1085850" lvl="2" indent="-171450">
              <a:buFont typeface="Symbol" panose="05050102010706020507" pitchFamily="18" charset="2"/>
              <a:buChar char="-"/>
            </a:pPr>
            <a:r>
              <a:rPr lang="de-DE" sz="800" dirty="0"/>
              <a:t>Vergleich der Laborwerte der mittels </a:t>
            </a:r>
            <a:r>
              <a:rPr lang="de-DE" sz="800" dirty="0" err="1"/>
              <a:t>Rucham</a:t>
            </a:r>
            <a:r>
              <a:rPr lang="de-DE" sz="800" dirty="0"/>
              <a:t>-Score bewerteten und vom behandelten Arzt bewerteten Fällen</a:t>
            </a:r>
          </a:p>
          <a:p>
            <a:pPr marL="628650" lvl="1" indent="-171450">
              <a:buFont typeface="Symbol" panose="05050102010706020507" pitchFamily="18" charset="2"/>
              <a:buChar char="-"/>
            </a:pPr>
            <a:r>
              <a:rPr lang="de-DE" sz="800" dirty="0"/>
              <a:t>Halo-Effekt</a:t>
            </a:r>
          </a:p>
          <a:p>
            <a:pPr marL="1085850" lvl="2" indent="-171450">
              <a:buFont typeface="Symbol" panose="05050102010706020507" pitchFamily="18" charset="2"/>
              <a:buChar char="-"/>
            </a:pPr>
            <a:r>
              <a:rPr lang="de-DE" sz="800" dirty="0"/>
              <a:t>Cholestase – Mortalität auf </a:t>
            </a:r>
            <a:r>
              <a:rPr lang="de-DE" sz="800" dirty="0" err="1"/>
              <a:t>korrelation</a:t>
            </a:r>
            <a:r>
              <a:rPr lang="de-DE" sz="800" dirty="0"/>
              <a:t> untersucht (Ordner: „</a:t>
            </a:r>
            <a:r>
              <a:rPr lang="de-DE" sz="800" dirty="0" err="1"/>
              <a:t>halo-effect</a:t>
            </a:r>
            <a:r>
              <a:rPr lang="de-DE" sz="800" dirty="0"/>
              <a:t>“, </a:t>
            </a:r>
            <a:r>
              <a:rPr lang="de-DE" sz="800"/>
              <a:t>Datei: </a:t>
            </a:r>
            <a:endParaRPr lang="de-DE" sz="800" dirty="0"/>
          </a:p>
          <a:p>
            <a:pPr marL="628650" lvl="1" indent="-171450">
              <a:buFont typeface="Symbol" panose="05050102010706020507" pitchFamily="18" charset="2"/>
              <a:buChar char="-"/>
            </a:pPr>
            <a:r>
              <a:rPr lang="en-US" sz="800" dirty="0">
                <a:solidFill>
                  <a:srgbClr val="FF0000"/>
                </a:solidFill>
              </a:rPr>
              <a:t>Co-</a:t>
            </a:r>
            <a:r>
              <a:rPr lang="en-US" sz="800" dirty="0" err="1">
                <a:solidFill>
                  <a:srgbClr val="FF0000"/>
                </a:solidFill>
              </a:rPr>
              <a:t>Medikation</a:t>
            </a:r>
            <a:endParaRPr lang="en-US" sz="800" dirty="0">
              <a:solidFill>
                <a:srgbClr val="FF0000"/>
              </a:solidFill>
            </a:endParaRPr>
          </a:p>
          <a:p>
            <a:pPr marL="1085850" lvl="2" indent="-171450">
              <a:buFont typeface="Symbol" panose="05050102010706020507" pitchFamily="18" charset="2"/>
              <a:buChar char="-"/>
            </a:pPr>
            <a:r>
              <a:rPr lang="en-US" sz="800" dirty="0" err="1"/>
              <a:t>Fälle</a:t>
            </a:r>
            <a:r>
              <a:rPr lang="en-US" sz="800" dirty="0"/>
              <a:t> </a:t>
            </a:r>
            <a:r>
              <a:rPr lang="en-US" sz="800" dirty="0" err="1"/>
              <a:t>mit</a:t>
            </a:r>
            <a:r>
              <a:rPr lang="en-US" sz="800" dirty="0"/>
              <a:t> 999 </a:t>
            </a:r>
            <a:r>
              <a:rPr lang="en-US" sz="800" dirty="0" err="1"/>
              <a:t>korrigiert</a:t>
            </a:r>
            <a:endParaRPr lang="en-US" sz="800" dirty="0"/>
          </a:p>
          <a:p>
            <a:pPr marL="1085850" lvl="2" indent="-171450">
              <a:buFont typeface="Symbol" panose="05050102010706020507" pitchFamily="18" charset="2"/>
              <a:buChar char="-"/>
            </a:pPr>
            <a:r>
              <a:rPr lang="en-US" sz="800" dirty="0"/>
              <a:t>Code für </a:t>
            </a:r>
            <a:r>
              <a:rPr lang="en-US" sz="800" dirty="0" err="1"/>
              <a:t>Medikamentengruppen</a:t>
            </a:r>
            <a:r>
              <a:rPr lang="en-US" sz="800" dirty="0"/>
              <a:t> </a:t>
            </a:r>
            <a:r>
              <a:rPr lang="en-US" sz="800" dirty="0" err="1"/>
              <a:t>erstellt</a:t>
            </a:r>
            <a:endParaRPr lang="de-DE" sz="800" dirty="0"/>
          </a:p>
          <a:p>
            <a:pPr marL="1085850" lvl="2" indent="-171450">
              <a:buFont typeface="Symbol" panose="05050102010706020507" pitchFamily="18" charset="2"/>
              <a:buChar char="-"/>
            </a:pPr>
            <a:endParaRPr lang="de-DE" sz="800" dirty="0"/>
          </a:p>
          <a:p>
            <a:pPr marL="1543050" lvl="3" indent="-171450">
              <a:buFont typeface="Symbol" panose="05050102010706020507" pitchFamily="18" charset="2"/>
              <a:buChar char="-"/>
            </a:pPr>
            <a:endParaRPr lang="de-DE" sz="800" dirty="0"/>
          </a:p>
          <a:p>
            <a:pPr marL="1543050" lvl="3" indent="-171450">
              <a:buFont typeface="Symbol" panose="05050102010706020507" pitchFamily="18" charset="2"/>
              <a:buChar char="-"/>
            </a:pPr>
            <a:endParaRPr lang="de-DE" sz="800" dirty="0"/>
          </a:p>
        </p:txBody>
      </p:sp>
    </p:spTree>
    <p:extLst>
      <p:ext uri="{BB962C8B-B14F-4D97-AF65-F5344CB8AC3E}">
        <p14:creationId xmlns:p14="http://schemas.microsoft.com/office/powerpoint/2010/main" val="88227238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2556</Words>
  <Application>Microsoft Office PowerPoint</Application>
  <PresentationFormat>Benutzerdefiniert</PresentationFormat>
  <Paragraphs>364</Paragraphs>
  <Slides>7</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7</vt:i4>
      </vt:variant>
    </vt:vector>
  </HeadingPairs>
  <TitlesOfParts>
    <vt:vector size="12" baseType="lpstr">
      <vt:lpstr>Arial</vt:lpstr>
      <vt:lpstr>Calibri</vt:lpstr>
      <vt:lpstr>Calibri Light</vt:lpstr>
      <vt:lpstr>Symbol</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lw-r</dc:creator>
  <cp:lastModifiedBy>lw-r</cp:lastModifiedBy>
  <cp:revision>80</cp:revision>
  <dcterms:created xsi:type="dcterms:W3CDTF">2024-07-29T11:41:39Z</dcterms:created>
  <dcterms:modified xsi:type="dcterms:W3CDTF">2024-12-06T14:43:17Z</dcterms:modified>
</cp:coreProperties>
</file>