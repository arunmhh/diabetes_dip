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61" r:id="rId3"/>
    <p:sldId id="259" r:id="rId4"/>
    <p:sldId id="258" r:id="rId5"/>
  </p:sldIdLst>
  <p:sldSz cx="10817225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023" autoAdjust="0"/>
    <p:restoredTop sz="94660"/>
  </p:normalViewPr>
  <p:slideViewPr>
    <p:cSldViewPr snapToGrid="0">
      <p:cViewPr varScale="1">
        <p:scale>
          <a:sx n="63" d="100"/>
          <a:sy n="63" d="100"/>
        </p:scale>
        <p:origin x="33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1292" y="1995312"/>
            <a:ext cx="9194641" cy="4244622"/>
          </a:xfrm>
        </p:spPr>
        <p:txBody>
          <a:bodyPr anchor="b"/>
          <a:lstStyle>
            <a:lvl1pPr algn="ctr">
              <a:defRPr sz="709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2153" y="6403623"/>
            <a:ext cx="8112919" cy="2943577"/>
          </a:xfrm>
        </p:spPr>
        <p:txBody>
          <a:bodyPr/>
          <a:lstStyle>
            <a:lvl1pPr marL="0" indent="0" algn="ctr">
              <a:buNone/>
              <a:defRPr sz="2839"/>
            </a:lvl1pPr>
            <a:lvl2pPr marL="540868" indent="0" algn="ctr">
              <a:buNone/>
              <a:defRPr sz="2366"/>
            </a:lvl2pPr>
            <a:lvl3pPr marL="1081735" indent="0" algn="ctr">
              <a:buNone/>
              <a:defRPr sz="2129"/>
            </a:lvl3pPr>
            <a:lvl4pPr marL="1622603" indent="0" algn="ctr">
              <a:buNone/>
              <a:defRPr sz="1893"/>
            </a:lvl4pPr>
            <a:lvl5pPr marL="2163470" indent="0" algn="ctr">
              <a:buNone/>
              <a:defRPr sz="1893"/>
            </a:lvl5pPr>
            <a:lvl6pPr marL="2704338" indent="0" algn="ctr">
              <a:buNone/>
              <a:defRPr sz="1893"/>
            </a:lvl6pPr>
            <a:lvl7pPr marL="3245206" indent="0" algn="ctr">
              <a:buNone/>
              <a:defRPr sz="1893"/>
            </a:lvl7pPr>
            <a:lvl8pPr marL="3786073" indent="0" algn="ctr">
              <a:buNone/>
              <a:defRPr sz="1893"/>
            </a:lvl8pPr>
            <a:lvl9pPr marL="4326941" indent="0" algn="ctr">
              <a:buNone/>
              <a:defRPr sz="189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684F6-193E-4564-8CF2-248B90A67447}" type="datetimeFigureOut">
              <a:rPr lang="de-DE" smtClean="0"/>
              <a:t>06.12.2024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795A4-DEF9-4A19-8690-AD80F0EDA9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693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684F6-193E-4564-8CF2-248B90A67447}" type="datetimeFigureOut">
              <a:rPr lang="de-DE" smtClean="0"/>
              <a:t>06.12.2024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795A4-DEF9-4A19-8690-AD80F0EDA9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572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051" y="3039537"/>
            <a:ext cx="9329857" cy="5071532"/>
          </a:xfrm>
        </p:spPr>
        <p:txBody>
          <a:bodyPr anchor="b"/>
          <a:lstStyle>
            <a:lvl1pPr>
              <a:defRPr sz="709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8051" y="8159048"/>
            <a:ext cx="9329857" cy="2666999"/>
          </a:xfrm>
        </p:spPr>
        <p:txBody>
          <a:bodyPr/>
          <a:lstStyle>
            <a:lvl1pPr marL="0" indent="0">
              <a:buNone/>
              <a:defRPr sz="2839">
                <a:solidFill>
                  <a:schemeClr val="tx1"/>
                </a:solidFill>
              </a:defRPr>
            </a:lvl1pPr>
            <a:lvl2pPr marL="540868" indent="0">
              <a:buNone/>
              <a:defRPr sz="2366">
                <a:solidFill>
                  <a:schemeClr val="tx1">
                    <a:tint val="75000"/>
                  </a:schemeClr>
                </a:solidFill>
              </a:defRPr>
            </a:lvl2pPr>
            <a:lvl3pPr marL="1081735" indent="0">
              <a:buNone/>
              <a:defRPr sz="2129">
                <a:solidFill>
                  <a:schemeClr val="tx1">
                    <a:tint val="75000"/>
                  </a:schemeClr>
                </a:solidFill>
              </a:defRPr>
            </a:lvl3pPr>
            <a:lvl4pPr marL="1622603" indent="0">
              <a:buNone/>
              <a:defRPr sz="1893">
                <a:solidFill>
                  <a:schemeClr val="tx1">
                    <a:tint val="75000"/>
                  </a:schemeClr>
                </a:solidFill>
              </a:defRPr>
            </a:lvl4pPr>
            <a:lvl5pPr marL="2163470" indent="0">
              <a:buNone/>
              <a:defRPr sz="1893">
                <a:solidFill>
                  <a:schemeClr val="tx1">
                    <a:tint val="75000"/>
                  </a:schemeClr>
                </a:solidFill>
              </a:defRPr>
            </a:lvl5pPr>
            <a:lvl6pPr marL="2704338" indent="0">
              <a:buNone/>
              <a:defRPr sz="1893">
                <a:solidFill>
                  <a:schemeClr val="tx1">
                    <a:tint val="75000"/>
                  </a:schemeClr>
                </a:solidFill>
              </a:defRPr>
            </a:lvl6pPr>
            <a:lvl7pPr marL="3245206" indent="0">
              <a:buNone/>
              <a:defRPr sz="1893">
                <a:solidFill>
                  <a:schemeClr val="tx1">
                    <a:tint val="75000"/>
                  </a:schemeClr>
                </a:solidFill>
              </a:defRPr>
            </a:lvl7pPr>
            <a:lvl8pPr marL="3786073" indent="0">
              <a:buNone/>
              <a:defRPr sz="1893">
                <a:solidFill>
                  <a:schemeClr val="tx1">
                    <a:tint val="75000"/>
                  </a:schemeClr>
                </a:solidFill>
              </a:defRPr>
            </a:lvl8pPr>
            <a:lvl9pPr marL="4326941" indent="0">
              <a:buNone/>
              <a:defRPr sz="18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684F6-193E-4564-8CF2-248B90A67447}" type="datetimeFigureOut">
              <a:rPr lang="de-DE" smtClean="0"/>
              <a:t>06.12.2024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795A4-DEF9-4A19-8690-AD80F0EDA9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7108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3684" y="3245556"/>
            <a:ext cx="4597321" cy="7735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76220" y="3245556"/>
            <a:ext cx="4597321" cy="77357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684F6-193E-4564-8CF2-248B90A67447}" type="datetimeFigureOut">
              <a:rPr lang="de-DE" smtClean="0"/>
              <a:t>06.12.2024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795A4-DEF9-4A19-8690-AD80F0EDA9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771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093" y="649114"/>
            <a:ext cx="9329857" cy="235655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5095" y="2988734"/>
            <a:ext cx="4576192" cy="1464732"/>
          </a:xfrm>
        </p:spPr>
        <p:txBody>
          <a:bodyPr anchor="b"/>
          <a:lstStyle>
            <a:lvl1pPr marL="0" indent="0">
              <a:buNone/>
              <a:defRPr sz="2839" b="1"/>
            </a:lvl1pPr>
            <a:lvl2pPr marL="540868" indent="0">
              <a:buNone/>
              <a:defRPr sz="2366" b="1"/>
            </a:lvl2pPr>
            <a:lvl3pPr marL="1081735" indent="0">
              <a:buNone/>
              <a:defRPr sz="2129" b="1"/>
            </a:lvl3pPr>
            <a:lvl4pPr marL="1622603" indent="0">
              <a:buNone/>
              <a:defRPr sz="1893" b="1"/>
            </a:lvl4pPr>
            <a:lvl5pPr marL="2163470" indent="0">
              <a:buNone/>
              <a:defRPr sz="1893" b="1"/>
            </a:lvl5pPr>
            <a:lvl6pPr marL="2704338" indent="0">
              <a:buNone/>
              <a:defRPr sz="1893" b="1"/>
            </a:lvl6pPr>
            <a:lvl7pPr marL="3245206" indent="0">
              <a:buNone/>
              <a:defRPr sz="1893" b="1"/>
            </a:lvl7pPr>
            <a:lvl8pPr marL="3786073" indent="0">
              <a:buNone/>
              <a:defRPr sz="1893" b="1"/>
            </a:lvl8pPr>
            <a:lvl9pPr marL="4326941" indent="0">
              <a:buNone/>
              <a:defRPr sz="189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5095" y="4453467"/>
            <a:ext cx="4576192" cy="65503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76221" y="2988734"/>
            <a:ext cx="4598730" cy="1464732"/>
          </a:xfrm>
        </p:spPr>
        <p:txBody>
          <a:bodyPr anchor="b"/>
          <a:lstStyle>
            <a:lvl1pPr marL="0" indent="0">
              <a:buNone/>
              <a:defRPr sz="2839" b="1"/>
            </a:lvl1pPr>
            <a:lvl2pPr marL="540868" indent="0">
              <a:buNone/>
              <a:defRPr sz="2366" b="1"/>
            </a:lvl2pPr>
            <a:lvl3pPr marL="1081735" indent="0">
              <a:buNone/>
              <a:defRPr sz="2129" b="1"/>
            </a:lvl3pPr>
            <a:lvl4pPr marL="1622603" indent="0">
              <a:buNone/>
              <a:defRPr sz="1893" b="1"/>
            </a:lvl4pPr>
            <a:lvl5pPr marL="2163470" indent="0">
              <a:buNone/>
              <a:defRPr sz="1893" b="1"/>
            </a:lvl5pPr>
            <a:lvl6pPr marL="2704338" indent="0">
              <a:buNone/>
              <a:defRPr sz="1893" b="1"/>
            </a:lvl6pPr>
            <a:lvl7pPr marL="3245206" indent="0">
              <a:buNone/>
              <a:defRPr sz="1893" b="1"/>
            </a:lvl7pPr>
            <a:lvl8pPr marL="3786073" indent="0">
              <a:buNone/>
              <a:defRPr sz="1893" b="1"/>
            </a:lvl8pPr>
            <a:lvl9pPr marL="4326941" indent="0">
              <a:buNone/>
              <a:defRPr sz="189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76221" y="4453467"/>
            <a:ext cx="4598730" cy="65503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684F6-193E-4564-8CF2-248B90A67447}" type="datetimeFigureOut">
              <a:rPr lang="de-DE" smtClean="0"/>
              <a:t>06.12.2024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795A4-DEF9-4A19-8690-AD80F0EDA9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1719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684F6-193E-4564-8CF2-248B90A67447}" type="datetimeFigureOut">
              <a:rPr lang="de-DE" smtClean="0"/>
              <a:t>06.12.2024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795A4-DEF9-4A19-8690-AD80F0EDA9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3378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684F6-193E-4564-8CF2-248B90A67447}" type="datetimeFigureOut">
              <a:rPr lang="de-DE" smtClean="0"/>
              <a:t>06.12.2024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795A4-DEF9-4A19-8690-AD80F0EDA9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404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093" y="812800"/>
            <a:ext cx="3488837" cy="2844800"/>
          </a:xfrm>
        </p:spPr>
        <p:txBody>
          <a:bodyPr anchor="b"/>
          <a:lstStyle>
            <a:lvl1pPr>
              <a:defRPr sz="378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8730" y="1755425"/>
            <a:ext cx="5476220" cy="8664222"/>
          </a:xfrm>
        </p:spPr>
        <p:txBody>
          <a:bodyPr/>
          <a:lstStyle>
            <a:lvl1pPr>
              <a:defRPr sz="3786"/>
            </a:lvl1pPr>
            <a:lvl2pPr>
              <a:defRPr sz="3312"/>
            </a:lvl2pPr>
            <a:lvl3pPr>
              <a:defRPr sz="2839"/>
            </a:lvl3pPr>
            <a:lvl4pPr>
              <a:defRPr sz="2366"/>
            </a:lvl4pPr>
            <a:lvl5pPr>
              <a:defRPr sz="2366"/>
            </a:lvl5pPr>
            <a:lvl6pPr>
              <a:defRPr sz="2366"/>
            </a:lvl6pPr>
            <a:lvl7pPr>
              <a:defRPr sz="2366"/>
            </a:lvl7pPr>
            <a:lvl8pPr>
              <a:defRPr sz="2366"/>
            </a:lvl8pPr>
            <a:lvl9pPr>
              <a:defRPr sz="2366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5093" y="3657600"/>
            <a:ext cx="3488837" cy="6776156"/>
          </a:xfrm>
        </p:spPr>
        <p:txBody>
          <a:bodyPr/>
          <a:lstStyle>
            <a:lvl1pPr marL="0" indent="0">
              <a:buNone/>
              <a:defRPr sz="1893"/>
            </a:lvl1pPr>
            <a:lvl2pPr marL="540868" indent="0">
              <a:buNone/>
              <a:defRPr sz="1656"/>
            </a:lvl2pPr>
            <a:lvl3pPr marL="1081735" indent="0">
              <a:buNone/>
              <a:defRPr sz="1420"/>
            </a:lvl3pPr>
            <a:lvl4pPr marL="1622603" indent="0">
              <a:buNone/>
              <a:defRPr sz="1183"/>
            </a:lvl4pPr>
            <a:lvl5pPr marL="2163470" indent="0">
              <a:buNone/>
              <a:defRPr sz="1183"/>
            </a:lvl5pPr>
            <a:lvl6pPr marL="2704338" indent="0">
              <a:buNone/>
              <a:defRPr sz="1183"/>
            </a:lvl6pPr>
            <a:lvl7pPr marL="3245206" indent="0">
              <a:buNone/>
              <a:defRPr sz="1183"/>
            </a:lvl7pPr>
            <a:lvl8pPr marL="3786073" indent="0">
              <a:buNone/>
              <a:defRPr sz="1183"/>
            </a:lvl8pPr>
            <a:lvl9pPr marL="4326941" indent="0">
              <a:buNone/>
              <a:defRPr sz="118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684F6-193E-4564-8CF2-248B90A67447}" type="datetimeFigureOut">
              <a:rPr lang="de-DE" smtClean="0"/>
              <a:t>06.12.2024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795A4-DEF9-4A19-8690-AD80F0EDA9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4913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093" y="812800"/>
            <a:ext cx="3488837" cy="2844800"/>
          </a:xfrm>
        </p:spPr>
        <p:txBody>
          <a:bodyPr anchor="b"/>
          <a:lstStyle>
            <a:lvl1pPr>
              <a:defRPr sz="378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8730" y="1755425"/>
            <a:ext cx="5476220" cy="8664222"/>
          </a:xfrm>
        </p:spPr>
        <p:txBody>
          <a:bodyPr anchor="t"/>
          <a:lstStyle>
            <a:lvl1pPr marL="0" indent="0">
              <a:buNone/>
              <a:defRPr sz="3786"/>
            </a:lvl1pPr>
            <a:lvl2pPr marL="540868" indent="0">
              <a:buNone/>
              <a:defRPr sz="3312"/>
            </a:lvl2pPr>
            <a:lvl3pPr marL="1081735" indent="0">
              <a:buNone/>
              <a:defRPr sz="2839"/>
            </a:lvl3pPr>
            <a:lvl4pPr marL="1622603" indent="0">
              <a:buNone/>
              <a:defRPr sz="2366"/>
            </a:lvl4pPr>
            <a:lvl5pPr marL="2163470" indent="0">
              <a:buNone/>
              <a:defRPr sz="2366"/>
            </a:lvl5pPr>
            <a:lvl6pPr marL="2704338" indent="0">
              <a:buNone/>
              <a:defRPr sz="2366"/>
            </a:lvl6pPr>
            <a:lvl7pPr marL="3245206" indent="0">
              <a:buNone/>
              <a:defRPr sz="2366"/>
            </a:lvl7pPr>
            <a:lvl8pPr marL="3786073" indent="0">
              <a:buNone/>
              <a:defRPr sz="2366"/>
            </a:lvl8pPr>
            <a:lvl9pPr marL="4326941" indent="0">
              <a:buNone/>
              <a:defRPr sz="2366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5093" y="3657600"/>
            <a:ext cx="3488837" cy="6776156"/>
          </a:xfrm>
        </p:spPr>
        <p:txBody>
          <a:bodyPr/>
          <a:lstStyle>
            <a:lvl1pPr marL="0" indent="0">
              <a:buNone/>
              <a:defRPr sz="1893"/>
            </a:lvl1pPr>
            <a:lvl2pPr marL="540868" indent="0">
              <a:buNone/>
              <a:defRPr sz="1656"/>
            </a:lvl2pPr>
            <a:lvl3pPr marL="1081735" indent="0">
              <a:buNone/>
              <a:defRPr sz="1420"/>
            </a:lvl3pPr>
            <a:lvl4pPr marL="1622603" indent="0">
              <a:buNone/>
              <a:defRPr sz="1183"/>
            </a:lvl4pPr>
            <a:lvl5pPr marL="2163470" indent="0">
              <a:buNone/>
              <a:defRPr sz="1183"/>
            </a:lvl5pPr>
            <a:lvl6pPr marL="2704338" indent="0">
              <a:buNone/>
              <a:defRPr sz="1183"/>
            </a:lvl6pPr>
            <a:lvl7pPr marL="3245206" indent="0">
              <a:buNone/>
              <a:defRPr sz="1183"/>
            </a:lvl7pPr>
            <a:lvl8pPr marL="3786073" indent="0">
              <a:buNone/>
              <a:defRPr sz="1183"/>
            </a:lvl8pPr>
            <a:lvl9pPr marL="4326941" indent="0">
              <a:buNone/>
              <a:defRPr sz="118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684F6-193E-4564-8CF2-248B90A67447}" type="datetimeFigureOut">
              <a:rPr lang="de-DE" smtClean="0"/>
              <a:t>06.12.2024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795A4-DEF9-4A19-8690-AD80F0EDA9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757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684F6-193E-4564-8CF2-248B90A67447}" type="datetimeFigureOut">
              <a:rPr lang="de-DE" smtClean="0"/>
              <a:t>06.12.2024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795A4-DEF9-4A19-8690-AD80F0EDA9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613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41077" y="649111"/>
            <a:ext cx="2332464" cy="1033215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3685" y="649111"/>
            <a:ext cx="6862177" cy="1033215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684F6-193E-4564-8CF2-248B90A67447}" type="datetimeFigureOut">
              <a:rPr lang="de-DE" smtClean="0"/>
              <a:t>06.12.2024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795A4-DEF9-4A19-8690-AD80F0EDA9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9455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3684" y="649114"/>
            <a:ext cx="9329857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684" y="3245556"/>
            <a:ext cx="9329857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684" y="11300181"/>
            <a:ext cx="2433876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684F6-193E-4564-8CF2-248B90A67447}" type="datetimeFigureOut">
              <a:rPr lang="de-DE" smtClean="0"/>
              <a:t>06.12.2024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83206" y="11300181"/>
            <a:ext cx="3650813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39665" y="11300181"/>
            <a:ext cx="2433876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795A4-DEF9-4A19-8690-AD80F0EDA9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930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81735" rtl="0" eaLnBrk="1" latinLnBrk="0" hangingPunct="1">
        <a:lnSpc>
          <a:spcPct val="90000"/>
        </a:lnSpc>
        <a:spcBef>
          <a:spcPct val="0"/>
        </a:spcBef>
        <a:buNone/>
        <a:defRPr sz="52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434" indent="-270434" algn="l" defTabSz="1081735" rtl="0" eaLnBrk="1" latinLnBrk="0" hangingPunct="1">
        <a:lnSpc>
          <a:spcPct val="90000"/>
        </a:lnSpc>
        <a:spcBef>
          <a:spcPts val="1183"/>
        </a:spcBef>
        <a:buFont typeface="Arial" panose="020B0604020202020204" pitchFamily="34" charset="0"/>
        <a:buChar char="•"/>
        <a:defRPr sz="3312" kern="1200">
          <a:solidFill>
            <a:schemeClr val="tx1"/>
          </a:solidFill>
          <a:latin typeface="+mn-lt"/>
          <a:ea typeface="+mn-ea"/>
          <a:cs typeface="+mn-cs"/>
        </a:defRPr>
      </a:lvl1pPr>
      <a:lvl2pPr marL="811301" indent="-270434" algn="l" defTabSz="1081735" rtl="0" eaLnBrk="1" latinLnBrk="0" hangingPunct="1">
        <a:lnSpc>
          <a:spcPct val="90000"/>
        </a:lnSpc>
        <a:spcBef>
          <a:spcPts val="592"/>
        </a:spcBef>
        <a:buFont typeface="Arial" panose="020B0604020202020204" pitchFamily="34" charset="0"/>
        <a:buChar char="•"/>
        <a:defRPr sz="2839" kern="1200">
          <a:solidFill>
            <a:schemeClr val="tx1"/>
          </a:solidFill>
          <a:latin typeface="+mn-lt"/>
          <a:ea typeface="+mn-ea"/>
          <a:cs typeface="+mn-cs"/>
        </a:defRPr>
      </a:lvl2pPr>
      <a:lvl3pPr marL="1352169" indent="-270434" algn="l" defTabSz="1081735" rtl="0" eaLnBrk="1" latinLnBrk="0" hangingPunct="1">
        <a:lnSpc>
          <a:spcPct val="90000"/>
        </a:lnSpc>
        <a:spcBef>
          <a:spcPts val="592"/>
        </a:spcBef>
        <a:buFont typeface="Arial" panose="020B0604020202020204" pitchFamily="34" charset="0"/>
        <a:buChar char="•"/>
        <a:defRPr sz="2366" kern="1200">
          <a:solidFill>
            <a:schemeClr val="tx1"/>
          </a:solidFill>
          <a:latin typeface="+mn-lt"/>
          <a:ea typeface="+mn-ea"/>
          <a:cs typeface="+mn-cs"/>
        </a:defRPr>
      </a:lvl3pPr>
      <a:lvl4pPr marL="1893037" indent="-270434" algn="l" defTabSz="1081735" rtl="0" eaLnBrk="1" latinLnBrk="0" hangingPunct="1">
        <a:lnSpc>
          <a:spcPct val="90000"/>
        </a:lnSpc>
        <a:spcBef>
          <a:spcPts val="592"/>
        </a:spcBef>
        <a:buFont typeface="Arial" panose="020B0604020202020204" pitchFamily="34" charset="0"/>
        <a:buChar char="•"/>
        <a:defRPr sz="2129" kern="1200">
          <a:solidFill>
            <a:schemeClr val="tx1"/>
          </a:solidFill>
          <a:latin typeface="+mn-lt"/>
          <a:ea typeface="+mn-ea"/>
          <a:cs typeface="+mn-cs"/>
        </a:defRPr>
      </a:lvl4pPr>
      <a:lvl5pPr marL="2433904" indent="-270434" algn="l" defTabSz="1081735" rtl="0" eaLnBrk="1" latinLnBrk="0" hangingPunct="1">
        <a:lnSpc>
          <a:spcPct val="90000"/>
        </a:lnSpc>
        <a:spcBef>
          <a:spcPts val="592"/>
        </a:spcBef>
        <a:buFont typeface="Arial" panose="020B0604020202020204" pitchFamily="34" charset="0"/>
        <a:buChar char="•"/>
        <a:defRPr sz="2129" kern="1200">
          <a:solidFill>
            <a:schemeClr val="tx1"/>
          </a:solidFill>
          <a:latin typeface="+mn-lt"/>
          <a:ea typeface="+mn-ea"/>
          <a:cs typeface="+mn-cs"/>
        </a:defRPr>
      </a:lvl5pPr>
      <a:lvl6pPr marL="2974772" indent="-270434" algn="l" defTabSz="1081735" rtl="0" eaLnBrk="1" latinLnBrk="0" hangingPunct="1">
        <a:lnSpc>
          <a:spcPct val="90000"/>
        </a:lnSpc>
        <a:spcBef>
          <a:spcPts val="592"/>
        </a:spcBef>
        <a:buFont typeface="Arial" panose="020B0604020202020204" pitchFamily="34" charset="0"/>
        <a:buChar char="•"/>
        <a:defRPr sz="2129" kern="1200">
          <a:solidFill>
            <a:schemeClr val="tx1"/>
          </a:solidFill>
          <a:latin typeface="+mn-lt"/>
          <a:ea typeface="+mn-ea"/>
          <a:cs typeface="+mn-cs"/>
        </a:defRPr>
      </a:lvl6pPr>
      <a:lvl7pPr marL="3515639" indent="-270434" algn="l" defTabSz="1081735" rtl="0" eaLnBrk="1" latinLnBrk="0" hangingPunct="1">
        <a:lnSpc>
          <a:spcPct val="90000"/>
        </a:lnSpc>
        <a:spcBef>
          <a:spcPts val="592"/>
        </a:spcBef>
        <a:buFont typeface="Arial" panose="020B0604020202020204" pitchFamily="34" charset="0"/>
        <a:buChar char="•"/>
        <a:defRPr sz="2129" kern="1200">
          <a:solidFill>
            <a:schemeClr val="tx1"/>
          </a:solidFill>
          <a:latin typeface="+mn-lt"/>
          <a:ea typeface="+mn-ea"/>
          <a:cs typeface="+mn-cs"/>
        </a:defRPr>
      </a:lvl7pPr>
      <a:lvl8pPr marL="4056507" indent="-270434" algn="l" defTabSz="1081735" rtl="0" eaLnBrk="1" latinLnBrk="0" hangingPunct="1">
        <a:lnSpc>
          <a:spcPct val="90000"/>
        </a:lnSpc>
        <a:spcBef>
          <a:spcPts val="592"/>
        </a:spcBef>
        <a:buFont typeface="Arial" panose="020B0604020202020204" pitchFamily="34" charset="0"/>
        <a:buChar char="•"/>
        <a:defRPr sz="2129" kern="1200">
          <a:solidFill>
            <a:schemeClr val="tx1"/>
          </a:solidFill>
          <a:latin typeface="+mn-lt"/>
          <a:ea typeface="+mn-ea"/>
          <a:cs typeface="+mn-cs"/>
        </a:defRPr>
      </a:lvl8pPr>
      <a:lvl9pPr marL="4597375" indent="-270434" algn="l" defTabSz="1081735" rtl="0" eaLnBrk="1" latinLnBrk="0" hangingPunct="1">
        <a:lnSpc>
          <a:spcPct val="90000"/>
        </a:lnSpc>
        <a:spcBef>
          <a:spcPts val="592"/>
        </a:spcBef>
        <a:buFont typeface="Arial" panose="020B0604020202020204" pitchFamily="34" charset="0"/>
        <a:buChar char="•"/>
        <a:defRPr sz="21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1735" rtl="0" eaLnBrk="1" latinLnBrk="0" hangingPunct="1">
        <a:defRPr sz="2129" kern="1200">
          <a:solidFill>
            <a:schemeClr val="tx1"/>
          </a:solidFill>
          <a:latin typeface="+mn-lt"/>
          <a:ea typeface="+mn-ea"/>
          <a:cs typeface="+mn-cs"/>
        </a:defRPr>
      </a:lvl1pPr>
      <a:lvl2pPr marL="540868" algn="l" defTabSz="1081735" rtl="0" eaLnBrk="1" latinLnBrk="0" hangingPunct="1">
        <a:defRPr sz="2129" kern="1200">
          <a:solidFill>
            <a:schemeClr val="tx1"/>
          </a:solidFill>
          <a:latin typeface="+mn-lt"/>
          <a:ea typeface="+mn-ea"/>
          <a:cs typeface="+mn-cs"/>
        </a:defRPr>
      </a:lvl2pPr>
      <a:lvl3pPr marL="1081735" algn="l" defTabSz="1081735" rtl="0" eaLnBrk="1" latinLnBrk="0" hangingPunct="1">
        <a:defRPr sz="2129" kern="1200">
          <a:solidFill>
            <a:schemeClr val="tx1"/>
          </a:solidFill>
          <a:latin typeface="+mn-lt"/>
          <a:ea typeface="+mn-ea"/>
          <a:cs typeface="+mn-cs"/>
        </a:defRPr>
      </a:lvl3pPr>
      <a:lvl4pPr marL="1622603" algn="l" defTabSz="1081735" rtl="0" eaLnBrk="1" latinLnBrk="0" hangingPunct="1">
        <a:defRPr sz="2129" kern="1200">
          <a:solidFill>
            <a:schemeClr val="tx1"/>
          </a:solidFill>
          <a:latin typeface="+mn-lt"/>
          <a:ea typeface="+mn-ea"/>
          <a:cs typeface="+mn-cs"/>
        </a:defRPr>
      </a:lvl4pPr>
      <a:lvl5pPr marL="2163470" algn="l" defTabSz="1081735" rtl="0" eaLnBrk="1" latinLnBrk="0" hangingPunct="1">
        <a:defRPr sz="2129" kern="1200">
          <a:solidFill>
            <a:schemeClr val="tx1"/>
          </a:solidFill>
          <a:latin typeface="+mn-lt"/>
          <a:ea typeface="+mn-ea"/>
          <a:cs typeface="+mn-cs"/>
        </a:defRPr>
      </a:lvl5pPr>
      <a:lvl6pPr marL="2704338" algn="l" defTabSz="1081735" rtl="0" eaLnBrk="1" latinLnBrk="0" hangingPunct="1">
        <a:defRPr sz="2129" kern="1200">
          <a:solidFill>
            <a:schemeClr val="tx1"/>
          </a:solidFill>
          <a:latin typeface="+mn-lt"/>
          <a:ea typeface="+mn-ea"/>
          <a:cs typeface="+mn-cs"/>
        </a:defRPr>
      </a:lvl6pPr>
      <a:lvl7pPr marL="3245206" algn="l" defTabSz="1081735" rtl="0" eaLnBrk="1" latinLnBrk="0" hangingPunct="1">
        <a:defRPr sz="2129" kern="1200">
          <a:solidFill>
            <a:schemeClr val="tx1"/>
          </a:solidFill>
          <a:latin typeface="+mn-lt"/>
          <a:ea typeface="+mn-ea"/>
          <a:cs typeface="+mn-cs"/>
        </a:defRPr>
      </a:lvl7pPr>
      <a:lvl8pPr marL="3786073" algn="l" defTabSz="1081735" rtl="0" eaLnBrk="1" latinLnBrk="0" hangingPunct="1">
        <a:defRPr sz="2129" kern="1200">
          <a:solidFill>
            <a:schemeClr val="tx1"/>
          </a:solidFill>
          <a:latin typeface="+mn-lt"/>
          <a:ea typeface="+mn-ea"/>
          <a:cs typeface="+mn-cs"/>
        </a:defRPr>
      </a:lvl8pPr>
      <a:lvl9pPr marL="4326941" algn="l" defTabSz="1081735" rtl="0" eaLnBrk="1" latinLnBrk="0" hangingPunct="1">
        <a:defRPr sz="21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hteck 58">
            <a:extLst>
              <a:ext uri="{FF2B5EF4-FFF2-40B4-BE49-F238E27FC236}">
                <a16:creationId xmlns:a16="http://schemas.microsoft.com/office/drawing/2014/main" id="{0FFDCF3D-F6A4-08F9-1CDD-8D78901BE803}"/>
              </a:ext>
            </a:extLst>
          </p:cNvPr>
          <p:cNvSpPr/>
          <p:nvPr/>
        </p:nvSpPr>
        <p:spPr>
          <a:xfrm>
            <a:off x="2144712" y="209550"/>
            <a:ext cx="5721350" cy="76009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13" dirty="0"/>
              <a:t>Data </a:t>
            </a:r>
            <a:r>
              <a:rPr lang="de-DE" sz="1013" dirty="0" err="1"/>
              <a:t>for</a:t>
            </a:r>
            <a:r>
              <a:rPr lang="de-DE" sz="1013" dirty="0"/>
              <a:t> :</a:t>
            </a:r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1013" dirty="0" err="1"/>
              <a:t>Labvalues</a:t>
            </a:r>
            <a:r>
              <a:rPr lang="de-DE" sz="1013" dirty="0"/>
              <a:t> </a:t>
            </a:r>
            <a:r>
              <a:rPr lang="de-DE" sz="1013" dirty="0" err="1"/>
              <a:t>blood</a:t>
            </a:r>
            <a:endParaRPr lang="de-DE" sz="1013" dirty="0"/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Value</a:t>
            </a:r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Time </a:t>
            </a:r>
            <a:r>
              <a:rPr lang="de-DE" sz="1013" dirty="0" err="1"/>
              <a:t>of</a:t>
            </a:r>
            <a:r>
              <a:rPr lang="de-DE" sz="1013" dirty="0"/>
              <a:t> </a:t>
            </a:r>
            <a:r>
              <a:rPr lang="de-DE" sz="1013" dirty="0" err="1"/>
              <a:t>measurement</a:t>
            </a:r>
            <a:r>
              <a:rPr lang="de-DE" sz="1013" dirty="0"/>
              <a:t> in </a:t>
            </a:r>
            <a:r>
              <a:rPr lang="de-DE" sz="1013" dirty="0" err="1"/>
              <a:t>relation</a:t>
            </a:r>
            <a:r>
              <a:rPr lang="de-DE" sz="1013" dirty="0"/>
              <a:t> </a:t>
            </a:r>
            <a:r>
              <a:rPr lang="de-DE" sz="1013" dirty="0" err="1"/>
              <a:t>to</a:t>
            </a:r>
            <a:r>
              <a:rPr lang="de-DE" sz="1013" dirty="0"/>
              <a:t> </a:t>
            </a:r>
            <a:r>
              <a:rPr lang="de-DE" sz="1013" dirty="0" err="1"/>
              <a:t>starting</a:t>
            </a:r>
            <a:r>
              <a:rPr lang="de-DE" sz="1013" dirty="0"/>
              <a:t>-date </a:t>
            </a:r>
            <a:r>
              <a:rPr lang="de-DE" sz="1013" dirty="0" err="1"/>
              <a:t>of</a:t>
            </a:r>
            <a:r>
              <a:rPr lang="de-DE" sz="1013" dirty="0"/>
              <a:t> </a:t>
            </a:r>
            <a:r>
              <a:rPr lang="de-DE" sz="1013" dirty="0" err="1"/>
              <a:t>reaction</a:t>
            </a:r>
            <a:endParaRPr lang="de-DE" sz="1013" dirty="0"/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1013" dirty="0" err="1"/>
              <a:t>Antibodies</a:t>
            </a:r>
            <a:endParaRPr lang="de-DE" sz="1013" dirty="0"/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Antikörper „positiv“ oder „negativ“</a:t>
            </a:r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Genauen Titer</a:t>
            </a:r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1013" dirty="0" err="1"/>
              <a:t>Labvalues</a:t>
            </a:r>
            <a:r>
              <a:rPr lang="de-DE" sz="1013" dirty="0"/>
              <a:t> </a:t>
            </a:r>
            <a:r>
              <a:rPr lang="de-DE" sz="1013" dirty="0" err="1"/>
              <a:t>urine</a:t>
            </a:r>
            <a:endParaRPr lang="de-DE" sz="1013" dirty="0"/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Value</a:t>
            </a:r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Time </a:t>
            </a:r>
            <a:r>
              <a:rPr lang="de-DE" sz="1013" dirty="0" err="1"/>
              <a:t>of</a:t>
            </a:r>
            <a:r>
              <a:rPr lang="de-DE" sz="1013" dirty="0"/>
              <a:t> </a:t>
            </a:r>
            <a:r>
              <a:rPr lang="de-DE" sz="1013" dirty="0" err="1"/>
              <a:t>measurement</a:t>
            </a:r>
            <a:r>
              <a:rPr lang="de-DE" sz="1013" dirty="0"/>
              <a:t> in </a:t>
            </a:r>
            <a:r>
              <a:rPr lang="de-DE" sz="1013" dirty="0" err="1"/>
              <a:t>relation</a:t>
            </a:r>
            <a:r>
              <a:rPr lang="de-DE" sz="1013" dirty="0"/>
              <a:t> </a:t>
            </a:r>
            <a:r>
              <a:rPr lang="de-DE" sz="1013" dirty="0" err="1"/>
              <a:t>to</a:t>
            </a:r>
            <a:r>
              <a:rPr lang="de-DE" sz="1013" dirty="0"/>
              <a:t> </a:t>
            </a:r>
            <a:r>
              <a:rPr lang="de-DE" sz="1013" dirty="0" err="1"/>
              <a:t>starting</a:t>
            </a:r>
            <a:r>
              <a:rPr lang="de-DE" sz="1013" dirty="0"/>
              <a:t>-date </a:t>
            </a:r>
            <a:r>
              <a:rPr lang="de-DE" sz="1013" dirty="0" err="1"/>
              <a:t>of</a:t>
            </a:r>
            <a:r>
              <a:rPr lang="de-DE" sz="1013" dirty="0"/>
              <a:t> </a:t>
            </a:r>
            <a:r>
              <a:rPr lang="de-DE" sz="1013" dirty="0" err="1"/>
              <a:t>reaction</a:t>
            </a:r>
            <a:endParaRPr lang="de-DE" sz="1013" dirty="0"/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1013" dirty="0"/>
              <a:t>General Information </a:t>
            </a:r>
          </a:p>
          <a:p>
            <a:pPr marL="417909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Age </a:t>
            </a:r>
          </a:p>
          <a:p>
            <a:pPr marL="417909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Sex </a:t>
            </a:r>
          </a:p>
          <a:p>
            <a:pPr marL="417909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BMI</a:t>
            </a:r>
          </a:p>
          <a:p>
            <a:pPr marL="417909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Death due </a:t>
            </a:r>
            <a:r>
              <a:rPr lang="de-DE" sz="1013" dirty="0" err="1"/>
              <a:t>to</a:t>
            </a:r>
            <a:r>
              <a:rPr lang="de-DE" sz="1013" dirty="0"/>
              <a:t> </a:t>
            </a:r>
            <a:r>
              <a:rPr lang="de-DE" sz="1013" dirty="0" err="1"/>
              <a:t>reaction</a:t>
            </a:r>
            <a:endParaRPr lang="de-DE" sz="1013" dirty="0"/>
          </a:p>
          <a:p>
            <a:pPr marL="417909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Duration </a:t>
            </a:r>
            <a:r>
              <a:rPr lang="de-DE" sz="1013" dirty="0" err="1"/>
              <a:t>of</a:t>
            </a:r>
            <a:r>
              <a:rPr lang="de-DE" sz="1013" dirty="0"/>
              <a:t> </a:t>
            </a:r>
            <a:r>
              <a:rPr lang="de-DE" sz="1013" dirty="0" err="1"/>
              <a:t>reaction</a:t>
            </a:r>
            <a:endParaRPr lang="de-DE" sz="1013" dirty="0"/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1013" dirty="0" err="1"/>
              <a:t>Pre-existing</a:t>
            </a:r>
            <a:r>
              <a:rPr lang="de-DE" sz="1013" dirty="0"/>
              <a:t> </a:t>
            </a:r>
            <a:r>
              <a:rPr lang="de-DE" sz="1013" dirty="0" err="1"/>
              <a:t>diseases</a:t>
            </a:r>
            <a:endParaRPr lang="de-DE" sz="1013" dirty="0"/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Summary </a:t>
            </a:r>
            <a:r>
              <a:rPr lang="de-DE" sz="1013" dirty="0" err="1"/>
              <a:t>as</a:t>
            </a:r>
            <a:r>
              <a:rPr lang="de-DE" sz="1013" dirty="0"/>
              <a:t> a code</a:t>
            </a:r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1013" dirty="0" err="1"/>
              <a:t>Medication</a:t>
            </a:r>
            <a:r>
              <a:rPr lang="de-DE" sz="1013" dirty="0"/>
              <a:t> (</a:t>
            </a:r>
            <a:r>
              <a:rPr lang="de-DE" sz="1013" dirty="0" err="1"/>
              <a:t>Diclo</a:t>
            </a:r>
            <a:r>
              <a:rPr lang="de-DE" sz="1013" dirty="0"/>
              <a:t>, Ibu, Para)</a:t>
            </a:r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„Einnahme erfolgt“ </a:t>
            </a:r>
            <a:r>
              <a:rPr lang="de-DE" sz="1013" dirty="0" err="1"/>
              <a:t>if</a:t>
            </a:r>
            <a:r>
              <a:rPr lang="de-DE" sz="1013" dirty="0"/>
              <a:t> </a:t>
            </a:r>
            <a:r>
              <a:rPr lang="de-DE" sz="1013" dirty="0" err="1"/>
              <a:t>no</a:t>
            </a:r>
            <a:r>
              <a:rPr lang="de-DE" sz="1013" dirty="0"/>
              <a:t> </a:t>
            </a:r>
            <a:r>
              <a:rPr lang="de-DE" sz="1013" dirty="0" err="1"/>
              <a:t>other</a:t>
            </a:r>
            <a:r>
              <a:rPr lang="de-DE" sz="1013" dirty="0"/>
              <a:t> </a:t>
            </a:r>
            <a:r>
              <a:rPr lang="de-DE" sz="1013" dirty="0" err="1"/>
              <a:t>information</a:t>
            </a:r>
            <a:r>
              <a:rPr lang="de-DE" sz="1013" dirty="0"/>
              <a:t> </a:t>
            </a:r>
            <a:r>
              <a:rPr lang="de-DE" sz="1013" dirty="0" err="1"/>
              <a:t>available</a:t>
            </a:r>
            <a:endParaRPr lang="de-DE" sz="1013" dirty="0"/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„Dosis (Mg/Einnahme)“</a:t>
            </a:r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„Häufigkeit der Einnahme pro Tag“</a:t>
            </a:r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Way </a:t>
            </a:r>
            <a:r>
              <a:rPr lang="de-DE" sz="1013" dirty="0" err="1"/>
              <a:t>of</a:t>
            </a:r>
            <a:r>
              <a:rPr lang="de-DE" sz="1013" dirty="0"/>
              <a:t> </a:t>
            </a:r>
            <a:r>
              <a:rPr lang="de-DE" sz="1013" dirty="0" err="1"/>
              <a:t>intake</a:t>
            </a:r>
            <a:r>
              <a:rPr lang="de-DE" sz="1013" dirty="0"/>
              <a:t> (</a:t>
            </a:r>
            <a:r>
              <a:rPr lang="de-DE" sz="1013" dirty="0" err="1"/>
              <a:t>i.v.</a:t>
            </a:r>
            <a:r>
              <a:rPr lang="de-DE" sz="1013" dirty="0"/>
              <a:t>, </a:t>
            </a:r>
            <a:r>
              <a:rPr lang="de-DE" sz="1013" dirty="0" err="1"/>
              <a:t>i.m</a:t>
            </a:r>
            <a:r>
              <a:rPr lang="de-DE" sz="1013" dirty="0"/>
              <a:t>., </a:t>
            </a:r>
            <a:r>
              <a:rPr lang="de-DE" sz="1013" dirty="0" err="1"/>
              <a:t>p.o</a:t>
            </a:r>
            <a:r>
              <a:rPr lang="de-DE" sz="1013" dirty="0"/>
              <a:t>., Supp, Salbe/Gel)</a:t>
            </a:r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„Dauer der Einnahme (Tage)“</a:t>
            </a:r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„Zeitraum: erste Einnahme bis Krankheitsbeginn (Tage)“</a:t>
            </a:r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„Zeitraum: letzte Einnahme bis Krankheitsbeginn (Tage)“</a:t>
            </a:r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„Einnahme nach Krankheitsbeginn (Tage)“</a:t>
            </a:r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 err="1"/>
              <a:t>Exp</a:t>
            </a:r>
            <a:r>
              <a:rPr lang="de-DE" sz="1013" dirty="0"/>
              <a:t>. (Skale </a:t>
            </a:r>
            <a:r>
              <a:rPr lang="de-DE" sz="1013" dirty="0" err="1"/>
              <a:t>from</a:t>
            </a:r>
            <a:r>
              <a:rPr lang="de-DE" sz="1013" dirty="0"/>
              <a:t> 1-8 </a:t>
            </a:r>
            <a:r>
              <a:rPr lang="de-DE" sz="1013" dirty="0" err="1"/>
              <a:t>about</a:t>
            </a:r>
            <a:r>
              <a:rPr lang="de-DE" sz="1013" dirty="0"/>
              <a:t> </a:t>
            </a:r>
            <a:r>
              <a:rPr lang="de-DE" sz="1013" dirty="0" err="1"/>
              <a:t>the</a:t>
            </a:r>
            <a:r>
              <a:rPr lang="de-DE" sz="1013" dirty="0"/>
              <a:t> </a:t>
            </a:r>
            <a:r>
              <a:rPr lang="de-DE" sz="1013" dirty="0" err="1"/>
              <a:t>probability</a:t>
            </a:r>
            <a:r>
              <a:rPr lang="de-DE" sz="1013" dirty="0"/>
              <a:t> </a:t>
            </a:r>
            <a:r>
              <a:rPr lang="de-DE" sz="1013" dirty="0" err="1"/>
              <a:t>of</a:t>
            </a:r>
            <a:r>
              <a:rPr lang="de-DE" sz="1013" dirty="0"/>
              <a:t> </a:t>
            </a:r>
            <a:r>
              <a:rPr lang="de-DE" sz="1013" dirty="0" err="1"/>
              <a:t>course</a:t>
            </a:r>
            <a:r>
              <a:rPr lang="de-DE" sz="1013" dirty="0"/>
              <a:t> </a:t>
            </a:r>
            <a:r>
              <a:rPr lang="de-DE" sz="1013" dirty="0" err="1"/>
              <a:t>of</a:t>
            </a:r>
            <a:r>
              <a:rPr lang="de-DE" sz="1013" dirty="0"/>
              <a:t> </a:t>
            </a:r>
            <a:r>
              <a:rPr lang="de-DE" sz="1013" dirty="0" err="1"/>
              <a:t>the</a:t>
            </a:r>
            <a:r>
              <a:rPr lang="de-DE" sz="1013" dirty="0"/>
              <a:t> </a:t>
            </a:r>
            <a:r>
              <a:rPr lang="de-DE" sz="1013" dirty="0" err="1"/>
              <a:t>reaction</a:t>
            </a:r>
            <a:r>
              <a:rPr lang="de-DE" sz="1013" dirty="0"/>
              <a:t> </a:t>
            </a:r>
            <a:r>
              <a:rPr lang="de-DE" sz="1013" dirty="0" err="1"/>
              <a:t>for</a:t>
            </a:r>
            <a:r>
              <a:rPr lang="de-DE" sz="1013" dirty="0"/>
              <a:t> </a:t>
            </a:r>
            <a:r>
              <a:rPr lang="de-DE" sz="1013" dirty="0" err="1"/>
              <a:t>this</a:t>
            </a:r>
            <a:r>
              <a:rPr lang="de-DE" sz="1013" dirty="0"/>
              <a:t> </a:t>
            </a:r>
            <a:r>
              <a:rPr lang="de-DE" sz="1013" dirty="0" err="1"/>
              <a:t>medicament</a:t>
            </a:r>
            <a:r>
              <a:rPr lang="de-DE" sz="1013" dirty="0"/>
              <a:t>)</a:t>
            </a:r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1013" dirty="0"/>
              <a:t>Side-</a:t>
            </a:r>
            <a:r>
              <a:rPr lang="de-DE" sz="1013" dirty="0" err="1"/>
              <a:t>Medication</a:t>
            </a:r>
            <a:endParaRPr lang="de-DE" sz="1013" dirty="0"/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Same </a:t>
            </a:r>
            <a:r>
              <a:rPr lang="de-DE" sz="1013" dirty="0" err="1"/>
              <a:t>information</a:t>
            </a:r>
            <a:r>
              <a:rPr lang="de-DE" sz="1013" dirty="0"/>
              <a:t> </a:t>
            </a:r>
            <a:r>
              <a:rPr lang="de-DE" sz="1013" dirty="0" err="1"/>
              <a:t>as</a:t>
            </a:r>
            <a:r>
              <a:rPr lang="de-DE" sz="1013" dirty="0"/>
              <a:t> </a:t>
            </a:r>
            <a:r>
              <a:rPr lang="de-DE" sz="1013" dirty="0" err="1"/>
              <a:t>above</a:t>
            </a:r>
            <a:endParaRPr lang="de-DE" sz="1013" dirty="0"/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1013" dirty="0"/>
              <a:t>Symptoms </a:t>
            </a:r>
            <a:r>
              <a:rPr lang="de-DE" sz="1013" dirty="0" err="1"/>
              <a:t>of</a:t>
            </a:r>
            <a:r>
              <a:rPr lang="de-DE" sz="1013" dirty="0"/>
              <a:t> </a:t>
            </a:r>
            <a:r>
              <a:rPr lang="de-DE" sz="1013" dirty="0" err="1"/>
              <a:t>reaction</a:t>
            </a:r>
            <a:r>
              <a:rPr lang="de-DE" sz="1013" dirty="0"/>
              <a:t> (</a:t>
            </a:r>
            <a:r>
              <a:rPr lang="de-DE" sz="1013" dirty="0" err="1"/>
              <a:t>general</a:t>
            </a:r>
            <a:r>
              <a:rPr lang="de-DE" sz="1013" dirty="0"/>
              <a:t>, and </a:t>
            </a:r>
            <a:r>
              <a:rPr lang="de-DE" sz="1013" dirty="0" err="1"/>
              <a:t>regarding</a:t>
            </a:r>
            <a:r>
              <a:rPr lang="de-DE" sz="1013" dirty="0"/>
              <a:t> </a:t>
            </a:r>
            <a:r>
              <a:rPr lang="de-DE" sz="1013" dirty="0" err="1"/>
              <a:t>skin</a:t>
            </a:r>
            <a:r>
              <a:rPr lang="de-DE" sz="1013" dirty="0"/>
              <a:t>)</a:t>
            </a:r>
          </a:p>
          <a:p>
            <a:pPr marL="617934" lvl="1" indent="-160734">
              <a:buFont typeface="Symbol" panose="05050102010706020507" pitchFamily="18" charset="2"/>
              <a:buChar char="-"/>
            </a:pPr>
            <a:r>
              <a:rPr lang="de-DE" sz="1013" dirty="0"/>
              <a:t>Summary </a:t>
            </a:r>
            <a:r>
              <a:rPr lang="de-DE" sz="1013" dirty="0" err="1"/>
              <a:t>as</a:t>
            </a:r>
            <a:r>
              <a:rPr lang="de-DE" sz="1013" dirty="0"/>
              <a:t> a code</a:t>
            </a:r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1013" dirty="0" err="1"/>
              <a:t>Liverbiopsy</a:t>
            </a:r>
            <a:endParaRPr lang="de-DE" sz="1013" dirty="0"/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1013" dirty="0" err="1"/>
              <a:t>Histology</a:t>
            </a:r>
            <a:endParaRPr lang="de-DE" sz="1013" dirty="0"/>
          </a:p>
        </p:txBody>
      </p:sp>
    </p:spTree>
    <p:extLst>
      <p:ext uri="{BB962C8B-B14F-4D97-AF65-F5344CB8AC3E}">
        <p14:creationId xmlns:p14="http://schemas.microsoft.com/office/powerpoint/2010/main" val="3986511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AD1A1A3-5100-BE3E-6C2F-480BCFCB00D8}"/>
              </a:ext>
            </a:extLst>
          </p:cNvPr>
          <p:cNvSpPr/>
          <p:nvPr/>
        </p:nvSpPr>
        <p:spPr>
          <a:xfrm>
            <a:off x="1697677" y="3801644"/>
            <a:ext cx="1620688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 err="1"/>
              <a:t>Diclofenac</a:t>
            </a:r>
            <a:endParaRPr lang="de-DE" sz="1013" dirty="0"/>
          </a:p>
          <a:p>
            <a:pPr algn="ctr"/>
            <a:r>
              <a:rPr lang="de-DE" sz="1013" dirty="0"/>
              <a:t>N=145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533BD18-B9A3-8E70-4E68-2FF1D436D292}"/>
              </a:ext>
            </a:extLst>
          </p:cNvPr>
          <p:cNvSpPr/>
          <p:nvPr/>
        </p:nvSpPr>
        <p:spPr>
          <a:xfrm>
            <a:off x="3564218" y="3807708"/>
            <a:ext cx="1620688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/>
              <a:t>Ibuprofen</a:t>
            </a:r>
          </a:p>
          <a:p>
            <a:pPr algn="ctr"/>
            <a:r>
              <a:rPr lang="de-DE" sz="1013" dirty="0"/>
              <a:t>N=85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46FD29C-C322-74F0-AD35-1152FF1FD16D}"/>
              </a:ext>
            </a:extLst>
          </p:cNvPr>
          <p:cNvSpPr/>
          <p:nvPr/>
        </p:nvSpPr>
        <p:spPr>
          <a:xfrm>
            <a:off x="5430759" y="3807708"/>
            <a:ext cx="1620688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/>
              <a:t>Paracetamol</a:t>
            </a:r>
          </a:p>
          <a:p>
            <a:pPr algn="ctr"/>
            <a:r>
              <a:rPr lang="de-DE" sz="1013" dirty="0"/>
              <a:t>N=103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F7A264E-5E22-BEF8-C7DB-F4C17ED5563C}"/>
              </a:ext>
            </a:extLst>
          </p:cNvPr>
          <p:cNvSpPr/>
          <p:nvPr/>
        </p:nvSpPr>
        <p:spPr>
          <a:xfrm>
            <a:off x="1697678" y="4276108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SJS</a:t>
            </a:r>
          </a:p>
          <a:p>
            <a:pPr algn="ctr"/>
            <a:r>
              <a:rPr lang="de-DE" sz="675" dirty="0"/>
              <a:t>N=10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C4EC88B-2236-3DC4-D547-625C6AB82EC6}"/>
              </a:ext>
            </a:extLst>
          </p:cNvPr>
          <p:cNvSpPr/>
          <p:nvPr/>
        </p:nvSpPr>
        <p:spPr>
          <a:xfrm>
            <a:off x="2265354" y="4276108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00" dirty="0">
                <a:solidFill>
                  <a:schemeClr val="bg1"/>
                </a:solidFill>
              </a:rPr>
              <a:t>Epidermal </a:t>
            </a:r>
            <a:r>
              <a:rPr lang="de-DE" sz="500" dirty="0" err="1">
                <a:solidFill>
                  <a:schemeClr val="bg1"/>
                </a:solidFill>
              </a:rPr>
              <a:t>reaction</a:t>
            </a:r>
            <a:endParaRPr lang="de-DE" sz="500" dirty="0">
              <a:solidFill>
                <a:schemeClr val="bg1"/>
              </a:solidFill>
            </a:endParaRPr>
          </a:p>
          <a:p>
            <a:pPr algn="ctr"/>
            <a:r>
              <a:rPr lang="de-DE" sz="500" dirty="0">
                <a:solidFill>
                  <a:schemeClr val="bg1"/>
                </a:solidFill>
              </a:rPr>
              <a:t>N=7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70D5BB-AA09-5DF9-3948-088AC1B49ADA}"/>
              </a:ext>
            </a:extLst>
          </p:cNvPr>
          <p:cNvSpPr/>
          <p:nvPr/>
        </p:nvSpPr>
        <p:spPr>
          <a:xfrm>
            <a:off x="2844451" y="4279424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 dirty="0" err="1"/>
              <a:t>hepatotoxicity</a:t>
            </a:r>
            <a:endParaRPr lang="de-DE" sz="600" dirty="0"/>
          </a:p>
          <a:p>
            <a:pPr algn="ctr"/>
            <a:r>
              <a:rPr lang="de-DE" sz="600" dirty="0"/>
              <a:t>N=128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073755-5B95-9FA3-9710-26208387475B}"/>
              </a:ext>
            </a:extLst>
          </p:cNvPr>
          <p:cNvSpPr/>
          <p:nvPr/>
        </p:nvSpPr>
        <p:spPr>
          <a:xfrm>
            <a:off x="3825052" y="1326440"/>
            <a:ext cx="1720403" cy="7279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900" dirty="0" err="1"/>
              <a:t>Exclusion</a:t>
            </a:r>
            <a:r>
              <a:rPr lang="de-DE" sz="900" dirty="0"/>
              <a:t> </a:t>
            </a:r>
            <a:r>
              <a:rPr lang="de-DE" sz="900" dirty="0" err="1"/>
              <a:t>criteria</a:t>
            </a:r>
            <a:endParaRPr lang="de-DE" sz="900" dirty="0"/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900" dirty="0"/>
              <a:t>Cases </a:t>
            </a:r>
            <a:r>
              <a:rPr lang="de-DE" sz="900" dirty="0" err="1"/>
              <a:t>without</a:t>
            </a:r>
            <a:r>
              <a:rPr lang="de-DE" sz="900" dirty="0"/>
              <a:t> </a:t>
            </a:r>
            <a:r>
              <a:rPr lang="de-DE" sz="900" dirty="0" err="1"/>
              <a:t>any</a:t>
            </a:r>
            <a:r>
              <a:rPr lang="de-DE" sz="900" dirty="0"/>
              <a:t> </a:t>
            </a:r>
            <a:r>
              <a:rPr lang="de-DE" sz="900" dirty="0" err="1"/>
              <a:t>information</a:t>
            </a:r>
            <a:r>
              <a:rPr lang="de-DE" sz="900" dirty="0"/>
              <a:t> </a:t>
            </a:r>
            <a:r>
              <a:rPr lang="de-DE" sz="900" dirty="0" err="1"/>
              <a:t>about</a:t>
            </a:r>
            <a:r>
              <a:rPr lang="de-DE" sz="900" dirty="0"/>
              <a:t> </a:t>
            </a:r>
            <a:r>
              <a:rPr lang="de-DE" sz="900" dirty="0" err="1"/>
              <a:t>labvalues</a:t>
            </a:r>
            <a:endParaRPr lang="de-DE" sz="900" dirty="0"/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900" dirty="0"/>
              <a:t>Cases not </a:t>
            </a:r>
            <a:r>
              <a:rPr lang="de-DE" sz="900" dirty="0" err="1"/>
              <a:t>regarding</a:t>
            </a:r>
            <a:r>
              <a:rPr lang="de-DE" sz="900" dirty="0"/>
              <a:t> SJS, </a:t>
            </a:r>
            <a:r>
              <a:rPr lang="de-DE" sz="900" dirty="0" err="1"/>
              <a:t>skinreaction</a:t>
            </a:r>
            <a:r>
              <a:rPr lang="de-DE" sz="900" dirty="0"/>
              <a:t> </a:t>
            </a:r>
            <a:r>
              <a:rPr lang="de-DE" sz="900" dirty="0" err="1"/>
              <a:t>or</a:t>
            </a:r>
            <a:r>
              <a:rPr lang="de-DE" sz="900" dirty="0"/>
              <a:t> </a:t>
            </a:r>
            <a:r>
              <a:rPr lang="de-DE" sz="900" dirty="0" err="1"/>
              <a:t>liver</a:t>
            </a:r>
            <a:endParaRPr lang="de-DE" sz="90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C3DD7BE-4E3A-88E0-5F25-34B5C83B0EE1}"/>
              </a:ext>
            </a:extLst>
          </p:cNvPr>
          <p:cNvSpPr/>
          <p:nvPr/>
        </p:nvSpPr>
        <p:spPr>
          <a:xfrm>
            <a:off x="3564219" y="4276108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SJS</a:t>
            </a:r>
          </a:p>
          <a:p>
            <a:pPr algn="ctr"/>
            <a:r>
              <a:rPr lang="de-DE" sz="675" dirty="0"/>
              <a:t>N=4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0CD11BB-B8B2-0104-9512-87684F79CB26}"/>
              </a:ext>
            </a:extLst>
          </p:cNvPr>
          <p:cNvSpPr/>
          <p:nvPr/>
        </p:nvSpPr>
        <p:spPr>
          <a:xfrm>
            <a:off x="4137606" y="4276108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00" dirty="0"/>
              <a:t>Epidermal </a:t>
            </a:r>
            <a:r>
              <a:rPr lang="de-DE" sz="500" dirty="0" err="1"/>
              <a:t>reaction</a:t>
            </a:r>
            <a:endParaRPr lang="de-DE" sz="500" dirty="0"/>
          </a:p>
          <a:p>
            <a:pPr algn="ctr"/>
            <a:r>
              <a:rPr lang="de-DE" sz="500" dirty="0"/>
              <a:t>N=6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578F57E-B278-16A7-813C-B836A825CD17}"/>
              </a:ext>
            </a:extLst>
          </p:cNvPr>
          <p:cNvSpPr/>
          <p:nvPr/>
        </p:nvSpPr>
        <p:spPr>
          <a:xfrm>
            <a:off x="4710992" y="4276108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 dirty="0" err="1"/>
              <a:t>hepatotoxicity</a:t>
            </a:r>
            <a:endParaRPr lang="de-DE" sz="600" dirty="0"/>
          </a:p>
          <a:p>
            <a:pPr algn="ctr"/>
            <a:r>
              <a:rPr lang="de-DE" sz="600" dirty="0"/>
              <a:t>N=75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B3B6470-C528-5F1A-1C47-E76DC2B4EE21}"/>
              </a:ext>
            </a:extLst>
          </p:cNvPr>
          <p:cNvSpPr/>
          <p:nvPr/>
        </p:nvSpPr>
        <p:spPr>
          <a:xfrm>
            <a:off x="5430760" y="4276108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SJS</a:t>
            </a:r>
          </a:p>
          <a:p>
            <a:pPr algn="ctr"/>
            <a:r>
              <a:rPr lang="de-DE" sz="675" dirty="0"/>
              <a:t>N=21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EEF9C58-4533-6EC5-E2AB-09DE8A03B58F}"/>
              </a:ext>
            </a:extLst>
          </p:cNvPr>
          <p:cNvSpPr/>
          <p:nvPr/>
        </p:nvSpPr>
        <p:spPr>
          <a:xfrm>
            <a:off x="6004147" y="4276108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500" dirty="0"/>
              <a:t>Epidermal </a:t>
            </a:r>
            <a:r>
              <a:rPr lang="de-DE" sz="500" dirty="0" err="1"/>
              <a:t>reaction</a:t>
            </a:r>
            <a:endParaRPr lang="de-DE" sz="500" dirty="0"/>
          </a:p>
          <a:p>
            <a:pPr algn="ctr"/>
            <a:r>
              <a:rPr lang="de-DE" sz="500" dirty="0"/>
              <a:t>N=5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475C8FA-F47B-52D1-E5B9-D8D43A0ABEDF}"/>
              </a:ext>
            </a:extLst>
          </p:cNvPr>
          <p:cNvSpPr/>
          <p:nvPr/>
        </p:nvSpPr>
        <p:spPr>
          <a:xfrm>
            <a:off x="6577533" y="4276108"/>
            <a:ext cx="473915" cy="26414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00" dirty="0" err="1"/>
              <a:t>hepatotoxicity</a:t>
            </a:r>
            <a:endParaRPr lang="de-DE" sz="600" dirty="0"/>
          </a:p>
          <a:p>
            <a:pPr algn="ctr"/>
            <a:r>
              <a:rPr lang="de-DE" sz="600" dirty="0"/>
              <a:t>N=77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2AF6F8D-8038-3A1B-4D8B-A145474BEB0C}"/>
              </a:ext>
            </a:extLst>
          </p:cNvPr>
          <p:cNvSpPr/>
          <p:nvPr/>
        </p:nvSpPr>
        <p:spPr>
          <a:xfrm>
            <a:off x="1062946" y="2269452"/>
            <a:ext cx="5353770" cy="5143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/>
              <a:t>BfArM-</a:t>
            </a:r>
            <a:r>
              <a:rPr lang="de-DE" sz="1013" dirty="0" err="1"/>
              <a:t>case</a:t>
            </a:r>
            <a:r>
              <a:rPr lang="de-DE" sz="1013" dirty="0"/>
              <a:t> </a:t>
            </a:r>
            <a:r>
              <a:rPr lang="de-DE" sz="1013" dirty="0" err="1"/>
              <a:t>reports</a:t>
            </a:r>
            <a:r>
              <a:rPr lang="de-DE" sz="1013" dirty="0"/>
              <a:t> </a:t>
            </a:r>
            <a:r>
              <a:rPr lang="de-DE" sz="1013" dirty="0" err="1"/>
              <a:t>for</a:t>
            </a:r>
            <a:r>
              <a:rPr lang="de-DE" sz="1013" dirty="0"/>
              <a:t> SJS, epidermal </a:t>
            </a:r>
            <a:r>
              <a:rPr lang="de-DE" sz="1013" dirty="0" err="1"/>
              <a:t>or</a:t>
            </a:r>
            <a:r>
              <a:rPr lang="de-DE" sz="1013" dirty="0"/>
              <a:t> </a:t>
            </a:r>
            <a:r>
              <a:rPr lang="de-DE" sz="1013" dirty="0" err="1"/>
              <a:t>hepatotoxic</a:t>
            </a:r>
            <a:r>
              <a:rPr lang="de-DE" sz="1013" dirty="0"/>
              <a:t> </a:t>
            </a:r>
            <a:r>
              <a:rPr lang="de-DE" sz="1013" dirty="0" err="1"/>
              <a:t>drug-reaction</a:t>
            </a:r>
            <a:r>
              <a:rPr lang="de-DE" sz="1013" dirty="0"/>
              <a:t> on </a:t>
            </a:r>
            <a:r>
              <a:rPr lang="de-DE" sz="1013" dirty="0" err="1"/>
              <a:t>Diclofenac</a:t>
            </a:r>
            <a:r>
              <a:rPr lang="de-DE" sz="1013" dirty="0"/>
              <a:t>, Ibuprofen and </a:t>
            </a:r>
            <a:r>
              <a:rPr lang="de-DE" sz="1013" dirty="0" err="1"/>
              <a:t>paracetamol</a:t>
            </a:r>
            <a:endParaRPr lang="de-DE" sz="1013" dirty="0"/>
          </a:p>
          <a:p>
            <a:pPr algn="ctr"/>
            <a:r>
              <a:rPr lang="de-DE" sz="1013" dirty="0"/>
              <a:t>N</a:t>
            </a:r>
            <a:r>
              <a:rPr lang="de-DE" sz="1013" dirty="0">
                <a:solidFill>
                  <a:schemeClr val="bg1"/>
                </a:solidFill>
              </a:rPr>
              <a:t>=406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F6B13881-28C5-60AC-9E32-ED52941676EB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934635" y="4185127"/>
            <a:ext cx="1" cy="90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269E2392-BAA9-8A22-35E3-7521F79DC424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flipH="1">
            <a:off x="2502311" y="4176893"/>
            <a:ext cx="5710" cy="99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7F889836-817B-F995-3AB0-F9059ED50AC9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081408" y="4185127"/>
            <a:ext cx="1" cy="9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22D4D269-1FB4-8ECC-5C63-4959A19557D8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791470" y="4183469"/>
            <a:ext cx="9706" cy="92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88FDF955-117E-A6EB-8D6F-47AD9718717D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>
            <a:off x="4374563" y="4182957"/>
            <a:ext cx="1" cy="9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5D6205CF-526C-7155-DD90-E85A48678216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947949" y="4191191"/>
            <a:ext cx="1" cy="84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D99316E6-8737-A092-77FD-A99AA435EF53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5667717" y="4191191"/>
            <a:ext cx="1" cy="84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8F2FE70B-3A42-589B-C9BA-E40957374E0A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>
          <a:xfrm>
            <a:off x="6241104" y="4182957"/>
            <a:ext cx="1" cy="9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A7D9DAA2-33A2-352C-83C3-0312306FAC91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6814490" y="4183469"/>
            <a:ext cx="1" cy="92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feld 57">
            <a:extLst>
              <a:ext uri="{FF2B5EF4-FFF2-40B4-BE49-F238E27FC236}">
                <a16:creationId xmlns:a16="http://schemas.microsoft.com/office/drawing/2014/main" id="{6DB9CA28-3C6F-5225-4FA3-3303DF06A61A}"/>
              </a:ext>
            </a:extLst>
          </p:cNvPr>
          <p:cNvSpPr txBox="1"/>
          <p:nvPr/>
        </p:nvSpPr>
        <p:spPr>
          <a:xfrm>
            <a:off x="517913" y="3790669"/>
            <a:ext cx="773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Number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endParaRPr lang="de-DE" sz="800" dirty="0"/>
          </a:p>
          <a:p>
            <a:r>
              <a:rPr lang="de-DE" sz="800" dirty="0"/>
              <a:t> </a:t>
            </a:r>
            <a:r>
              <a:rPr lang="de-DE" sz="800" dirty="0" err="1"/>
              <a:t>Patients</a:t>
            </a:r>
            <a:r>
              <a:rPr lang="de-DE" sz="800" dirty="0"/>
              <a:t> (N)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7D36650E-F63C-A9F1-3631-F88CC74D1C9A}"/>
              </a:ext>
            </a:extLst>
          </p:cNvPr>
          <p:cNvSpPr txBox="1"/>
          <p:nvPr/>
        </p:nvSpPr>
        <p:spPr>
          <a:xfrm>
            <a:off x="517913" y="4247362"/>
            <a:ext cx="785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Number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endParaRPr lang="de-DE" sz="800" dirty="0"/>
          </a:p>
          <a:p>
            <a:r>
              <a:rPr lang="de-DE" sz="800" dirty="0"/>
              <a:t> </a:t>
            </a:r>
            <a:r>
              <a:rPr lang="de-DE" sz="800" dirty="0" err="1"/>
              <a:t>Patients</a:t>
            </a:r>
            <a:r>
              <a:rPr lang="de-DE" sz="800" dirty="0"/>
              <a:t> (N)</a:t>
            </a:r>
          </a:p>
        </p:txBody>
      </p:sp>
      <p:cxnSp>
        <p:nvCxnSpPr>
          <p:cNvPr id="169" name="Gerader Verbinder 168">
            <a:extLst>
              <a:ext uri="{FF2B5EF4-FFF2-40B4-BE49-F238E27FC236}">
                <a16:creationId xmlns:a16="http://schemas.microsoft.com/office/drawing/2014/main" id="{C023E69D-0B40-1937-4B33-D6A46C24B540}"/>
              </a:ext>
            </a:extLst>
          </p:cNvPr>
          <p:cNvCxnSpPr>
            <a:cxnSpLocks/>
          </p:cNvCxnSpPr>
          <p:nvPr/>
        </p:nvCxnSpPr>
        <p:spPr>
          <a:xfrm flipH="1">
            <a:off x="1937698" y="4541693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Gerader Verbinder 170">
            <a:extLst>
              <a:ext uri="{FF2B5EF4-FFF2-40B4-BE49-F238E27FC236}">
                <a16:creationId xmlns:a16="http://schemas.microsoft.com/office/drawing/2014/main" id="{622D5609-AEB3-A540-5098-A27C1F3E5EC3}"/>
              </a:ext>
            </a:extLst>
          </p:cNvPr>
          <p:cNvCxnSpPr>
            <a:cxnSpLocks/>
          </p:cNvCxnSpPr>
          <p:nvPr/>
        </p:nvCxnSpPr>
        <p:spPr>
          <a:xfrm>
            <a:off x="1937698" y="4645517"/>
            <a:ext cx="48737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Gerader Verbinder 172">
            <a:extLst>
              <a:ext uri="{FF2B5EF4-FFF2-40B4-BE49-F238E27FC236}">
                <a16:creationId xmlns:a16="http://schemas.microsoft.com/office/drawing/2014/main" id="{6A791CA7-6FC4-0ACB-0639-B9D7D2F400D2}"/>
              </a:ext>
            </a:extLst>
          </p:cNvPr>
          <p:cNvCxnSpPr>
            <a:cxnSpLocks/>
          </p:cNvCxnSpPr>
          <p:nvPr/>
        </p:nvCxnSpPr>
        <p:spPr>
          <a:xfrm>
            <a:off x="2505374" y="4541693"/>
            <a:ext cx="0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Gerader Verbinder 174">
            <a:extLst>
              <a:ext uri="{FF2B5EF4-FFF2-40B4-BE49-F238E27FC236}">
                <a16:creationId xmlns:a16="http://schemas.microsoft.com/office/drawing/2014/main" id="{985B8459-7D55-8475-C454-B4127C1A4617}"/>
              </a:ext>
            </a:extLst>
          </p:cNvPr>
          <p:cNvCxnSpPr>
            <a:cxnSpLocks/>
          </p:cNvCxnSpPr>
          <p:nvPr/>
        </p:nvCxnSpPr>
        <p:spPr>
          <a:xfrm flipH="1">
            <a:off x="3084471" y="4545009"/>
            <a:ext cx="1" cy="100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Gerader Verbinder 176">
            <a:extLst>
              <a:ext uri="{FF2B5EF4-FFF2-40B4-BE49-F238E27FC236}">
                <a16:creationId xmlns:a16="http://schemas.microsoft.com/office/drawing/2014/main" id="{491C2B99-83C7-54CC-4F20-E98BB701CA9D}"/>
              </a:ext>
            </a:extLst>
          </p:cNvPr>
          <p:cNvCxnSpPr>
            <a:cxnSpLocks/>
          </p:cNvCxnSpPr>
          <p:nvPr/>
        </p:nvCxnSpPr>
        <p:spPr>
          <a:xfrm flipH="1">
            <a:off x="3804237" y="4541693"/>
            <a:ext cx="2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Gerader Verbinder 180">
            <a:extLst>
              <a:ext uri="{FF2B5EF4-FFF2-40B4-BE49-F238E27FC236}">
                <a16:creationId xmlns:a16="http://schemas.microsoft.com/office/drawing/2014/main" id="{688269CD-6CE7-1983-EFA8-4C65C84E4D1F}"/>
              </a:ext>
            </a:extLst>
          </p:cNvPr>
          <p:cNvCxnSpPr>
            <a:cxnSpLocks/>
          </p:cNvCxnSpPr>
          <p:nvPr/>
        </p:nvCxnSpPr>
        <p:spPr>
          <a:xfrm flipH="1">
            <a:off x="4951012" y="4541693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Gerader Verbinder 182">
            <a:extLst>
              <a:ext uri="{FF2B5EF4-FFF2-40B4-BE49-F238E27FC236}">
                <a16:creationId xmlns:a16="http://schemas.microsoft.com/office/drawing/2014/main" id="{9F65D52A-A86A-0BA9-6FF7-0E97B21AAACE}"/>
              </a:ext>
            </a:extLst>
          </p:cNvPr>
          <p:cNvCxnSpPr>
            <a:cxnSpLocks/>
          </p:cNvCxnSpPr>
          <p:nvPr/>
        </p:nvCxnSpPr>
        <p:spPr>
          <a:xfrm flipH="1">
            <a:off x="4377626" y="4541693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Gerader Verbinder 184">
            <a:extLst>
              <a:ext uri="{FF2B5EF4-FFF2-40B4-BE49-F238E27FC236}">
                <a16:creationId xmlns:a16="http://schemas.microsoft.com/office/drawing/2014/main" id="{740033BB-5567-6F79-2412-EB508DF5AC58}"/>
              </a:ext>
            </a:extLst>
          </p:cNvPr>
          <p:cNvCxnSpPr>
            <a:cxnSpLocks/>
          </p:cNvCxnSpPr>
          <p:nvPr/>
        </p:nvCxnSpPr>
        <p:spPr>
          <a:xfrm flipH="1">
            <a:off x="5670780" y="4541693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Gerader Verbinder 186">
            <a:extLst>
              <a:ext uri="{FF2B5EF4-FFF2-40B4-BE49-F238E27FC236}">
                <a16:creationId xmlns:a16="http://schemas.microsoft.com/office/drawing/2014/main" id="{68D448B8-3743-E9DC-D880-18A84DE2813A}"/>
              </a:ext>
            </a:extLst>
          </p:cNvPr>
          <p:cNvCxnSpPr>
            <a:cxnSpLocks/>
          </p:cNvCxnSpPr>
          <p:nvPr/>
        </p:nvCxnSpPr>
        <p:spPr>
          <a:xfrm flipH="1">
            <a:off x="6244167" y="4541693"/>
            <a:ext cx="1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Gerader Verbinder 190">
            <a:extLst>
              <a:ext uri="{FF2B5EF4-FFF2-40B4-BE49-F238E27FC236}">
                <a16:creationId xmlns:a16="http://schemas.microsoft.com/office/drawing/2014/main" id="{075EBB45-AB83-2060-D434-E0E926F384ED}"/>
              </a:ext>
            </a:extLst>
          </p:cNvPr>
          <p:cNvCxnSpPr>
            <a:cxnSpLocks/>
          </p:cNvCxnSpPr>
          <p:nvPr/>
        </p:nvCxnSpPr>
        <p:spPr>
          <a:xfrm>
            <a:off x="6817553" y="4541693"/>
            <a:ext cx="0" cy="103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Rechteck 193">
            <a:extLst>
              <a:ext uri="{FF2B5EF4-FFF2-40B4-BE49-F238E27FC236}">
                <a16:creationId xmlns:a16="http://schemas.microsoft.com/office/drawing/2014/main" id="{0DFB80F7-FEAA-AC9E-DD93-7A4FA3E94B3C}"/>
              </a:ext>
            </a:extLst>
          </p:cNvPr>
          <p:cNvSpPr/>
          <p:nvPr/>
        </p:nvSpPr>
        <p:spPr>
          <a:xfrm>
            <a:off x="4977022" y="6441156"/>
            <a:ext cx="2114742" cy="2534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Data: „</a:t>
            </a:r>
            <a:r>
              <a:rPr lang="en-US" sz="675" dirty="0"/>
              <a:t>count cases with </a:t>
            </a:r>
            <a:r>
              <a:rPr lang="en-US" sz="675" dirty="0" err="1"/>
              <a:t>labvalues</a:t>
            </a:r>
            <a:r>
              <a:rPr lang="en-US" sz="675" dirty="0"/>
              <a:t> in time course without controlgroup2.xlsx”</a:t>
            </a:r>
            <a:endParaRPr lang="de-DE" sz="675" dirty="0"/>
          </a:p>
        </p:txBody>
      </p:sp>
      <p:sp>
        <p:nvSpPr>
          <p:cNvPr id="195" name="Rechteck 194">
            <a:extLst>
              <a:ext uri="{FF2B5EF4-FFF2-40B4-BE49-F238E27FC236}">
                <a16:creationId xmlns:a16="http://schemas.microsoft.com/office/drawing/2014/main" id="{AEEC53F4-9AE8-4FFB-ABA5-E369362558F9}"/>
              </a:ext>
            </a:extLst>
          </p:cNvPr>
          <p:cNvSpPr/>
          <p:nvPr/>
        </p:nvSpPr>
        <p:spPr>
          <a:xfrm>
            <a:off x="2802113" y="6441156"/>
            <a:ext cx="2114742" cy="25346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75" dirty="0"/>
              <a:t>Data: „</a:t>
            </a:r>
            <a:r>
              <a:rPr lang="en-US" sz="675" dirty="0"/>
              <a:t>count cases with </a:t>
            </a:r>
            <a:r>
              <a:rPr lang="en-US" sz="675" dirty="0" err="1"/>
              <a:t>labvalues</a:t>
            </a:r>
            <a:r>
              <a:rPr lang="en-US" sz="675" dirty="0"/>
              <a:t> in time course.xlsx”</a:t>
            </a:r>
            <a:endParaRPr lang="de-DE" sz="675" dirty="0"/>
          </a:p>
        </p:txBody>
      </p:sp>
      <p:cxnSp>
        <p:nvCxnSpPr>
          <p:cNvPr id="197" name="Gerade Verbindung mit Pfeil 196">
            <a:extLst>
              <a:ext uri="{FF2B5EF4-FFF2-40B4-BE49-F238E27FC236}">
                <a16:creationId xmlns:a16="http://schemas.microsoft.com/office/drawing/2014/main" id="{D0EE61ED-FB02-B674-3342-554861A78440}"/>
              </a:ext>
            </a:extLst>
          </p:cNvPr>
          <p:cNvCxnSpPr>
            <a:endCxn id="195" idx="0"/>
          </p:cNvCxnSpPr>
          <p:nvPr/>
        </p:nvCxnSpPr>
        <p:spPr>
          <a:xfrm>
            <a:off x="3859484" y="5150639"/>
            <a:ext cx="0" cy="1290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Gerade Verbindung mit Pfeil 199">
            <a:extLst>
              <a:ext uri="{FF2B5EF4-FFF2-40B4-BE49-F238E27FC236}">
                <a16:creationId xmlns:a16="http://schemas.microsoft.com/office/drawing/2014/main" id="{6D8027EE-C587-12DE-6BC2-BA3BB00E027B}"/>
              </a:ext>
            </a:extLst>
          </p:cNvPr>
          <p:cNvCxnSpPr>
            <a:endCxn id="194" idx="0"/>
          </p:cNvCxnSpPr>
          <p:nvPr/>
        </p:nvCxnSpPr>
        <p:spPr>
          <a:xfrm>
            <a:off x="6034393" y="5140507"/>
            <a:ext cx="0" cy="1300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hteck 200">
            <a:extLst>
              <a:ext uri="{FF2B5EF4-FFF2-40B4-BE49-F238E27FC236}">
                <a16:creationId xmlns:a16="http://schemas.microsoft.com/office/drawing/2014/main" id="{C910F821-6803-265F-DD44-3D221A0BD802}"/>
              </a:ext>
            </a:extLst>
          </p:cNvPr>
          <p:cNvSpPr/>
          <p:nvPr/>
        </p:nvSpPr>
        <p:spPr>
          <a:xfrm>
            <a:off x="3889985" y="5483434"/>
            <a:ext cx="897146" cy="48909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900" dirty="0" err="1"/>
              <a:t>measurements</a:t>
            </a:r>
            <a:r>
              <a:rPr lang="de-DE" sz="900" dirty="0"/>
              <a:t> per </a:t>
            </a:r>
            <a:r>
              <a:rPr lang="de-DE" sz="900" dirty="0" err="1"/>
              <a:t>timepoint</a:t>
            </a:r>
            <a:r>
              <a:rPr lang="de-DE" sz="900" dirty="0"/>
              <a:t> ≥ 3</a:t>
            </a:r>
          </a:p>
        </p:txBody>
      </p:sp>
      <p:sp>
        <p:nvSpPr>
          <p:cNvPr id="202" name="Rechteck 201">
            <a:extLst>
              <a:ext uri="{FF2B5EF4-FFF2-40B4-BE49-F238E27FC236}">
                <a16:creationId xmlns:a16="http://schemas.microsoft.com/office/drawing/2014/main" id="{8848E04A-19AB-8A22-D2BB-2D789C288B62}"/>
              </a:ext>
            </a:extLst>
          </p:cNvPr>
          <p:cNvSpPr/>
          <p:nvPr/>
        </p:nvSpPr>
        <p:spPr>
          <a:xfrm>
            <a:off x="6090948" y="5306353"/>
            <a:ext cx="910434" cy="81444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900" dirty="0" err="1"/>
              <a:t>measurements</a:t>
            </a:r>
            <a:r>
              <a:rPr lang="de-DE" sz="900" dirty="0"/>
              <a:t> </a:t>
            </a:r>
            <a:r>
              <a:rPr lang="de-DE" sz="900" dirty="0" err="1"/>
              <a:t>for</a:t>
            </a:r>
            <a:r>
              <a:rPr lang="de-DE" sz="900" dirty="0"/>
              <a:t> </a:t>
            </a:r>
            <a:r>
              <a:rPr lang="de-DE" sz="900" dirty="0" err="1"/>
              <a:t>one</a:t>
            </a:r>
            <a:r>
              <a:rPr lang="de-DE" sz="900" dirty="0"/>
              <a:t> </a:t>
            </a:r>
            <a:r>
              <a:rPr lang="de-DE" sz="900" dirty="0" err="1"/>
              <a:t>patient</a:t>
            </a:r>
            <a:r>
              <a:rPr lang="de-DE" sz="900" dirty="0"/>
              <a:t> at different </a:t>
            </a:r>
            <a:r>
              <a:rPr lang="de-DE" sz="900" dirty="0" err="1"/>
              <a:t>timepoints</a:t>
            </a:r>
            <a:r>
              <a:rPr lang="de-DE" sz="900" dirty="0"/>
              <a:t> ≥ 3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11452F6-1BFC-A33B-662A-8D0BF39973D0}"/>
              </a:ext>
            </a:extLst>
          </p:cNvPr>
          <p:cNvSpPr/>
          <p:nvPr/>
        </p:nvSpPr>
        <p:spPr>
          <a:xfrm>
            <a:off x="3420565" y="4881145"/>
            <a:ext cx="3396989" cy="25346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700" b="1" dirty="0"/>
              <a:t>Test </a:t>
            </a:r>
            <a:r>
              <a:rPr lang="de-DE" sz="700" b="1" dirty="0" err="1"/>
              <a:t>group</a:t>
            </a:r>
            <a:r>
              <a:rPr lang="de-DE" sz="700" b="1" dirty="0"/>
              <a:t>: </a:t>
            </a:r>
            <a:r>
              <a:rPr lang="de-DE" sz="700" dirty="0"/>
              <a:t>Data </a:t>
            </a:r>
            <a:r>
              <a:rPr lang="de-DE" sz="700" dirty="0" err="1"/>
              <a:t>number</a:t>
            </a:r>
            <a:r>
              <a:rPr lang="de-DE" sz="700" dirty="0"/>
              <a:t> </a:t>
            </a:r>
            <a:r>
              <a:rPr lang="de-DE" sz="700" dirty="0" err="1"/>
              <a:t>of</a:t>
            </a:r>
            <a:r>
              <a:rPr lang="de-DE" sz="700" dirty="0"/>
              <a:t> </a:t>
            </a:r>
            <a:r>
              <a:rPr lang="de-DE" sz="700" dirty="0" err="1"/>
              <a:t>measurements</a:t>
            </a:r>
            <a:r>
              <a:rPr lang="de-DE" sz="700" dirty="0"/>
              <a:t> per </a:t>
            </a:r>
            <a:r>
              <a:rPr lang="de-DE" sz="700" dirty="0" err="1"/>
              <a:t>parameter</a:t>
            </a:r>
            <a:r>
              <a:rPr lang="de-DE" sz="700" dirty="0"/>
              <a:t>: „</a:t>
            </a:r>
            <a:r>
              <a:rPr lang="de-DE" sz="700" dirty="0" err="1"/>
              <a:t>count</a:t>
            </a:r>
            <a:r>
              <a:rPr lang="de-DE" sz="700" dirty="0"/>
              <a:t> labvalues.xlsx“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73E11099-198A-8A30-A42C-607B10D92AA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5119059" y="4651582"/>
            <a:ext cx="0" cy="229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92EB18F0-29C5-9ABA-C9B3-24AC986887CF}"/>
              </a:ext>
            </a:extLst>
          </p:cNvPr>
          <p:cNvSpPr/>
          <p:nvPr/>
        </p:nvSpPr>
        <p:spPr>
          <a:xfrm>
            <a:off x="1069300" y="3166346"/>
            <a:ext cx="1775151" cy="575697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b="1" dirty="0" err="1"/>
              <a:t>Comparison</a:t>
            </a:r>
            <a:r>
              <a:rPr lang="de-DE" sz="900" b="1" dirty="0"/>
              <a:t> </a:t>
            </a:r>
            <a:r>
              <a:rPr lang="de-DE" sz="900" b="1" dirty="0" err="1"/>
              <a:t>group</a:t>
            </a:r>
            <a:r>
              <a:rPr lang="de-DE" sz="900" b="1" dirty="0"/>
              <a:t>: </a:t>
            </a:r>
            <a:r>
              <a:rPr lang="de-DE" sz="900" dirty="0"/>
              <a:t>Data </a:t>
            </a:r>
            <a:r>
              <a:rPr lang="de-DE" sz="900" dirty="0" err="1"/>
              <a:t>without</a:t>
            </a:r>
            <a:r>
              <a:rPr lang="de-DE" sz="900" dirty="0"/>
              <a:t> </a:t>
            </a:r>
            <a:r>
              <a:rPr lang="de-DE" sz="900" dirty="0" err="1"/>
              <a:t>starting</a:t>
            </a:r>
            <a:r>
              <a:rPr lang="de-DE" sz="900" dirty="0"/>
              <a:t>-date </a:t>
            </a:r>
            <a:r>
              <a:rPr lang="de-DE" sz="900" dirty="0" err="1"/>
              <a:t>for</a:t>
            </a:r>
            <a:r>
              <a:rPr lang="de-DE" sz="900" dirty="0"/>
              <a:t> </a:t>
            </a:r>
            <a:r>
              <a:rPr lang="de-DE" sz="900" dirty="0" err="1"/>
              <a:t>drug</a:t>
            </a:r>
            <a:r>
              <a:rPr lang="de-DE" sz="900" dirty="0"/>
              <a:t> </a:t>
            </a:r>
            <a:r>
              <a:rPr lang="de-DE" sz="900" dirty="0" err="1"/>
              <a:t>related</a:t>
            </a:r>
            <a:r>
              <a:rPr lang="de-DE" sz="900" dirty="0"/>
              <a:t> </a:t>
            </a:r>
            <a:r>
              <a:rPr lang="de-DE" sz="900" dirty="0" err="1"/>
              <a:t>symptomes</a:t>
            </a:r>
            <a:endParaRPr lang="de-DE" sz="900" dirty="0"/>
          </a:p>
          <a:p>
            <a:pPr algn="ctr"/>
            <a:r>
              <a:rPr lang="de-DE" sz="900" dirty="0"/>
              <a:t>N=73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BCA02CEF-95D3-A732-80C8-DBFB2A5B9C59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1956875" y="3032637"/>
            <a:ext cx="0" cy="133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5D85D849-B61D-E2E1-0D8E-2985349699D2}"/>
              </a:ext>
            </a:extLst>
          </p:cNvPr>
          <p:cNvSpPr/>
          <p:nvPr/>
        </p:nvSpPr>
        <p:spPr>
          <a:xfrm>
            <a:off x="1697677" y="4881144"/>
            <a:ext cx="1620689" cy="3316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700" b="1" dirty="0"/>
              <a:t>Control </a:t>
            </a:r>
            <a:r>
              <a:rPr lang="de-DE" sz="700" b="1" dirty="0" err="1"/>
              <a:t>visit</a:t>
            </a:r>
            <a:r>
              <a:rPr lang="de-DE" sz="700" b="1" dirty="0"/>
              <a:t> </a:t>
            </a:r>
            <a:r>
              <a:rPr lang="de-DE" sz="700" b="1" dirty="0" err="1"/>
              <a:t>group</a:t>
            </a:r>
            <a:r>
              <a:rPr lang="de-DE" sz="700" b="1" dirty="0"/>
              <a:t>: </a:t>
            </a:r>
            <a:r>
              <a:rPr lang="de-DE" sz="700" dirty="0" err="1"/>
              <a:t>Measurements</a:t>
            </a:r>
            <a:r>
              <a:rPr lang="de-DE" sz="700" dirty="0"/>
              <a:t> </a:t>
            </a:r>
            <a:r>
              <a:rPr lang="de-DE" sz="700" dirty="0" err="1"/>
              <a:t>before</a:t>
            </a:r>
            <a:r>
              <a:rPr lang="de-DE" sz="700" dirty="0"/>
              <a:t> </a:t>
            </a:r>
            <a:r>
              <a:rPr lang="de-DE" sz="700" dirty="0" err="1"/>
              <a:t>starting</a:t>
            </a:r>
            <a:r>
              <a:rPr lang="de-DE" sz="700" dirty="0"/>
              <a:t> date </a:t>
            </a:r>
            <a:r>
              <a:rPr lang="de-DE" sz="700" dirty="0" err="1"/>
              <a:t>of</a:t>
            </a:r>
            <a:r>
              <a:rPr lang="de-DE" sz="700" dirty="0"/>
              <a:t> </a:t>
            </a:r>
            <a:r>
              <a:rPr lang="de-DE" sz="700" dirty="0" err="1"/>
              <a:t>reaction</a:t>
            </a:r>
            <a:r>
              <a:rPr lang="de-DE" sz="700" dirty="0"/>
              <a:t> (</a:t>
            </a:r>
            <a:r>
              <a:rPr lang="de-DE" sz="700" dirty="0" err="1"/>
              <a:t>control</a:t>
            </a:r>
            <a:r>
              <a:rPr lang="de-DE" sz="700" dirty="0"/>
              <a:t> </a:t>
            </a:r>
            <a:r>
              <a:rPr lang="de-DE" sz="700" dirty="0" err="1"/>
              <a:t>visits</a:t>
            </a:r>
            <a:r>
              <a:rPr lang="de-DE" sz="700" dirty="0"/>
              <a:t>)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3147E0FD-DD66-767D-4932-B650DCA4A321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2508021" y="4645518"/>
            <a:ext cx="0" cy="235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hteck 46">
            <a:extLst>
              <a:ext uri="{FF2B5EF4-FFF2-40B4-BE49-F238E27FC236}">
                <a16:creationId xmlns:a16="http://schemas.microsoft.com/office/drawing/2014/main" id="{BC847470-B8EB-0D50-A8E5-1E3EFA593373}"/>
              </a:ext>
            </a:extLst>
          </p:cNvPr>
          <p:cNvSpPr/>
          <p:nvPr/>
        </p:nvSpPr>
        <p:spPr>
          <a:xfrm>
            <a:off x="450532" y="4881144"/>
            <a:ext cx="1157143" cy="3316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700" b="1" dirty="0" err="1"/>
              <a:t>Measurements</a:t>
            </a:r>
            <a:r>
              <a:rPr lang="de-DE" sz="700" b="1" dirty="0"/>
              <a:t> at </a:t>
            </a:r>
            <a:r>
              <a:rPr lang="de-DE" sz="700" b="1" dirty="0" err="1"/>
              <a:t>unknown</a:t>
            </a:r>
            <a:r>
              <a:rPr lang="de-DE" sz="700" b="1" dirty="0"/>
              <a:t> date</a:t>
            </a:r>
            <a:endParaRPr lang="de-DE" sz="700" dirty="0"/>
          </a:p>
        </p:txBody>
      </p: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FEDCC4B2-59B7-EB2B-06D5-DE01305D095C}"/>
              </a:ext>
            </a:extLst>
          </p:cNvPr>
          <p:cNvCxnSpPr>
            <a:endCxn id="47" idx="0"/>
          </p:cNvCxnSpPr>
          <p:nvPr/>
        </p:nvCxnSpPr>
        <p:spPr>
          <a:xfrm flipH="1">
            <a:off x="1029103" y="4645518"/>
            <a:ext cx="1040678" cy="235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>
            <a:extLst>
              <a:ext uri="{FF2B5EF4-FFF2-40B4-BE49-F238E27FC236}">
                <a16:creationId xmlns:a16="http://schemas.microsoft.com/office/drawing/2014/main" id="{8B050004-3123-450D-0DD1-55A9600C4945}"/>
              </a:ext>
            </a:extLst>
          </p:cNvPr>
          <p:cNvSpPr txBox="1"/>
          <p:nvPr/>
        </p:nvSpPr>
        <p:spPr>
          <a:xfrm>
            <a:off x="444183" y="2401120"/>
            <a:ext cx="773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 err="1"/>
              <a:t>Number</a:t>
            </a:r>
            <a:r>
              <a:rPr lang="de-DE" sz="800" dirty="0"/>
              <a:t> </a:t>
            </a:r>
            <a:r>
              <a:rPr lang="de-DE" sz="800" dirty="0" err="1"/>
              <a:t>of</a:t>
            </a:r>
            <a:endParaRPr lang="de-DE" sz="800" dirty="0"/>
          </a:p>
          <a:p>
            <a:r>
              <a:rPr lang="de-DE" sz="800" dirty="0"/>
              <a:t> </a:t>
            </a:r>
            <a:r>
              <a:rPr lang="de-DE" sz="800" dirty="0" err="1"/>
              <a:t>Patients</a:t>
            </a:r>
            <a:r>
              <a:rPr lang="de-DE" sz="800" dirty="0"/>
              <a:t> (N)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60FE24EF-8893-2249-9915-796619EDE792}"/>
              </a:ext>
            </a:extLst>
          </p:cNvPr>
          <p:cNvCxnSpPr/>
          <p:nvPr/>
        </p:nvCxnSpPr>
        <p:spPr>
          <a:xfrm>
            <a:off x="1956875" y="3032636"/>
            <a:ext cx="42842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4AE1E40E-D9B3-6027-C47F-DCE37E4D3CD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374562" y="3032637"/>
            <a:ext cx="1" cy="775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B72D1636-B304-DDDA-D303-BD89A0819CFE}"/>
              </a:ext>
            </a:extLst>
          </p:cNvPr>
          <p:cNvCxnSpPr>
            <a:cxnSpLocks/>
          </p:cNvCxnSpPr>
          <p:nvPr/>
        </p:nvCxnSpPr>
        <p:spPr>
          <a:xfrm>
            <a:off x="3081407" y="3032637"/>
            <a:ext cx="0" cy="769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B408C050-89C6-7ED6-2020-A4A3C458004C}"/>
              </a:ext>
            </a:extLst>
          </p:cNvPr>
          <p:cNvCxnSpPr>
            <a:cxnSpLocks/>
          </p:cNvCxnSpPr>
          <p:nvPr/>
        </p:nvCxnSpPr>
        <p:spPr>
          <a:xfrm>
            <a:off x="6241103" y="3032637"/>
            <a:ext cx="0" cy="775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AB5FDFB0-C302-589C-DE2D-F45B596193DB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739831" y="2783802"/>
            <a:ext cx="0" cy="248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0D9E0BF4-E069-A262-A52C-23253F1CB549}"/>
              </a:ext>
            </a:extLst>
          </p:cNvPr>
          <p:cNvSpPr/>
          <p:nvPr/>
        </p:nvSpPr>
        <p:spPr>
          <a:xfrm>
            <a:off x="1062946" y="621853"/>
            <a:ext cx="5353770" cy="5143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/>
              <a:t>All BfArM-</a:t>
            </a:r>
            <a:r>
              <a:rPr lang="de-DE" sz="1013" dirty="0" err="1"/>
              <a:t>cases</a:t>
            </a:r>
            <a:r>
              <a:rPr lang="de-DE" sz="1013" dirty="0"/>
              <a:t> </a:t>
            </a:r>
            <a:r>
              <a:rPr lang="de-DE" sz="1013" dirty="0" err="1"/>
              <a:t>with</a:t>
            </a:r>
            <a:r>
              <a:rPr lang="de-DE" sz="1013" dirty="0"/>
              <a:t> </a:t>
            </a:r>
            <a:r>
              <a:rPr lang="de-DE" sz="1013" dirty="0" err="1"/>
              <a:t>spontanious</a:t>
            </a:r>
            <a:r>
              <a:rPr lang="de-DE" sz="1013" dirty="0"/>
              <a:t> </a:t>
            </a:r>
            <a:r>
              <a:rPr lang="de-DE" sz="1013" dirty="0" err="1"/>
              <a:t>reports</a:t>
            </a:r>
            <a:r>
              <a:rPr lang="de-DE" sz="1013" dirty="0"/>
              <a:t> </a:t>
            </a:r>
            <a:r>
              <a:rPr lang="de-DE" sz="1013" dirty="0" err="1"/>
              <a:t>of</a:t>
            </a:r>
            <a:r>
              <a:rPr lang="de-DE" sz="1013" dirty="0"/>
              <a:t> </a:t>
            </a:r>
            <a:r>
              <a:rPr lang="de-DE" sz="1013" dirty="0" err="1"/>
              <a:t>drug-reactions</a:t>
            </a:r>
            <a:endParaRPr lang="de-DE" sz="1013" dirty="0">
              <a:solidFill>
                <a:schemeClr val="bg1"/>
              </a:solidFill>
            </a:endParaRP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BE247361-F4A4-3599-3D9B-DD49934357D0}"/>
              </a:ext>
            </a:extLst>
          </p:cNvPr>
          <p:cNvCxnSpPr>
            <a:cxnSpLocks/>
            <a:stCxn id="11" idx="2"/>
            <a:endCxn id="2" idx="0"/>
          </p:cNvCxnSpPr>
          <p:nvPr/>
        </p:nvCxnSpPr>
        <p:spPr>
          <a:xfrm>
            <a:off x="3739831" y="1136204"/>
            <a:ext cx="0" cy="1133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D7E3A4A6-19E0-72E8-144D-B4397178A01C}"/>
              </a:ext>
            </a:extLst>
          </p:cNvPr>
          <p:cNvSpPr/>
          <p:nvPr/>
        </p:nvSpPr>
        <p:spPr>
          <a:xfrm>
            <a:off x="7215985" y="1097367"/>
            <a:ext cx="3236831" cy="2918884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13" dirty="0">
                <a:solidFill>
                  <a:schemeClr val="bg1"/>
                </a:solidFill>
              </a:rPr>
              <a:t>Untersuchte Parameter:</a:t>
            </a:r>
          </a:p>
          <a:p>
            <a:pPr marL="171450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Übersicht über Fälle</a:t>
            </a:r>
          </a:p>
          <a:p>
            <a:pPr marL="628650" lvl="1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Fälle mit Werten pro Zeitpunkt ≥3</a:t>
            </a:r>
          </a:p>
          <a:p>
            <a:pPr marL="628650" lvl="1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Fälle mit Werten pro Fall ≥3</a:t>
            </a:r>
          </a:p>
          <a:p>
            <a:pPr marL="171450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Laborwerte Vergleich zwischen Geschlechtern</a:t>
            </a:r>
          </a:p>
          <a:p>
            <a:pPr marL="171450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Untersuchung Laborwerte-Dosis-Korrelation</a:t>
            </a:r>
          </a:p>
          <a:p>
            <a:pPr marL="171450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Blutausstrich (besonders Eosinophile)</a:t>
            </a:r>
          </a:p>
          <a:p>
            <a:pPr marL="171450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Antikörper</a:t>
            </a:r>
          </a:p>
          <a:p>
            <a:pPr marL="171450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Hospitalisation (Laborwerte bei Entlassung)</a:t>
            </a:r>
          </a:p>
          <a:p>
            <a:pPr marL="171450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Mortalität</a:t>
            </a:r>
          </a:p>
          <a:p>
            <a:pPr marL="171450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Hepatitis-Fälle</a:t>
            </a:r>
          </a:p>
          <a:p>
            <a:pPr marL="171450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Kausalitätsbewertung Arzneimittel</a:t>
            </a:r>
          </a:p>
          <a:p>
            <a:pPr marL="171450" indent="-171450">
              <a:buFontTx/>
              <a:buChar char="-"/>
            </a:pPr>
            <a:r>
              <a:rPr lang="de-DE" sz="1013" dirty="0" err="1">
                <a:solidFill>
                  <a:schemeClr val="bg1"/>
                </a:solidFill>
              </a:rPr>
              <a:t>Flupirtin</a:t>
            </a:r>
            <a:r>
              <a:rPr lang="de-DE" sz="1013" dirty="0">
                <a:solidFill>
                  <a:schemeClr val="bg1"/>
                </a:solidFill>
              </a:rPr>
              <a:t>-Fälle</a:t>
            </a:r>
          </a:p>
          <a:p>
            <a:pPr marL="171450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Diabetes-Fälle</a:t>
            </a:r>
          </a:p>
          <a:p>
            <a:pPr marL="171450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BMI</a:t>
            </a:r>
          </a:p>
          <a:p>
            <a:pPr marL="171450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Co-</a:t>
            </a:r>
            <a:r>
              <a:rPr lang="de-DE" sz="1013" dirty="0" err="1">
                <a:solidFill>
                  <a:schemeClr val="bg1"/>
                </a:solidFill>
              </a:rPr>
              <a:t>Morbiditäten</a:t>
            </a:r>
            <a:endParaRPr lang="de-DE" sz="1013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de-DE" sz="1013" dirty="0">
                <a:solidFill>
                  <a:schemeClr val="bg1"/>
                </a:solidFill>
              </a:rPr>
              <a:t>Co-Medikation</a:t>
            </a:r>
          </a:p>
          <a:p>
            <a:pPr marL="171450" indent="-171450">
              <a:buFontTx/>
              <a:buChar char="-"/>
            </a:pPr>
            <a:r>
              <a:rPr lang="de-DE" sz="1013" dirty="0" err="1">
                <a:solidFill>
                  <a:schemeClr val="bg1"/>
                </a:solidFill>
              </a:rPr>
              <a:t>Reexposition</a:t>
            </a:r>
            <a:r>
              <a:rPr lang="de-DE" sz="1013" dirty="0">
                <a:solidFill>
                  <a:schemeClr val="bg1"/>
                </a:solidFill>
              </a:rPr>
              <a:t>-Fälle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E63A9DF6-6CF1-B44F-9B8E-041108836473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394721" y="2556809"/>
            <a:ext cx="821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888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E21E269-76AB-8D19-1AEA-0F14FD0E09CE}"/>
              </a:ext>
            </a:extLst>
          </p:cNvPr>
          <p:cNvSpPr/>
          <p:nvPr/>
        </p:nvSpPr>
        <p:spPr>
          <a:xfrm>
            <a:off x="4333815" y="4167187"/>
            <a:ext cx="2149595" cy="1746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 err="1"/>
              <a:t>Number</a:t>
            </a:r>
            <a:r>
              <a:rPr lang="de-DE" sz="1013" dirty="0"/>
              <a:t> </a:t>
            </a:r>
            <a:r>
              <a:rPr lang="de-DE" sz="1013" dirty="0" err="1"/>
              <a:t>of</a:t>
            </a:r>
            <a:r>
              <a:rPr lang="de-DE" sz="1013" dirty="0"/>
              <a:t> </a:t>
            </a:r>
            <a:r>
              <a:rPr lang="de-DE" sz="1013" dirty="0" err="1"/>
              <a:t>Labvalue</a:t>
            </a:r>
            <a:r>
              <a:rPr lang="de-DE" sz="1013" dirty="0"/>
              <a:t>-Parameters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E6568A1-24ED-16E3-9E69-55E075EFB205}"/>
              </a:ext>
            </a:extLst>
          </p:cNvPr>
          <p:cNvSpPr/>
          <p:nvPr/>
        </p:nvSpPr>
        <p:spPr>
          <a:xfrm>
            <a:off x="2413090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SJS</a:t>
            </a:r>
          </a:p>
          <a:p>
            <a:pPr algn="ctr"/>
            <a:r>
              <a:rPr lang="de-DE" sz="619" dirty="0"/>
              <a:t>Parameters N=5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1912E01-F30C-39BC-4006-D449FB0AB282}"/>
              </a:ext>
            </a:extLst>
          </p:cNvPr>
          <p:cNvSpPr/>
          <p:nvPr/>
        </p:nvSpPr>
        <p:spPr>
          <a:xfrm>
            <a:off x="2986477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Skin</a:t>
            </a:r>
          </a:p>
          <a:p>
            <a:pPr algn="ctr"/>
            <a:r>
              <a:rPr lang="de-DE" sz="619" dirty="0" err="1"/>
              <a:t>ParametersN</a:t>
            </a:r>
            <a:r>
              <a:rPr lang="de-DE" sz="619" dirty="0"/>
              <a:t>=1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3608C71-7A47-0B56-791C-AAD9AA2FDBC0}"/>
              </a:ext>
            </a:extLst>
          </p:cNvPr>
          <p:cNvSpPr/>
          <p:nvPr/>
        </p:nvSpPr>
        <p:spPr>
          <a:xfrm>
            <a:off x="3559864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Liver</a:t>
            </a:r>
          </a:p>
          <a:p>
            <a:pPr algn="ctr"/>
            <a:r>
              <a:rPr lang="de-DE" sz="619" dirty="0"/>
              <a:t>Parameters N=51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0BD120C-071C-EAD9-8E13-9F29E7FA2C7A}"/>
              </a:ext>
            </a:extLst>
          </p:cNvPr>
          <p:cNvSpPr/>
          <p:nvPr/>
        </p:nvSpPr>
        <p:spPr>
          <a:xfrm>
            <a:off x="4598269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SJS</a:t>
            </a:r>
          </a:p>
          <a:p>
            <a:pPr algn="ctr"/>
            <a:r>
              <a:rPr lang="de-DE" sz="619" dirty="0"/>
              <a:t>Parameters N=8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D3E1DCD-573A-CBD2-9C6F-8C449238CFDC}"/>
              </a:ext>
            </a:extLst>
          </p:cNvPr>
          <p:cNvSpPr/>
          <p:nvPr/>
        </p:nvSpPr>
        <p:spPr>
          <a:xfrm>
            <a:off x="5171656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Skin</a:t>
            </a:r>
          </a:p>
          <a:p>
            <a:pPr algn="ctr"/>
            <a:r>
              <a:rPr lang="de-DE" sz="619" dirty="0"/>
              <a:t>Parameters N=6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63B354E-E053-F601-FF79-5F1705413BAA}"/>
              </a:ext>
            </a:extLst>
          </p:cNvPr>
          <p:cNvSpPr/>
          <p:nvPr/>
        </p:nvSpPr>
        <p:spPr>
          <a:xfrm>
            <a:off x="5745042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Liver</a:t>
            </a:r>
          </a:p>
          <a:p>
            <a:pPr algn="ctr"/>
            <a:r>
              <a:rPr lang="de-DE" sz="619" dirty="0"/>
              <a:t>Parameters N=35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3BECC50-5FF0-B96C-23CA-2DFFECE341DF}"/>
              </a:ext>
            </a:extLst>
          </p:cNvPr>
          <p:cNvSpPr/>
          <p:nvPr/>
        </p:nvSpPr>
        <p:spPr>
          <a:xfrm>
            <a:off x="6783448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SJS</a:t>
            </a:r>
          </a:p>
          <a:p>
            <a:pPr algn="ctr"/>
            <a:r>
              <a:rPr lang="de-DE" sz="619" dirty="0"/>
              <a:t>Parameters N=10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19BEE8E-3863-6E16-5985-0535D09561B5}"/>
              </a:ext>
            </a:extLst>
          </p:cNvPr>
          <p:cNvSpPr/>
          <p:nvPr/>
        </p:nvSpPr>
        <p:spPr>
          <a:xfrm>
            <a:off x="7356835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Skin</a:t>
            </a:r>
          </a:p>
          <a:p>
            <a:pPr algn="ctr"/>
            <a:r>
              <a:rPr lang="de-DE" sz="619" dirty="0"/>
              <a:t>Parameters N=7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66F886C-3A0A-94E2-77F1-20E0DC229A66}"/>
              </a:ext>
            </a:extLst>
          </p:cNvPr>
          <p:cNvSpPr/>
          <p:nvPr/>
        </p:nvSpPr>
        <p:spPr>
          <a:xfrm>
            <a:off x="7930221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Liver</a:t>
            </a:r>
          </a:p>
          <a:p>
            <a:pPr algn="ctr"/>
            <a:r>
              <a:rPr lang="de-DE" sz="619" dirty="0"/>
              <a:t>Parameters N=52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6E3E75A0-A338-66FC-811D-1D39CA8421DB}"/>
              </a:ext>
            </a:extLst>
          </p:cNvPr>
          <p:cNvSpPr txBox="1"/>
          <p:nvPr/>
        </p:nvSpPr>
        <p:spPr>
          <a:xfrm>
            <a:off x="2887005" y="5121996"/>
            <a:ext cx="5170593" cy="24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13" dirty="0"/>
              <a:t>Patient </a:t>
            </a:r>
            <a:r>
              <a:rPr lang="de-DE" sz="1013" dirty="0" err="1"/>
              <a:t>count</a:t>
            </a:r>
            <a:r>
              <a:rPr lang="de-DE" sz="1013" dirty="0"/>
              <a:t> </a:t>
            </a:r>
            <a:r>
              <a:rPr lang="de-DE" sz="1013" dirty="0" err="1"/>
              <a:t>with</a:t>
            </a:r>
            <a:r>
              <a:rPr lang="de-DE" sz="1013" dirty="0"/>
              <a:t> at least 3 </a:t>
            </a:r>
            <a:r>
              <a:rPr lang="de-DE" sz="1013" dirty="0" err="1"/>
              <a:t>measurements</a:t>
            </a:r>
            <a:r>
              <a:rPr lang="de-DE" sz="1013" dirty="0"/>
              <a:t> </a:t>
            </a:r>
            <a:r>
              <a:rPr lang="de-DE" sz="1013" dirty="0" err="1"/>
              <a:t>for</a:t>
            </a:r>
            <a:r>
              <a:rPr lang="de-DE" sz="1013" dirty="0"/>
              <a:t> 3 different time </a:t>
            </a:r>
            <a:r>
              <a:rPr lang="de-DE" sz="1013" dirty="0" err="1"/>
              <a:t>points</a:t>
            </a:r>
            <a:r>
              <a:rPr lang="de-DE" sz="1013" dirty="0"/>
              <a:t> </a:t>
            </a:r>
            <a:r>
              <a:rPr lang="de-DE" sz="1013" dirty="0" err="1"/>
              <a:t>for</a:t>
            </a:r>
            <a:r>
              <a:rPr lang="de-DE" sz="1013" dirty="0"/>
              <a:t> </a:t>
            </a:r>
            <a:r>
              <a:rPr lang="de-DE" sz="1013" dirty="0" err="1"/>
              <a:t>one</a:t>
            </a:r>
            <a:r>
              <a:rPr lang="de-DE" sz="1013" dirty="0"/>
              <a:t> </a:t>
            </a:r>
            <a:r>
              <a:rPr lang="de-DE" sz="1013" dirty="0" err="1"/>
              <a:t>patient</a:t>
            </a:r>
            <a:r>
              <a:rPr lang="de-DE" sz="1013" dirty="0"/>
              <a:t>: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72F9A54-9307-65AD-E30C-F2C4AFFC8A4E}"/>
              </a:ext>
            </a:extLst>
          </p:cNvPr>
          <p:cNvSpPr/>
          <p:nvPr/>
        </p:nvSpPr>
        <p:spPr>
          <a:xfrm>
            <a:off x="2413089" y="6016341"/>
            <a:ext cx="4828097" cy="5143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/>
              <a:t>Siehe: „</a:t>
            </a:r>
            <a:r>
              <a:rPr lang="de-DE" sz="1013" dirty="0" err="1"/>
              <a:t>count</a:t>
            </a:r>
            <a:r>
              <a:rPr lang="de-DE" sz="1013" dirty="0"/>
              <a:t> </a:t>
            </a:r>
            <a:r>
              <a:rPr lang="de-DE" sz="1013" dirty="0" err="1"/>
              <a:t>cases</a:t>
            </a:r>
            <a:r>
              <a:rPr lang="de-DE" sz="1013" dirty="0"/>
              <a:t> </a:t>
            </a:r>
            <a:r>
              <a:rPr lang="de-DE" sz="1013" dirty="0" err="1"/>
              <a:t>with</a:t>
            </a:r>
            <a:r>
              <a:rPr lang="de-DE" sz="1013" dirty="0"/>
              <a:t> </a:t>
            </a:r>
            <a:r>
              <a:rPr lang="de-DE" sz="1013" dirty="0" err="1"/>
              <a:t>labvalues</a:t>
            </a:r>
            <a:r>
              <a:rPr lang="de-DE" sz="1013" dirty="0"/>
              <a:t> in time </a:t>
            </a:r>
            <a:r>
              <a:rPr lang="de-DE" sz="1013" dirty="0" err="1"/>
              <a:t>course</a:t>
            </a:r>
            <a:endParaRPr lang="de-DE" sz="1013" dirty="0"/>
          </a:p>
        </p:txBody>
      </p:sp>
    </p:spTree>
    <p:extLst>
      <p:ext uri="{BB962C8B-B14F-4D97-AF65-F5344CB8AC3E}">
        <p14:creationId xmlns:p14="http://schemas.microsoft.com/office/powerpoint/2010/main" val="379453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BAEA405-62D9-802A-551F-AE5B2DF48509}"/>
              </a:ext>
            </a:extLst>
          </p:cNvPr>
          <p:cNvSpPr/>
          <p:nvPr/>
        </p:nvSpPr>
        <p:spPr>
          <a:xfrm>
            <a:off x="5560652" y="6831132"/>
            <a:ext cx="3276960" cy="119368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13" dirty="0" err="1"/>
              <a:t>Inclusion</a:t>
            </a:r>
            <a:r>
              <a:rPr lang="de-DE" sz="1013" dirty="0"/>
              <a:t> </a:t>
            </a:r>
            <a:r>
              <a:rPr lang="de-DE" sz="1013" dirty="0" err="1"/>
              <a:t>criteria</a:t>
            </a:r>
            <a:endParaRPr lang="de-DE" sz="1013" dirty="0"/>
          </a:p>
          <a:p>
            <a:r>
              <a:rPr lang="de-DE" sz="1013" dirty="0" err="1"/>
              <a:t>Exclusion</a:t>
            </a:r>
            <a:r>
              <a:rPr lang="de-DE" sz="1013" dirty="0"/>
              <a:t> </a:t>
            </a:r>
            <a:r>
              <a:rPr lang="de-DE" sz="1013" dirty="0" err="1"/>
              <a:t>criteria</a:t>
            </a:r>
            <a:endParaRPr lang="de-DE" sz="1013" dirty="0"/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1013" dirty="0"/>
              <a:t>Cases </a:t>
            </a:r>
            <a:r>
              <a:rPr lang="de-DE" sz="1013" dirty="0" err="1"/>
              <a:t>without</a:t>
            </a:r>
            <a:r>
              <a:rPr lang="de-DE" sz="1013" dirty="0"/>
              <a:t> </a:t>
            </a:r>
            <a:r>
              <a:rPr lang="de-DE" sz="1013" dirty="0" err="1"/>
              <a:t>information</a:t>
            </a:r>
            <a:r>
              <a:rPr lang="de-DE" sz="1013" dirty="0"/>
              <a:t> </a:t>
            </a:r>
            <a:r>
              <a:rPr lang="de-DE" sz="1013" dirty="0" err="1"/>
              <a:t>about</a:t>
            </a:r>
            <a:r>
              <a:rPr lang="de-DE" sz="1013" dirty="0"/>
              <a:t> </a:t>
            </a:r>
            <a:r>
              <a:rPr lang="de-DE" sz="1013" dirty="0" err="1"/>
              <a:t>cumulative</a:t>
            </a:r>
            <a:r>
              <a:rPr lang="de-DE" sz="1013" dirty="0"/>
              <a:t> dose</a:t>
            </a:r>
          </a:p>
          <a:p>
            <a:pPr marL="160734" indent="-160734">
              <a:buFont typeface="Symbol" panose="05050102010706020507" pitchFamily="18" charset="2"/>
              <a:buChar char="-"/>
            </a:pPr>
            <a:r>
              <a:rPr lang="de-DE" sz="1013" dirty="0"/>
              <a:t>Cases </a:t>
            </a:r>
            <a:r>
              <a:rPr lang="de-DE" sz="1013" dirty="0" err="1"/>
              <a:t>with</a:t>
            </a:r>
            <a:r>
              <a:rPr lang="de-DE" sz="1013" dirty="0"/>
              <a:t> </a:t>
            </a:r>
            <a:r>
              <a:rPr lang="de-DE" sz="1013" dirty="0" err="1"/>
              <a:t>unknown</a:t>
            </a:r>
            <a:r>
              <a:rPr lang="de-DE" sz="1013" dirty="0"/>
              <a:t> time </a:t>
            </a:r>
            <a:r>
              <a:rPr lang="de-DE" sz="1013" dirty="0" err="1"/>
              <a:t>of</a:t>
            </a:r>
            <a:r>
              <a:rPr lang="de-DE" sz="1013" dirty="0"/>
              <a:t> </a:t>
            </a:r>
            <a:r>
              <a:rPr lang="de-DE" sz="1013" dirty="0" err="1"/>
              <a:t>intake</a:t>
            </a:r>
            <a:r>
              <a:rPr lang="de-DE" sz="1013" dirty="0"/>
              <a:t> („999-cases“)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BBA3EED-D59C-6642-1E78-92D8A158EEA4}"/>
              </a:ext>
            </a:extLst>
          </p:cNvPr>
          <p:cNvSpPr/>
          <p:nvPr/>
        </p:nvSpPr>
        <p:spPr>
          <a:xfrm>
            <a:off x="4333815" y="4167187"/>
            <a:ext cx="2149595" cy="1746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13" dirty="0" err="1"/>
              <a:t>Number</a:t>
            </a:r>
            <a:r>
              <a:rPr lang="de-DE" sz="1013" dirty="0"/>
              <a:t> </a:t>
            </a:r>
            <a:r>
              <a:rPr lang="de-DE" sz="1013" dirty="0" err="1"/>
              <a:t>of</a:t>
            </a:r>
            <a:r>
              <a:rPr lang="de-DE" sz="1013" dirty="0"/>
              <a:t> Patiens </a:t>
            </a:r>
            <a:r>
              <a:rPr lang="de-DE" sz="1013" dirty="0" err="1"/>
              <a:t>with</a:t>
            </a:r>
            <a:r>
              <a:rPr lang="de-DE" sz="1013" dirty="0"/>
              <a:t> Drug-Info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98307F2-4784-4498-88F2-62CB1801399A}"/>
              </a:ext>
            </a:extLst>
          </p:cNvPr>
          <p:cNvSpPr/>
          <p:nvPr/>
        </p:nvSpPr>
        <p:spPr>
          <a:xfrm>
            <a:off x="2413090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SJS</a:t>
            </a:r>
          </a:p>
          <a:p>
            <a:pPr algn="ctr"/>
            <a:r>
              <a:rPr lang="de-DE" sz="619" dirty="0"/>
              <a:t>Cases N=1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06C8B1A-CD7B-C160-4DE9-27566CC0EFE1}"/>
              </a:ext>
            </a:extLst>
          </p:cNvPr>
          <p:cNvSpPr/>
          <p:nvPr/>
        </p:nvSpPr>
        <p:spPr>
          <a:xfrm>
            <a:off x="2986476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Skin</a:t>
            </a:r>
          </a:p>
          <a:p>
            <a:pPr algn="ctr"/>
            <a:r>
              <a:rPr lang="de-DE" sz="619" dirty="0"/>
              <a:t>Cases N=1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CE8A975-AE0C-0C7E-7F69-80077B62472A}"/>
              </a:ext>
            </a:extLst>
          </p:cNvPr>
          <p:cNvSpPr/>
          <p:nvPr/>
        </p:nvSpPr>
        <p:spPr>
          <a:xfrm>
            <a:off x="3559863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Liver</a:t>
            </a:r>
          </a:p>
          <a:p>
            <a:pPr algn="ctr"/>
            <a:r>
              <a:rPr lang="de-DE" sz="619" dirty="0"/>
              <a:t>Cases N=73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F5EE2C0-80B6-56AF-6FE4-AC19B96ECD83}"/>
              </a:ext>
            </a:extLst>
          </p:cNvPr>
          <p:cNvSpPr/>
          <p:nvPr/>
        </p:nvSpPr>
        <p:spPr>
          <a:xfrm>
            <a:off x="4598269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SJS</a:t>
            </a:r>
          </a:p>
          <a:p>
            <a:pPr algn="ctr"/>
            <a:r>
              <a:rPr lang="de-DE" sz="619" dirty="0"/>
              <a:t>Cases N=2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0695579-1CC0-67BF-19AD-7E63A56166A6}"/>
              </a:ext>
            </a:extLst>
          </p:cNvPr>
          <p:cNvSpPr/>
          <p:nvPr/>
        </p:nvSpPr>
        <p:spPr>
          <a:xfrm>
            <a:off x="5171656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Skin</a:t>
            </a:r>
          </a:p>
          <a:p>
            <a:pPr algn="ctr"/>
            <a:r>
              <a:rPr lang="de-DE" sz="619" dirty="0"/>
              <a:t>Cases N=2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D75EFFE-20EA-7D29-EFC8-7433402D4C99}"/>
              </a:ext>
            </a:extLst>
          </p:cNvPr>
          <p:cNvSpPr/>
          <p:nvPr/>
        </p:nvSpPr>
        <p:spPr>
          <a:xfrm>
            <a:off x="5745042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Liver</a:t>
            </a:r>
          </a:p>
          <a:p>
            <a:pPr algn="ctr"/>
            <a:r>
              <a:rPr lang="de-DE" sz="619" dirty="0"/>
              <a:t>Cases N=42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3654BF8-29E2-80A1-A9F2-1C4B7AD25EE6}"/>
              </a:ext>
            </a:extLst>
          </p:cNvPr>
          <p:cNvSpPr/>
          <p:nvPr/>
        </p:nvSpPr>
        <p:spPr>
          <a:xfrm>
            <a:off x="6783448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SJS</a:t>
            </a:r>
          </a:p>
          <a:p>
            <a:pPr algn="ctr"/>
            <a:r>
              <a:rPr lang="de-DE" sz="619" dirty="0"/>
              <a:t>Cases N=9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D2A086C-00A0-2B29-5870-BCA5C8EC9386}"/>
              </a:ext>
            </a:extLst>
          </p:cNvPr>
          <p:cNvSpPr/>
          <p:nvPr/>
        </p:nvSpPr>
        <p:spPr>
          <a:xfrm>
            <a:off x="7356835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Skin</a:t>
            </a:r>
          </a:p>
          <a:p>
            <a:pPr algn="ctr"/>
            <a:r>
              <a:rPr lang="de-DE" sz="619" dirty="0"/>
              <a:t>Cases N=2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B119AF48-8F2A-8DAC-BD0D-8FF15D98644B}"/>
              </a:ext>
            </a:extLst>
          </p:cNvPr>
          <p:cNvSpPr/>
          <p:nvPr/>
        </p:nvSpPr>
        <p:spPr>
          <a:xfrm>
            <a:off x="7930221" y="5543237"/>
            <a:ext cx="473915" cy="375249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19" dirty="0"/>
              <a:t>Liver</a:t>
            </a:r>
          </a:p>
          <a:p>
            <a:pPr algn="ctr"/>
            <a:r>
              <a:rPr lang="de-DE" sz="619" dirty="0"/>
              <a:t>Cases N=43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74D8B70-A246-9D5A-C698-E9725FF78199}"/>
              </a:ext>
            </a:extLst>
          </p:cNvPr>
          <p:cNvSpPr txBox="1"/>
          <p:nvPr/>
        </p:nvSpPr>
        <p:spPr>
          <a:xfrm>
            <a:off x="2887005" y="5139528"/>
            <a:ext cx="5170593" cy="248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13" dirty="0" err="1"/>
              <a:t>Patients</a:t>
            </a:r>
            <a:r>
              <a:rPr lang="de-DE" sz="1013" dirty="0"/>
              <a:t> </a:t>
            </a:r>
            <a:r>
              <a:rPr lang="de-DE" sz="1013" dirty="0" err="1"/>
              <a:t>with</a:t>
            </a:r>
            <a:r>
              <a:rPr lang="de-DE" sz="1013" dirty="0"/>
              <a:t> </a:t>
            </a:r>
            <a:r>
              <a:rPr lang="de-DE" sz="1013" dirty="0" err="1"/>
              <a:t>cumulative</a:t>
            </a:r>
            <a:r>
              <a:rPr lang="de-DE" sz="1013" dirty="0"/>
              <a:t> </a:t>
            </a:r>
            <a:r>
              <a:rPr lang="de-DE" sz="1013" dirty="0" err="1"/>
              <a:t>dosis</a:t>
            </a:r>
            <a:r>
              <a:rPr lang="de-DE" sz="1013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97378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579</Words>
  <Application>Microsoft Office PowerPoint</Application>
  <PresentationFormat>Benutzerdefiniert</PresentationFormat>
  <Paragraphs>142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79</cp:revision>
  <dcterms:created xsi:type="dcterms:W3CDTF">2024-07-29T11:41:39Z</dcterms:created>
  <dcterms:modified xsi:type="dcterms:W3CDTF">2024-12-06T14:44:10Z</dcterms:modified>
</cp:coreProperties>
</file>