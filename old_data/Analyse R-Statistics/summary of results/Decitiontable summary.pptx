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3118CE-A636-F9E1-FE56-70D0CE15FE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67CE522-2C1D-D00C-33B1-4C67F7BCB9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568DF24-1E47-8962-40B2-99A5CCB96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272A2-E22F-49A6-A961-4436B432A930}" type="datetimeFigureOut">
              <a:rPr lang="de-DE" smtClean="0"/>
              <a:t>26.09.2024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C41A0CF-5E17-945B-07F4-40FFC8E0F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7994953-3E26-F623-FCCA-5F67273BE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A54B4-4541-4F25-9923-A7A2057C4D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4089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56C9D4-6333-2027-801C-2031B921D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8402A58-32D6-0CE1-6572-083E244A0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59B4F65-EEB5-95C6-7325-A19984671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272A2-E22F-49A6-A961-4436B432A930}" type="datetimeFigureOut">
              <a:rPr lang="de-DE" smtClean="0"/>
              <a:t>26.09.2024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5653035-5C3C-0CFF-9ACB-07D41E162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8C4B4D6-1A4D-223A-32C1-765246321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A54B4-4541-4F25-9923-A7A2057C4D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0537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3E2C79-F4C6-FE6D-C134-A75F95A5C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99E45CE-1866-5AAC-6EDA-5E657911C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8F312EE-AA73-65FF-BF7B-21837528A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272A2-E22F-49A6-A961-4436B432A930}" type="datetimeFigureOut">
              <a:rPr lang="de-DE" smtClean="0"/>
              <a:t>26.09.2024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6682C04-4550-C70D-0280-B7570AF5B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3EF630D-E159-DC7E-062B-7858D49B1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A54B4-4541-4F25-9923-A7A2057C4D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3494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2B907C-9372-151D-5596-CB3CCB634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197582C-F0EB-BE43-BD76-CCCB3E2850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F878485-E23C-F87B-B405-AC5829F61E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D21A477-EBB1-E614-CD04-15B6E75DF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272A2-E22F-49A6-A961-4436B432A930}" type="datetimeFigureOut">
              <a:rPr lang="de-DE" smtClean="0"/>
              <a:t>26.09.2024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3C6532A-FBC2-240C-AAC2-9E15E8F0F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8F53DBF-1B9F-FC09-E57F-D689B4C49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A54B4-4541-4F25-9923-A7A2057C4D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4213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DB924D-12D9-137B-EE6A-522D782AC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0D81287-3223-0EB2-E794-C41328721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0AF0343-29E2-08EF-1162-08282E83FC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BAECEFD-37D1-466A-4E95-300B0F308E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485C07E-0242-8F4E-9897-27992EC564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E399491-530A-EF5A-B024-D53E67FB4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272A2-E22F-49A6-A961-4436B432A930}" type="datetimeFigureOut">
              <a:rPr lang="de-DE" smtClean="0"/>
              <a:t>26.09.2024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2509B5E-12EF-2858-F890-8BBAE493D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50C4E41-6F78-0BD5-9114-79C5D8825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A54B4-4541-4F25-9923-A7A2057C4D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8900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20CF12-4BFD-3AA2-D993-70E96D69D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C609698-DDF0-64E3-4640-A08650928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272A2-E22F-49A6-A961-4436B432A930}" type="datetimeFigureOut">
              <a:rPr lang="de-DE" smtClean="0"/>
              <a:t>26.09.2024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8BA78C4-05BA-0B76-CDE8-F806DA1A4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E150B4E-FEFE-5BF1-C8CC-3B0718F23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A54B4-4541-4F25-9923-A7A2057C4D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7401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58391F0-F264-2941-859D-861089E57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272A2-E22F-49A6-A961-4436B432A930}" type="datetimeFigureOut">
              <a:rPr lang="de-DE" smtClean="0"/>
              <a:t>26.09.2024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CD353B7-348F-DFB5-F13E-59651597B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E1ADC2C-A701-08CB-3F8F-6CA59C509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A54B4-4541-4F25-9923-A7A2057C4D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9236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89BE96-41AD-7774-3BE6-1B39ADCA7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073BF59-A972-F5FB-536E-2D5D6AEAC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80A8F3B-BC29-61D8-AC8B-B39440D316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F375093-0832-5D83-A72E-29EAE0459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272A2-E22F-49A6-A961-4436B432A930}" type="datetimeFigureOut">
              <a:rPr lang="de-DE" smtClean="0"/>
              <a:t>26.09.2024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9FB3886-61CD-2B46-8318-2E322DF8C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682675E-7B5D-89E9-1353-7241AC755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A54B4-4541-4F25-9923-A7A2057C4D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411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92ECCA-471D-38E2-8775-1DB5FD263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92BB31E-8179-93F5-D6F9-840FD2AC0C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7029C79-AF81-F1C0-A4FC-4DC5C8CDD5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7B72112-4E50-579A-59D6-F57DA0CFA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272A2-E22F-49A6-A961-4436B432A930}" type="datetimeFigureOut">
              <a:rPr lang="de-DE" smtClean="0"/>
              <a:t>26.09.2024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9DEBAA7-F7E8-BF2D-9044-9B28795F1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96A5AA9-93FA-64FC-298E-A26312D5C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A54B4-4541-4F25-9923-A7A2057C4D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9937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5B6AE1-0FA8-D9CB-8723-B33D38FEC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75AAC77-61D5-6BAA-4BED-9D410A82B9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5BB042-19F0-329A-9313-1BDA3F610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272A2-E22F-49A6-A961-4436B432A930}" type="datetimeFigureOut">
              <a:rPr lang="de-DE" smtClean="0"/>
              <a:t>26.09.2024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7170D94-A8FD-73FA-32B4-A2C6250C1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2043CA1-B86C-E563-5744-C41451C77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A54B4-4541-4F25-9923-A7A2057C4D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4419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9F8A404-16F2-D064-64C3-CAACE9E159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44A6DB2-5ACF-7B06-4872-920CDA8A6F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BF79EE7-5A06-C1DB-F658-DB2424459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272A2-E22F-49A6-A961-4436B432A930}" type="datetimeFigureOut">
              <a:rPr lang="de-DE" smtClean="0"/>
              <a:t>26.09.2024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3ABFABB-5A33-C840-40A7-0C376720A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6332F0C-59DB-1E62-F66F-01A94F026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A54B4-4541-4F25-9923-A7A2057C4D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3617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8709390-405A-CFCA-4696-7FACD0969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129C61A-5CA3-74A0-CBF9-C6B21B907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4AA651B-B45F-CEF5-AA01-D5BD2C812D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8272A2-E22F-49A6-A961-4436B432A930}" type="datetimeFigureOut">
              <a:rPr lang="de-DE" smtClean="0"/>
              <a:t>26.09.2024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B4C8FAE-8F61-F84A-9F29-2F0581CF4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B8830D2-7170-9C02-775B-7E09810D1D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3A54B4-4541-4F25-9923-A7A2057C4D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1697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15335E42-5F3E-7C20-53ED-6759F4334A05}"/>
              </a:ext>
            </a:extLst>
          </p:cNvPr>
          <p:cNvSpPr/>
          <p:nvPr/>
        </p:nvSpPr>
        <p:spPr>
          <a:xfrm>
            <a:off x="1348745" y="2582443"/>
            <a:ext cx="1620688" cy="37524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13" dirty="0" err="1"/>
              <a:t>Diclofenac</a:t>
            </a:r>
            <a:endParaRPr lang="de-DE" sz="1013" dirty="0"/>
          </a:p>
          <a:p>
            <a:pPr algn="ctr"/>
            <a:r>
              <a:rPr lang="de-DE" sz="1013" dirty="0"/>
              <a:t>N=145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7138D57-A8C8-B13D-C889-8B63CC7E9350}"/>
              </a:ext>
            </a:extLst>
          </p:cNvPr>
          <p:cNvSpPr/>
          <p:nvPr/>
        </p:nvSpPr>
        <p:spPr>
          <a:xfrm>
            <a:off x="3215286" y="2588507"/>
            <a:ext cx="1620688" cy="37524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13" dirty="0"/>
              <a:t>Ibuprofen</a:t>
            </a:r>
          </a:p>
          <a:p>
            <a:pPr algn="ctr"/>
            <a:r>
              <a:rPr lang="de-DE" sz="1013" dirty="0"/>
              <a:t>N=85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7A590B1-5905-BA00-F45A-24A4B73BEFAE}"/>
              </a:ext>
            </a:extLst>
          </p:cNvPr>
          <p:cNvSpPr/>
          <p:nvPr/>
        </p:nvSpPr>
        <p:spPr>
          <a:xfrm>
            <a:off x="5081827" y="2588507"/>
            <a:ext cx="1620688" cy="37524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13" dirty="0"/>
              <a:t>Paracetamol</a:t>
            </a:r>
          </a:p>
          <a:p>
            <a:pPr algn="ctr"/>
            <a:r>
              <a:rPr lang="de-DE" sz="1013" dirty="0"/>
              <a:t>N=103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C6FD4B0-FC7A-A061-3BED-E4147E1219FF}"/>
              </a:ext>
            </a:extLst>
          </p:cNvPr>
          <p:cNvSpPr/>
          <p:nvPr/>
        </p:nvSpPr>
        <p:spPr>
          <a:xfrm>
            <a:off x="1348745" y="3056907"/>
            <a:ext cx="473915" cy="26414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75" dirty="0"/>
              <a:t>SJS</a:t>
            </a:r>
          </a:p>
          <a:p>
            <a:pPr algn="ctr"/>
            <a:r>
              <a:rPr lang="de-DE" sz="675" dirty="0"/>
              <a:t>N=10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BF190D5-5403-5D3C-9968-B650B9F7AFE5}"/>
              </a:ext>
            </a:extLst>
          </p:cNvPr>
          <p:cNvSpPr/>
          <p:nvPr/>
        </p:nvSpPr>
        <p:spPr>
          <a:xfrm>
            <a:off x="1916421" y="3056907"/>
            <a:ext cx="473915" cy="26414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500" dirty="0">
                <a:solidFill>
                  <a:schemeClr val="bg1"/>
                </a:solidFill>
              </a:rPr>
              <a:t>Epidermal </a:t>
            </a:r>
            <a:r>
              <a:rPr lang="de-DE" sz="500" dirty="0" err="1">
                <a:solidFill>
                  <a:schemeClr val="bg1"/>
                </a:solidFill>
              </a:rPr>
              <a:t>reaction</a:t>
            </a:r>
            <a:endParaRPr lang="de-DE" sz="500" dirty="0">
              <a:solidFill>
                <a:schemeClr val="bg1"/>
              </a:solidFill>
            </a:endParaRPr>
          </a:p>
          <a:p>
            <a:pPr algn="ctr"/>
            <a:r>
              <a:rPr lang="de-DE" sz="500" dirty="0">
                <a:solidFill>
                  <a:schemeClr val="bg1"/>
                </a:solidFill>
              </a:rPr>
              <a:t>N=7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A27F0BA4-FDC1-F7F0-B495-C81EEE84F193}"/>
              </a:ext>
            </a:extLst>
          </p:cNvPr>
          <p:cNvSpPr/>
          <p:nvPr/>
        </p:nvSpPr>
        <p:spPr>
          <a:xfrm>
            <a:off x="2495518" y="3060223"/>
            <a:ext cx="473915" cy="26414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 dirty="0" err="1"/>
              <a:t>hepatotoxicity</a:t>
            </a:r>
            <a:endParaRPr lang="de-DE" sz="600" dirty="0"/>
          </a:p>
          <a:p>
            <a:pPr algn="ctr"/>
            <a:r>
              <a:rPr lang="de-DE" sz="600" dirty="0"/>
              <a:t>N=128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86D9495C-B33B-C133-F277-30BDC74FBDC8}"/>
              </a:ext>
            </a:extLst>
          </p:cNvPr>
          <p:cNvSpPr/>
          <p:nvPr/>
        </p:nvSpPr>
        <p:spPr>
          <a:xfrm>
            <a:off x="3442538" y="882434"/>
            <a:ext cx="1720403" cy="72792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de-DE" sz="900" dirty="0" err="1"/>
              <a:t>Exclusion</a:t>
            </a:r>
            <a:r>
              <a:rPr lang="de-DE" sz="900" dirty="0"/>
              <a:t> </a:t>
            </a:r>
            <a:r>
              <a:rPr lang="de-DE" sz="900" dirty="0" err="1"/>
              <a:t>criteria</a:t>
            </a:r>
            <a:endParaRPr lang="de-DE" sz="900" dirty="0"/>
          </a:p>
          <a:p>
            <a:pPr marL="160734" indent="-160734">
              <a:buFont typeface="Symbol" panose="05050102010706020507" pitchFamily="18" charset="2"/>
              <a:buChar char="-"/>
            </a:pPr>
            <a:r>
              <a:rPr lang="de-DE" sz="900" dirty="0"/>
              <a:t>Cases </a:t>
            </a:r>
            <a:r>
              <a:rPr lang="de-DE" sz="900" dirty="0" err="1"/>
              <a:t>without</a:t>
            </a:r>
            <a:r>
              <a:rPr lang="de-DE" sz="900" dirty="0"/>
              <a:t> </a:t>
            </a:r>
            <a:r>
              <a:rPr lang="de-DE" sz="900" dirty="0" err="1"/>
              <a:t>any</a:t>
            </a:r>
            <a:r>
              <a:rPr lang="de-DE" sz="900" dirty="0"/>
              <a:t> </a:t>
            </a:r>
            <a:r>
              <a:rPr lang="de-DE" sz="900" dirty="0" err="1"/>
              <a:t>information</a:t>
            </a:r>
            <a:r>
              <a:rPr lang="de-DE" sz="900" dirty="0"/>
              <a:t> </a:t>
            </a:r>
            <a:r>
              <a:rPr lang="de-DE" sz="900" dirty="0" err="1"/>
              <a:t>about</a:t>
            </a:r>
            <a:r>
              <a:rPr lang="de-DE" sz="900" dirty="0"/>
              <a:t> </a:t>
            </a:r>
            <a:r>
              <a:rPr lang="de-DE" sz="900" dirty="0" err="1"/>
              <a:t>labvalues</a:t>
            </a:r>
            <a:endParaRPr lang="de-DE" sz="900" dirty="0"/>
          </a:p>
          <a:p>
            <a:pPr marL="160734" indent="-160734">
              <a:buFont typeface="Symbol" panose="05050102010706020507" pitchFamily="18" charset="2"/>
              <a:buChar char="-"/>
            </a:pPr>
            <a:r>
              <a:rPr lang="de-DE" sz="900" dirty="0"/>
              <a:t>Cases not </a:t>
            </a:r>
            <a:r>
              <a:rPr lang="de-DE" sz="900" dirty="0" err="1"/>
              <a:t>regarding</a:t>
            </a:r>
            <a:r>
              <a:rPr lang="de-DE" sz="900" dirty="0"/>
              <a:t> SJS, </a:t>
            </a:r>
            <a:r>
              <a:rPr lang="de-DE" sz="900" dirty="0" err="1"/>
              <a:t>skinreaction</a:t>
            </a:r>
            <a:r>
              <a:rPr lang="de-DE" sz="900" dirty="0"/>
              <a:t> </a:t>
            </a:r>
            <a:r>
              <a:rPr lang="de-DE" sz="900" dirty="0" err="1"/>
              <a:t>or</a:t>
            </a:r>
            <a:r>
              <a:rPr lang="de-DE" sz="900" dirty="0"/>
              <a:t> </a:t>
            </a:r>
            <a:r>
              <a:rPr lang="de-DE" sz="900" dirty="0" err="1"/>
              <a:t>liver</a:t>
            </a:r>
            <a:endParaRPr lang="de-DE" sz="900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2D600F8E-4726-3D78-9683-439EBC78964F}"/>
              </a:ext>
            </a:extLst>
          </p:cNvPr>
          <p:cNvSpPr/>
          <p:nvPr/>
        </p:nvSpPr>
        <p:spPr>
          <a:xfrm>
            <a:off x="3215286" y="3056907"/>
            <a:ext cx="473915" cy="26414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75" dirty="0"/>
              <a:t>SJS</a:t>
            </a:r>
          </a:p>
          <a:p>
            <a:pPr algn="ctr"/>
            <a:r>
              <a:rPr lang="de-DE" sz="675" dirty="0"/>
              <a:t>N=4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8FDF8C98-6384-4097-C847-80CE1D8E9508}"/>
              </a:ext>
            </a:extLst>
          </p:cNvPr>
          <p:cNvSpPr/>
          <p:nvPr/>
        </p:nvSpPr>
        <p:spPr>
          <a:xfrm>
            <a:off x="3788673" y="3056907"/>
            <a:ext cx="473915" cy="26414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500" dirty="0"/>
              <a:t>Epidermal </a:t>
            </a:r>
            <a:r>
              <a:rPr lang="de-DE" sz="500" dirty="0" err="1"/>
              <a:t>reaction</a:t>
            </a:r>
            <a:endParaRPr lang="de-DE" sz="500" dirty="0"/>
          </a:p>
          <a:p>
            <a:pPr algn="ctr"/>
            <a:r>
              <a:rPr lang="de-DE" sz="500" dirty="0"/>
              <a:t>N=6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2F8A538B-7503-2E51-DA6F-DECC6792A297}"/>
              </a:ext>
            </a:extLst>
          </p:cNvPr>
          <p:cNvSpPr/>
          <p:nvPr/>
        </p:nvSpPr>
        <p:spPr>
          <a:xfrm>
            <a:off x="4362059" y="3056907"/>
            <a:ext cx="473915" cy="26414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 dirty="0" err="1"/>
              <a:t>hepatotoxicity</a:t>
            </a:r>
            <a:endParaRPr lang="de-DE" sz="600" dirty="0"/>
          </a:p>
          <a:p>
            <a:pPr algn="ctr"/>
            <a:r>
              <a:rPr lang="de-DE" sz="600" dirty="0"/>
              <a:t>N=75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D83B56A9-619E-0798-741E-5CFCECC4458F}"/>
              </a:ext>
            </a:extLst>
          </p:cNvPr>
          <p:cNvSpPr/>
          <p:nvPr/>
        </p:nvSpPr>
        <p:spPr>
          <a:xfrm>
            <a:off x="5081827" y="3056907"/>
            <a:ext cx="473915" cy="26414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75" dirty="0"/>
              <a:t>SJS</a:t>
            </a:r>
          </a:p>
          <a:p>
            <a:pPr algn="ctr"/>
            <a:r>
              <a:rPr lang="de-DE" sz="675" dirty="0"/>
              <a:t>N=21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3EA3F7E1-AFD7-BE0B-5530-9D7AE89534E3}"/>
              </a:ext>
            </a:extLst>
          </p:cNvPr>
          <p:cNvSpPr/>
          <p:nvPr/>
        </p:nvSpPr>
        <p:spPr>
          <a:xfrm>
            <a:off x="5655214" y="3056907"/>
            <a:ext cx="473915" cy="26414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500" dirty="0"/>
              <a:t>Epidermal </a:t>
            </a:r>
            <a:r>
              <a:rPr lang="de-DE" sz="500" dirty="0" err="1"/>
              <a:t>reaction</a:t>
            </a:r>
            <a:endParaRPr lang="de-DE" sz="500" dirty="0"/>
          </a:p>
          <a:p>
            <a:pPr algn="ctr"/>
            <a:r>
              <a:rPr lang="de-DE" sz="500" dirty="0"/>
              <a:t>N=5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68E4A30E-3A8D-A17F-2BC0-51C13D84C1B9}"/>
              </a:ext>
            </a:extLst>
          </p:cNvPr>
          <p:cNvSpPr/>
          <p:nvPr/>
        </p:nvSpPr>
        <p:spPr>
          <a:xfrm>
            <a:off x="6228600" y="3056907"/>
            <a:ext cx="473915" cy="26414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 dirty="0" err="1"/>
              <a:t>hepatotoxicity</a:t>
            </a:r>
            <a:endParaRPr lang="de-DE" sz="600" dirty="0"/>
          </a:p>
          <a:p>
            <a:pPr algn="ctr"/>
            <a:r>
              <a:rPr lang="de-DE" sz="600" dirty="0"/>
              <a:t>N=77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F569543C-3F35-1147-63AA-FDC0721A9D81}"/>
              </a:ext>
            </a:extLst>
          </p:cNvPr>
          <p:cNvSpPr/>
          <p:nvPr/>
        </p:nvSpPr>
        <p:spPr>
          <a:xfrm>
            <a:off x="714014" y="204432"/>
            <a:ext cx="5353770" cy="5143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13" dirty="0"/>
              <a:t>BfArM-</a:t>
            </a:r>
            <a:r>
              <a:rPr lang="de-DE" sz="1013" dirty="0" err="1"/>
              <a:t>case</a:t>
            </a:r>
            <a:r>
              <a:rPr lang="de-DE" sz="1013" dirty="0"/>
              <a:t> </a:t>
            </a:r>
            <a:r>
              <a:rPr lang="de-DE" sz="1013" dirty="0" err="1"/>
              <a:t>reports</a:t>
            </a:r>
            <a:r>
              <a:rPr lang="de-DE" sz="1013" dirty="0"/>
              <a:t> </a:t>
            </a:r>
            <a:r>
              <a:rPr lang="de-DE" sz="1013" dirty="0" err="1"/>
              <a:t>for</a:t>
            </a:r>
            <a:r>
              <a:rPr lang="de-DE" sz="1013" dirty="0"/>
              <a:t> </a:t>
            </a:r>
            <a:r>
              <a:rPr lang="de-DE" sz="1013" dirty="0" err="1"/>
              <a:t>drug-reaction</a:t>
            </a:r>
            <a:r>
              <a:rPr lang="de-DE" sz="1013" dirty="0"/>
              <a:t> on </a:t>
            </a:r>
            <a:r>
              <a:rPr lang="de-DE" sz="1013" dirty="0" err="1"/>
              <a:t>Diclofenac</a:t>
            </a:r>
            <a:r>
              <a:rPr lang="de-DE" sz="1013" dirty="0"/>
              <a:t>, Ibuprofen and </a:t>
            </a:r>
            <a:r>
              <a:rPr lang="de-DE" sz="1013" dirty="0" err="1"/>
              <a:t>paracetamol</a:t>
            </a:r>
            <a:endParaRPr lang="de-DE" sz="1013" dirty="0"/>
          </a:p>
          <a:p>
            <a:pPr algn="ctr"/>
            <a:r>
              <a:rPr lang="de-DE" sz="1013" dirty="0"/>
              <a:t>N</a:t>
            </a:r>
            <a:r>
              <a:rPr lang="de-DE" sz="1013" dirty="0">
                <a:solidFill>
                  <a:schemeClr val="bg1"/>
                </a:solidFill>
              </a:rPr>
              <a:t>=406</a:t>
            </a:r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A79665E5-EE92-139F-5295-BC9831BA6C92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1585702" y="2965927"/>
            <a:ext cx="1" cy="909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71A75CDE-DF0C-ABA4-BFF0-5EE78DCD6FBA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 flipH="1">
            <a:off x="2153379" y="2957692"/>
            <a:ext cx="5710" cy="99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540D62F1-AF11-FD82-6DBF-8AD7AABD74CD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2732475" y="2965927"/>
            <a:ext cx="1" cy="942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5F923499-647A-AE36-EE60-412D9A7AF9C2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3442538" y="2964269"/>
            <a:ext cx="9706" cy="926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4F68CEB7-8EDE-5511-0F8A-9CF8AF67C5ED}"/>
              </a:ext>
            </a:extLst>
          </p:cNvPr>
          <p:cNvCxnSpPr>
            <a:cxnSpLocks/>
            <a:stCxn id="5" idx="2"/>
            <a:endCxn id="12" idx="0"/>
          </p:cNvCxnSpPr>
          <p:nvPr/>
        </p:nvCxnSpPr>
        <p:spPr>
          <a:xfrm>
            <a:off x="4025630" y="2963756"/>
            <a:ext cx="1" cy="93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EC31FF49-E3BF-4BC3-5867-54B8F9BDF006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4599016" y="2971991"/>
            <a:ext cx="1" cy="84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A15BE835-1A65-E605-0DF2-8EB290C1386B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5318784" y="2971991"/>
            <a:ext cx="1" cy="84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4A02B67E-90A5-09F8-3022-6F1D51FF18AE}"/>
              </a:ext>
            </a:extLst>
          </p:cNvPr>
          <p:cNvCxnSpPr>
            <a:cxnSpLocks/>
            <a:stCxn id="6" idx="2"/>
            <a:endCxn id="15" idx="0"/>
          </p:cNvCxnSpPr>
          <p:nvPr/>
        </p:nvCxnSpPr>
        <p:spPr>
          <a:xfrm>
            <a:off x="5892171" y="2963756"/>
            <a:ext cx="1" cy="93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2C8CF7EC-3C3A-ADC3-2E9C-19B1138A0205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6465557" y="2964269"/>
            <a:ext cx="1" cy="926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2491F6D9-4E11-85F3-1128-28951CB0E7B6}"/>
              </a:ext>
            </a:extLst>
          </p:cNvPr>
          <p:cNvSpPr txBox="1"/>
          <p:nvPr/>
        </p:nvSpPr>
        <p:spPr>
          <a:xfrm>
            <a:off x="168980" y="2571469"/>
            <a:ext cx="7737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 err="1"/>
              <a:t>Number</a:t>
            </a:r>
            <a:r>
              <a:rPr lang="de-DE" sz="800" dirty="0"/>
              <a:t> </a:t>
            </a:r>
            <a:r>
              <a:rPr lang="de-DE" sz="800" dirty="0" err="1"/>
              <a:t>of</a:t>
            </a:r>
            <a:endParaRPr lang="de-DE" sz="800" dirty="0"/>
          </a:p>
          <a:p>
            <a:r>
              <a:rPr lang="de-DE" sz="800" dirty="0"/>
              <a:t> </a:t>
            </a:r>
            <a:r>
              <a:rPr lang="de-DE" sz="800" dirty="0" err="1"/>
              <a:t>Patients</a:t>
            </a:r>
            <a:r>
              <a:rPr lang="de-DE" sz="800" dirty="0"/>
              <a:t> (N)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AE5470E3-DF0F-CA0E-86F1-565560A4AC0D}"/>
              </a:ext>
            </a:extLst>
          </p:cNvPr>
          <p:cNvSpPr txBox="1"/>
          <p:nvPr/>
        </p:nvSpPr>
        <p:spPr>
          <a:xfrm>
            <a:off x="168980" y="3028162"/>
            <a:ext cx="7852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 err="1"/>
              <a:t>Number</a:t>
            </a:r>
            <a:r>
              <a:rPr lang="de-DE" sz="800" dirty="0"/>
              <a:t> </a:t>
            </a:r>
            <a:r>
              <a:rPr lang="de-DE" sz="800" dirty="0" err="1"/>
              <a:t>of</a:t>
            </a:r>
            <a:endParaRPr lang="de-DE" sz="800" dirty="0"/>
          </a:p>
          <a:p>
            <a:r>
              <a:rPr lang="de-DE" sz="800" dirty="0"/>
              <a:t> </a:t>
            </a:r>
            <a:r>
              <a:rPr lang="de-DE" sz="800" dirty="0" err="1"/>
              <a:t>Patients</a:t>
            </a:r>
            <a:r>
              <a:rPr lang="de-DE" sz="800" dirty="0"/>
              <a:t> (N)</a:t>
            </a:r>
          </a:p>
        </p:txBody>
      </p: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2D43E335-D0A2-4173-5BAF-93DD12120262}"/>
              </a:ext>
            </a:extLst>
          </p:cNvPr>
          <p:cNvCxnSpPr>
            <a:cxnSpLocks/>
          </p:cNvCxnSpPr>
          <p:nvPr/>
        </p:nvCxnSpPr>
        <p:spPr>
          <a:xfrm flipH="1">
            <a:off x="1588765" y="3322493"/>
            <a:ext cx="1" cy="1038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F7C61D84-F962-B323-87A0-460186167879}"/>
              </a:ext>
            </a:extLst>
          </p:cNvPr>
          <p:cNvCxnSpPr>
            <a:cxnSpLocks/>
          </p:cNvCxnSpPr>
          <p:nvPr/>
        </p:nvCxnSpPr>
        <p:spPr>
          <a:xfrm>
            <a:off x="1588765" y="3426317"/>
            <a:ext cx="487372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5B4B6E78-129C-864B-1093-91988095D657}"/>
              </a:ext>
            </a:extLst>
          </p:cNvPr>
          <p:cNvCxnSpPr>
            <a:cxnSpLocks/>
          </p:cNvCxnSpPr>
          <p:nvPr/>
        </p:nvCxnSpPr>
        <p:spPr>
          <a:xfrm>
            <a:off x="2156442" y="3322493"/>
            <a:ext cx="0" cy="1038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3D7A6766-E912-8D22-2D92-79182529A6A0}"/>
              </a:ext>
            </a:extLst>
          </p:cNvPr>
          <p:cNvCxnSpPr>
            <a:cxnSpLocks/>
          </p:cNvCxnSpPr>
          <p:nvPr/>
        </p:nvCxnSpPr>
        <p:spPr>
          <a:xfrm flipH="1">
            <a:off x="2735538" y="3325809"/>
            <a:ext cx="1" cy="1005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7F3D46C9-94B5-4551-D446-23D96FCC4B01}"/>
              </a:ext>
            </a:extLst>
          </p:cNvPr>
          <p:cNvCxnSpPr>
            <a:cxnSpLocks/>
          </p:cNvCxnSpPr>
          <p:nvPr/>
        </p:nvCxnSpPr>
        <p:spPr>
          <a:xfrm flipH="1">
            <a:off x="3455305" y="3322493"/>
            <a:ext cx="2" cy="1038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BA713011-7548-C5A0-9EA3-D42AE2D430DC}"/>
              </a:ext>
            </a:extLst>
          </p:cNvPr>
          <p:cNvCxnSpPr>
            <a:cxnSpLocks/>
          </p:cNvCxnSpPr>
          <p:nvPr/>
        </p:nvCxnSpPr>
        <p:spPr>
          <a:xfrm flipH="1">
            <a:off x="4602079" y="3322493"/>
            <a:ext cx="1" cy="1038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E94E87E1-5A7F-8BFF-6C1A-418009995C27}"/>
              </a:ext>
            </a:extLst>
          </p:cNvPr>
          <p:cNvCxnSpPr>
            <a:cxnSpLocks/>
          </p:cNvCxnSpPr>
          <p:nvPr/>
        </p:nvCxnSpPr>
        <p:spPr>
          <a:xfrm flipH="1">
            <a:off x="4028693" y="3322493"/>
            <a:ext cx="1" cy="1038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4D8ADC2D-3EAC-87FE-12E3-59E97B0C0ECF}"/>
              </a:ext>
            </a:extLst>
          </p:cNvPr>
          <p:cNvCxnSpPr>
            <a:cxnSpLocks/>
          </p:cNvCxnSpPr>
          <p:nvPr/>
        </p:nvCxnSpPr>
        <p:spPr>
          <a:xfrm flipH="1">
            <a:off x="5321847" y="3322493"/>
            <a:ext cx="1" cy="1038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7473DBB3-6F91-66E8-126E-3A99FE27471B}"/>
              </a:ext>
            </a:extLst>
          </p:cNvPr>
          <p:cNvCxnSpPr>
            <a:cxnSpLocks/>
          </p:cNvCxnSpPr>
          <p:nvPr/>
        </p:nvCxnSpPr>
        <p:spPr>
          <a:xfrm flipH="1">
            <a:off x="5895234" y="3322493"/>
            <a:ext cx="1" cy="1038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331CF160-7322-8956-A6B6-6C059132AF8F}"/>
              </a:ext>
            </a:extLst>
          </p:cNvPr>
          <p:cNvCxnSpPr>
            <a:cxnSpLocks/>
          </p:cNvCxnSpPr>
          <p:nvPr/>
        </p:nvCxnSpPr>
        <p:spPr>
          <a:xfrm>
            <a:off x="6468621" y="3322493"/>
            <a:ext cx="0" cy="1038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hteck 38">
            <a:extLst>
              <a:ext uri="{FF2B5EF4-FFF2-40B4-BE49-F238E27FC236}">
                <a16:creationId xmlns:a16="http://schemas.microsoft.com/office/drawing/2014/main" id="{ED72B46A-48F0-9081-430E-3FA5B2A000DF}"/>
              </a:ext>
            </a:extLst>
          </p:cNvPr>
          <p:cNvSpPr/>
          <p:nvPr/>
        </p:nvSpPr>
        <p:spPr>
          <a:xfrm>
            <a:off x="4628090" y="5221955"/>
            <a:ext cx="2114742" cy="2534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75" dirty="0"/>
              <a:t>Data: „</a:t>
            </a:r>
            <a:r>
              <a:rPr lang="en-US" sz="675" dirty="0"/>
              <a:t>count cases with </a:t>
            </a:r>
            <a:r>
              <a:rPr lang="en-US" sz="675" dirty="0" err="1"/>
              <a:t>labvalues</a:t>
            </a:r>
            <a:r>
              <a:rPr lang="en-US" sz="675" dirty="0"/>
              <a:t> in time course without controlgroup2.xlsx”</a:t>
            </a:r>
            <a:endParaRPr lang="de-DE" sz="675" dirty="0"/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71A1166D-6BDE-275C-9C45-4B62C74F6E33}"/>
              </a:ext>
            </a:extLst>
          </p:cNvPr>
          <p:cNvSpPr/>
          <p:nvPr/>
        </p:nvSpPr>
        <p:spPr>
          <a:xfrm>
            <a:off x="2453181" y="5221955"/>
            <a:ext cx="2114742" cy="25346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75" dirty="0"/>
              <a:t>Data: „</a:t>
            </a:r>
            <a:r>
              <a:rPr lang="en-US" sz="675" dirty="0"/>
              <a:t>count cases with </a:t>
            </a:r>
            <a:r>
              <a:rPr lang="en-US" sz="675" dirty="0" err="1"/>
              <a:t>labvalues</a:t>
            </a:r>
            <a:r>
              <a:rPr lang="en-US" sz="675" dirty="0"/>
              <a:t> in time course.xlsx”</a:t>
            </a:r>
            <a:endParaRPr lang="de-DE" sz="675" dirty="0"/>
          </a:p>
        </p:txBody>
      </p: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C45525D7-51C6-3A3E-0CB0-33914721C067}"/>
              </a:ext>
            </a:extLst>
          </p:cNvPr>
          <p:cNvCxnSpPr>
            <a:endCxn id="40" idx="0"/>
          </p:cNvCxnSpPr>
          <p:nvPr/>
        </p:nvCxnSpPr>
        <p:spPr>
          <a:xfrm>
            <a:off x="3510552" y="3931438"/>
            <a:ext cx="0" cy="1290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FD13C18D-F183-AA36-B625-FE8F2619BEE2}"/>
              </a:ext>
            </a:extLst>
          </p:cNvPr>
          <p:cNvCxnSpPr>
            <a:endCxn id="39" idx="0"/>
          </p:cNvCxnSpPr>
          <p:nvPr/>
        </p:nvCxnSpPr>
        <p:spPr>
          <a:xfrm>
            <a:off x="5685461" y="3921306"/>
            <a:ext cx="0" cy="13006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hteck 42">
            <a:extLst>
              <a:ext uri="{FF2B5EF4-FFF2-40B4-BE49-F238E27FC236}">
                <a16:creationId xmlns:a16="http://schemas.microsoft.com/office/drawing/2014/main" id="{53931CDC-94FB-BB2B-645C-1EB8AFD06A4B}"/>
              </a:ext>
            </a:extLst>
          </p:cNvPr>
          <p:cNvSpPr/>
          <p:nvPr/>
        </p:nvSpPr>
        <p:spPr>
          <a:xfrm>
            <a:off x="3541053" y="4264234"/>
            <a:ext cx="897146" cy="48909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de-DE" sz="900" dirty="0" err="1"/>
              <a:t>measurements</a:t>
            </a:r>
            <a:r>
              <a:rPr lang="de-DE" sz="900" dirty="0"/>
              <a:t> per </a:t>
            </a:r>
            <a:r>
              <a:rPr lang="de-DE" sz="900" dirty="0" err="1"/>
              <a:t>timepoint</a:t>
            </a:r>
            <a:r>
              <a:rPr lang="de-DE" sz="900" dirty="0"/>
              <a:t> ≥ 3</a:t>
            </a: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FD0E3762-7C52-34D7-C929-CCD3172E4A0A}"/>
              </a:ext>
            </a:extLst>
          </p:cNvPr>
          <p:cNvSpPr/>
          <p:nvPr/>
        </p:nvSpPr>
        <p:spPr>
          <a:xfrm>
            <a:off x="5742016" y="4087153"/>
            <a:ext cx="910434" cy="81444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de-DE" sz="900" dirty="0" err="1"/>
              <a:t>measurements</a:t>
            </a:r>
            <a:r>
              <a:rPr lang="de-DE" sz="900" dirty="0"/>
              <a:t> </a:t>
            </a:r>
            <a:r>
              <a:rPr lang="de-DE" sz="900" dirty="0" err="1"/>
              <a:t>for</a:t>
            </a:r>
            <a:r>
              <a:rPr lang="de-DE" sz="900" dirty="0"/>
              <a:t> </a:t>
            </a:r>
            <a:r>
              <a:rPr lang="de-DE" sz="900" dirty="0" err="1"/>
              <a:t>one</a:t>
            </a:r>
            <a:r>
              <a:rPr lang="de-DE" sz="900" dirty="0"/>
              <a:t> </a:t>
            </a:r>
            <a:r>
              <a:rPr lang="de-DE" sz="900" dirty="0" err="1"/>
              <a:t>patient</a:t>
            </a:r>
            <a:r>
              <a:rPr lang="de-DE" sz="900" dirty="0"/>
              <a:t> at different </a:t>
            </a:r>
            <a:r>
              <a:rPr lang="de-DE" sz="900" dirty="0" err="1"/>
              <a:t>timepoints</a:t>
            </a:r>
            <a:r>
              <a:rPr lang="de-DE" sz="900" dirty="0"/>
              <a:t> ≥ 3</a:t>
            </a: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1A3B097E-47C8-F4CB-010C-2E44B59E38FD}"/>
              </a:ext>
            </a:extLst>
          </p:cNvPr>
          <p:cNvSpPr/>
          <p:nvPr/>
        </p:nvSpPr>
        <p:spPr>
          <a:xfrm>
            <a:off x="3071632" y="3661944"/>
            <a:ext cx="3396989" cy="25346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700" b="1" dirty="0"/>
              <a:t>Test </a:t>
            </a:r>
            <a:r>
              <a:rPr lang="de-DE" sz="700" b="1" dirty="0" err="1"/>
              <a:t>group</a:t>
            </a:r>
            <a:r>
              <a:rPr lang="de-DE" sz="700" b="1" dirty="0"/>
              <a:t>: </a:t>
            </a:r>
            <a:r>
              <a:rPr lang="de-DE" sz="700" dirty="0"/>
              <a:t>Data </a:t>
            </a:r>
            <a:r>
              <a:rPr lang="de-DE" sz="700" dirty="0" err="1"/>
              <a:t>number</a:t>
            </a:r>
            <a:r>
              <a:rPr lang="de-DE" sz="700" dirty="0"/>
              <a:t> </a:t>
            </a:r>
            <a:r>
              <a:rPr lang="de-DE" sz="700" dirty="0" err="1"/>
              <a:t>of</a:t>
            </a:r>
            <a:r>
              <a:rPr lang="de-DE" sz="700" dirty="0"/>
              <a:t> </a:t>
            </a:r>
            <a:r>
              <a:rPr lang="de-DE" sz="700" dirty="0" err="1"/>
              <a:t>measurements</a:t>
            </a:r>
            <a:r>
              <a:rPr lang="de-DE" sz="700" dirty="0"/>
              <a:t> per </a:t>
            </a:r>
            <a:r>
              <a:rPr lang="de-DE" sz="700" dirty="0" err="1"/>
              <a:t>parameter</a:t>
            </a:r>
            <a:r>
              <a:rPr lang="de-DE" sz="700" dirty="0"/>
              <a:t>: „</a:t>
            </a:r>
            <a:r>
              <a:rPr lang="de-DE" sz="700" dirty="0" err="1"/>
              <a:t>count</a:t>
            </a:r>
            <a:r>
              <a:rPr lang="de-DE" sz="700" dirty="0"/>
              <a:t> labvalues.xlsx“</a:t>
            </a:r>
          </a:p>
        </p:txBody>
      </p: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A76A5922-F1CC-B674-18AB-F9ED9ECE0EA0}"/>
              </a:ext>
            </a:extLst>
          </p:cNvPr>
          <p:cNvCxnSpPr>
            <a:cxnSpLocks/>
            <a:endCxn id="45" idx="0"/>
          </p:cNvCxnSpPr>
          <p:nvPr/>
        </p:nvCxnSpPr>
        <p:spPr>
          <a:xfrm>
            <a:off x="4770127" y="3432381"/>
            <a:ext cx="0" cy="2295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hteck 46">
            <a:extLst>
              <a:ext uri="{FF2B5EF4-FFF2-40B4-BE49-F238E27FC236}">
                <a16:creationId xmlns:a16="http://schemas.microsoft.com/office/drawing/2014/main" id="{C7F6D319-D236-38D8-BE57-696DF92159B7}"/>
              </a:ext>
            </a:extLst>
          </p:cNvPr>
          <p:cNvSpPr/>
          <p:nvPr/>
        </p:nvSpPr>
        <p:spPr>
          <a:xfrm>
            <a:off x="720367" y="1947145"/>
            <a:ext cx="1775151" cy="575697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b="1" dirty="0"/>
              <a:t>Control </a:t>
            </a:r>
            <a:r>
              <a:rPr lang="de-DE" sz="900" b="1" dirty="0" err="1"/>
              <a:t>group</a:t>
            </a:r>
            <a:r>
              <a:rPr lang="de-DE" sz="900" b="1" dirty="0"/>
              <a:t>: </a:t>
            </a:r>
            <a:r>
              <a:rPr lang="de-DE" sz="900" dirty="0"/>
              <a:t>Data </a:t>
            </a:r>
            <a:r>
              <a:rPr lang="de-DE" sz="900" dirty="0" err="1"/>
              <a:t>without</a:t>
            </a:r>
            <a:r>
              <a:rPr lang="de-DE" sz="900" dirty="0"/>
              <a:t> </a:t>
            </a:r>
            <a:r>
              <a:rPr lang="de-DE" sz="900" dirty="0" err="1"/>
              <a:t>starting</a:t>
            </a:r>
            <a:r>
              <a:rPr lang="de-DE" sz="900" dirty="0"/>
              <a:t>-date </a:t>
            </a:r>
            <a:r>
              <a:rPr lang="de-DE" sz="900" dirty="0" err="1"/>
              <a:t>for</a:t>
            </a:r>
            <a:r>
              <a:rPr lang="de-DE" sz="900" dirty="0"/>
              <a:t> </a:t>
            </a:r>
            <a:r>
              <a:rPr lang="de-DE" sz="900" dirty="0" err="1"/>
              <a:t>drug</a:t>
            </a:r>
            <a:r>
              <a:rPr lang="de-DE" sz="900" dirty="0"/>
              <a:t> </a:t>
            </a:r>
            <a:r>
              <a:rPr lang="de-DE" sz="900" dirty="0" err="1"/>
              <a:t>related</a:t>
            </a:r>
            <a:r>
              <a:rPr lang="de-DE" sz="900" dirty="0"/>
              <a:t> </a:t>
            </a:r>
            <a:r>
              <a:rPr lang="de-DE" sz="900" dirty="0" err="1"/>
              <a:t>symptomes</a:t>
            </a:r>
            <a:endParaRPr lang="de-DE" sz="900" dirty="0"/>
          </a:p>
          <a:p>
            <a:pPr algn="ctr"/>
            <a:r>
              <a:rPr lang="de-DE" sz="900" dirty="0"/>
              <a:t>N=73</a:t>
            </a:r>
          </a:p>
        </p:txBody>
      </p: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115C3685-48B8-BAC1-9AD1-0AFF3BD384AB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1607943" y="1813436"/>
            <a:ext cx="0" cy="1337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hteck 48">
            <a:extLst>
              <a:ext uri="{FF2B5EF4-FFF2-40B4-BE49-F238E27FC236}">
                <a16:creationId xmlns:a16="http://schemas.microsoft.com/office/drawing/2014/main" id="{3E88A516-EC19-0BEE-AD52-1C7CC9D7B54E}"/>
              </a:ext>
            </a:extLst>
          </p:cNvPr>
          <p:cNvSpPr/>
          <p:nvPr/>
        </p:nvSpPr>
        <p:spPr>
          <a:xfrm>
            <a:off x="1348744" y="3661944"/>
            <a:ext cx="1620689" cy="33164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700" b="1" dirty="0"/>
              <a:t>Control </a:t>
            </a:r>
            <a:r>
              <a:rPr lang="de-DE" sz="700" b="1" dirty="0" err="1"/>
              <a:t>visit</a:t>
            </a:r>
            <a:r>
              <a:rPr lang="de-DE" sz="700" b="1" dirty="0"/>
              <a:t> </a:t>
            </a:r>
            <a:r>
              <a:rPr lang="de-DE" sz="700" b="1" dirty="0" err="1"/>
              <a:t>group</a:t>
            </a:r>
            <a:r>
              <a:rPr lang="de-DE" sz="700" b="1" dirty="0"/>
              <a:t>: </a:t>
            </a:r>
            <a:r>
              <a:rPr lang="de-DE" sz="700" dirty="0" err="1"/>
              <a:t>Measurements</a:t>
            </a:r>
            <a:r>
              <a:rPr lang="de-DE" sz="700" dirty="0"/>
              <a:t> </a:t>
            </a:r>
            <a:r>
              <a:rPr lang="de-DE" sz="700" dirty="0" err="1"/>
              <a:t>before</a:t>
            </a:r>
            <a:r>
              <a:rPr lang="de-DE" sz="700" dirty="0"/>
              <a:t> </a:t>
            </a:r>
            <a:r>
              <a:rPr lang="de-DE" sz="700" dirty="0" err="1"/>
              <a:t>starting</a:t>
            </a:r>
            <a:r>
              <a:rPr lang="de-DE" sz="700" dirty="0"/>
              <a:t> date </a:t>
            </a:r>
            <a:r>
              <a:rPr lang="de-DE" sz="700" dirty="0" err="1"/>
              <a:t>of</a:t>
            </a:r>
            <a:r>
              <a:rPr lang="de-DE" sz="700" dirty="0"/>
              <a:t> </a:t>
            </a:r>
            <a:r>
              <a:rPr lang="de-DE" sz="700" dirty="0" err="1"/>
              <a:t>reaction</a:t>
            </a:r>
            <a:r>
              <a:rPr lang="de-DE" sz="700" dirty="0"/>
              <a:t> (</a:t>
            </a:r>
            <a:r>
              <a:rPr lang="de-DE" sz="700" dirty="0" err="1"/>
              <a:t>control</a:t>
            </a:r>
            <a:r>
              <a:rPr lang="de-DE" sz="700" dirty="0"/>
              <a:t> </a:t>
            </a:r>
            <a:r>
              <a:rPr lang="de-DE" sz="700" dirty="0" err="1"/>
              <a:t>visits</a:t>
            </a:r>
            <a:r>
              <a:rPr lang="de-DE" sz="700" dirty="0"/>
              <a:t>)</a:t>
            </a:r>
          </a:p>
        </p:txBody>
      </p: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587A74F3-9E30-F667-6D72-E7BAB3854CD3}"/>
              </a:ext>
            </a:extLst>
          </p:cNvPr>
          <p:cNvCxnSpPr>
            <a:cxnSpLocks/>
            <a:endCxn id="49" idx="0"/>
          </p:cNvCxnSpPr>
          <p:nvPr/>
        </p:nvCxnSpPr>
        <p:spPr>
          <a:xfrm>
            <a:off x="2159089" y="3426317"/>
            <a:ext cx="0" cy="2356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hteck 50">
            <a:extLst>
              <a:ext uri="{FF2B5EF4-FFF2-40B4-BE49-F238E27FC236}">
                <a16:creationId xmlns:a16="http://schemas.microsoft.com/office/drawing/2014/main" id="{95539D0D-3E70-5205-474B-4655D5CCEDC1}"/>
              </a:ext>
            </a:extLst>
          </p:cNvPr>
          <p:cNvSpPr/>
          <p:nvPr/>
        </p:nvSpPr>
        <p:spPr>
          <a:xfrm>
            <a:off x="101599" y="3661944"/>
            <a:ext cx="1157143" cy="33164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700" b="1" dirty="0" err="1"/>
              <a:t>Measurements</a:t>
            </a:r>
            <a:r>
              <a:rPr lang="de-DE" sz="700" b="1" dirty="0"/>
              <a:t> at </a:t>
            </a:r>
            <a:r>
              <a:rPr lang="de-DE" sz="700" b="1" dirty="0" err="1"/>
              <a:t>unknown</a:t>
            </a:r>
            <a:r>
              <a:rPr lang="de-DE" sz="700" b="1" dirty="0"/>
              <a:t> date</a:t>
            </a:r>
            <a:endParaRPr lang="de-DE" sz="700" dirty="0"/>
          </a:p>
        </p:txBody>
      </p: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72BEDD2D-96D1-EF9A-E3E8-46285CF5D700}"/>
              </a:ext>
            </a:extLst>
          </p:cNvPr>
          <p:cNvCxnSpPr>
            <a:endCxn id="51" idx="0"/>
          </p:cNvCxnSpPr>
          <p:nvPr/>
        </p:nvCxnSpPr>
        <p:spPr>
          <a:xfrm flipH="1">
            <a:off x="680171" y="3426317"/>
            <a:ext cx="1040678" cy="2356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feld 52">
            <a:extLst>
              <a:ext uri="{FF2B5EF4-FFF2-40B4-BE49-F238E27FC236}">
                <a16:creationId xmlns:a16="http://schemas.microsoft.com/office/drawing/2014/main" id="{2554C8B2-4F61-C921-B2FE-1E76BBF78565}"/>
              </a:ext>
            </a:extLst>
          </p:cNvPr>
          <p:cNvSpPr txBox="1"/>
          <p:nvPr/>
        </p:nvSpPr>
        <p:spPr>
          <a:xfrm>
            <a:off x="95250" y="336100"/>
            <a:ext cx="7737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 err="1"/>
              <a:t>Number</a:t>
            </a:r>
            <a:r>
              <a:rPr lang="de-DE" sz="800" dirty="0"/>
              <a:t> </a:t>
            </a:r>
            <a:r>
              <a:rPr lang="de-DE" sz="800" dirty="0" err="1"/>
              <a:t>of</a:t>
            </a:r>
            <a:endParaRPr lang="de-DE" sz="800" dirty="0"/>
          </a:p>
          <a:p>
            <a:r>
              <a:rPr lang="de-DE" sz="800" dirty="0"/>
              <a:t> </a:t>
            </a:r>
            <a:r>
              <a:rPr lang="de-DE" sz="800" dirty="0" err="1"/>
              <a:t>Patients</a:t>
            </a:r>
            <a:r>
              <a:rPr lang="de-DE" sz="800" dirty="0"/>
              <a:t> (N)</a:t>
            </a:r>
          </a:p>
        </p:txBody>
      </p: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22276331-6BA6-80C1-6849-0076D940F5A1}"/>
              </a:ext>
            </a:extLst>
          </p:cNvPr>
          <p:cNvCxnSpPr/>
          <p:nvPr/>
        </p:nvCxnSpPr>
        <p:spPr>
          <a:xfrm>
            <a:off x="1607942" y="1813436"/>
            <a:ext cx="428422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03756AC3-CBD4-A562-CF9C-0A5D684818E8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4025629" y="1813436"/>
            <a:ext cx="1" cy="7750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B92BB714-F650-BB7A-C3B2-51A3CEE4AEF9}"/>
              </a:ext>
            </a:extLst>
          </p:cNvPr>
          <p:cNvCxnSpPr>
            <a:cxnSpLocks/>
          </p:cNvCxnSpPr>
          <p:nvPr/>
        </p:nvCxnSpPr>
        <p:spPr>
          <a:xfrm>
            <a:off x="2732475" y="1813436"/>
            <a:ext cx="0" cy="7690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40E39DF3-CE8A-2DF7-C61E-F2513E906129}"/>
              </a:ext>
            </a:extLst>
          </p:cNvPr>
          <p:cNvCxnSpPr>
            <a:cxnSpLocks/>
          </p:cNvCxnSpPr>
          <p:nvPr/>
        </p:nvCxnSpPr>
        <p:spPr>
          <a:xfrm>
            <a:off x="5892171" y="1813436"/>
            <a:ext cx="0" cy="7750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Gerader Verbinder 57">
            <a:extLst>
              <a:ext uri="{FF2B5EF4-FFF2-40B4-BE49-F238E27FC236}">
                <a16:creationId xmlns:a16="http://schemas.microsoft.com/office/drawing/2014/main" id="{D7F1ABB4-6C22-9998-5DC8-CA1E29E2FC36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3390899" y="718782"/>
            <a:ext cx="0" cy="10946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4409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45387C16-9405-BC07-513F-EAD56DFD4827}"/>
              </a:ext>
            </a:extLst>
          </p:cNvPr>
          <p:cNvCxnSpPr>
            <a:cxnSpLocks/>
          </p:cNvCxnSpPr>
          <p:nvPr/>
        </p:nvCxnSpPr>
        <p:spPr>
          <a:xfrm>
            <a:off x="3543459" y="612925"/>
            <a:ext cx="0" cy="8638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hteck 4">
            <a:extLst>
              <a:ext uri="{FF2B5EF4-FFF2-40B4-BE49-F238E27FC236}">
                <a16:creationId xmlns:a16="http://schemas.microsoft.com/office/drawing/2014/main" id="{529C0893-CF8C-B150-A9C2-A77619A21433}"/>
              </a:ext>
            </a:extLst>
          </p:cNvPr>
          <p:cNvSpPr/>
          <p:nvPr/>
        </p:nvSpPr>
        <p:spPr>
          <a:xfrm>
            <a:off x="1380496" y="1471193"/>
            <a:ext cx="1620688" cy="37524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13" dirty="0" err="1"/>
              <a:t>Diclofenac</a:t>
            </a:r>
            <a:endParaRPr lang="de-DE" sz="1013" dirty="0"/>
          </a:p>
          <a:p>
            <a:pPr algn="ctr"/>
            <a:r>
              <a:rPr lang="de-DE" sz="1013" dirty="0"/>
              <a:t>N=143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8EDEE626-2424-EF33-217F-20357131F922}"/>
              </a:ext>
            </a:extLst>
          </p:cNvPr>
          <p:cNvSpPr/>
          <p:nvPr/>
        </p:nvSpPr>
        <p:spPr>
          <a:xfrm>
            <a:off x="3247037" y="1477257"/>
            <a:ext cx="1620688" cy="37524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13" dirty="0"/>
              <a:t>Ibuprofen</a:t>
            </a:r>
          </a:p>
          <a:p>
            <a:pPr algn="ctr"/>
            <a:r>
              <a:rPr lang="de-DE" sz="1013" dirty="0"/>
              <a:t>N=82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D0C11E4-1BFA-92CE-7B57-ED8FAC6C2BD0}"/>
              </a:ext>
            </a:extLst>
          </p:cNvPr>
          <p:cNvSpPr/>
          <p:nvPr/>
        </p:nvSpPr>
        <p:spPr>
          <a:xfrm>
            <a:off x="5113578" y="1477257"/>
            <a:ext cx="1620688" cy="37524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13" dirty="0"/>
              <a:t>Paracetamol</a:t>
            </a:r>
          </a:p>
          <a:p>
            <a:pPr algn="ctr"/>
            <a:r>
              <a:rPr lang="de-DE" sz="1013" dirty="0"/>
              <a:t>N=101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7DE7AB31-F014-11E8-C1B0-DE39985666BE}"/>
              </a:ext>
            </a:extLst>
          </p:cNvPr>
          <p:cNvSpPr/>
          <p:nvPr/>
        </p:nvSpPr>
        <p:spPr>
          <a:xfrm>
            <a:off x="1380496" y="1945657"/>
            <a:ext cx="473915" cy="26414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75" dirty="0"/>
              <a:t>SJS</a:t>
            </a:r>
          </a:p>
          <a:p>
            <a:pPr algn="ctr"/>
            <a:r>
              <a:rPr lang="de-DE" sz="675" dirty="0"/>
              <a:t>N=10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0A48738C-AB58-A3E2-4A8F-2AD4461D90A6}"/>
              </a:ext>
            </a:extLst>
          </p:cNvPr>
          <p:cNvSpPr/>
          <p:nvPr/>
        </p:nvSpPr>
        <p:spPr>
          <a:xfrm>
            <a:off x="1948172" y="1945657"/>
            <a:ext cx="473915" cy="26414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75" dirty="0"/>
              <a:t>Skin</a:t>
            </a:r>
          </a:p>
          <a:p>
            <a:pPr algn="ctr"/>
            <a:r>
              <a:rPr lang="de-DE" sz="675" dirty="0"/>
              <a:t>N=7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130EF24-9308-31C1-49A6-C3E6034D3AA1}"/>
              </a:ext>
            </a:extLst>
          </p:cNvPr>
          <p:cNvSpPr/>
          <p:nvPr/>
        </p:nvSpPr>
        <p:spPr>
          <a:xfrm>
            <a:off x="2527269" y="1948973"/>
            <a:ext cx="473915" cy="26414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75" dirty="0"/>
              <a:t>Liver</a:t>
            </a:r>
          </a:p>
          <a:p>
            <a:pPr algn="ctr"/>
            <a:r>
              <a:rPr lang="de-DE" sz="675" dirty="0"/>
              <a:t>N=126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05D76C99-1C38-CABC-6987-220FFCCE480F}"/>
              </a:ext>
            </a:extLst>
          </p:cNvPr>
          <p:cNvSpPr/>
          <p:nvPr/>
        </p:nvSpPr>
        <p:spPr>
          <a:xfrm>
            <a:off x="3645394" y="661498"/>
            <a:ext cx="2845788" cy="68783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de-DE" sz="900" dirty="0" err="1"/>
              <a:t>Exclusion</a:t>
            </a:r>
            <a:r>
              <a:rPr lang="de-DE" sz="900" dirty="0"/>
              <a:t> </a:t>
            </a:r>
            <a:r>
              <a:rPr lang="de-DE" sz="900" dirty="0" err="1"/>
              <a:t>criteria</a:t>
            </a:r>
            <a:endParaRPr lang="de-DE" sz="900" dirty="0"/>
          </a:p>
          <a:p>
            <a:pPr marL="160734" indent="-160734">
              <a:buFont typeface="Symbol" panose="05050102010706020507" pitchFamily="18" charset="2"/>
              <a:buChar char="-"/>
            </a:pPr>
            <a:r>
              <a:rPr lang="de-DE" sz="900" dirty="0"/>
              <a:t>Cases </a:t>
            </a:r>
            <a:r>
              <a:rPr lang="de-DE" sz="900" dirty="0" err="1"/>
              <a:t>without</a:t>
            </a:r>
            <a:r>
              <a:rPr lang="de-DE" sz="900" dirty="0"/>
              <a:t> a </a:t>
            </a:r>
            <a:r>
              <a:rPr lang="de-DE" sz="900" dirty="0" err="1"/>
              <a:t>starting</a:t>
            </a:r>
            <a:r>
              <a:rPr lang="de-DE" sz="900" dirty="0"/>
              <a:t>-date </a:t>
            </a:r>
            <a:r>
              <a:rPr lang="de-DE" sz="900" dirty="0" err="1"/>
              <a:t>for</a:t>
            </a:r>
            <a:r>
              <a:rPr lang="de-DE" sz="900" dirty="0"/>
              <a:t> </a:t>
            </a:r>
            <a:r>
              <a:rPr lang="de-DE" sz="900" dirty="0" err="1"/>
              <a:t>the</a:t>
            </a:r>
            <a:r>
              <a:rPr lang="de-DE" sz="900" dirty="0"/>
              <a:t> </a:t>
            </a:r>
            <a:r>
              <a:rPr lang="de-DE" sz="900" dirty="0" err="1"/>
              <a:t>drug-related</a:t>
            </a:r>
            <a:r>
              <a:rPr lang="de-DE" sz="900" dirty="0"/>
              <a:t> </a:t>
            </a:r>
            <a:r>
              <a:rPr lang="de-DE" sz="900" dirty="0" err="1"/>
              <a:t>symptomes</a:t>
            </a:r>
            <a:endParaRPr lang="de-DE" sz="900" dirty="0"/>
          </a:p>
          <a:p>
            <a:pPr marL="160734" indent="-160734">
              <a:buFont typeface="Symbol" panose="05050102010706020507" pitchFamily="18" charset="2"/>
              <a:buChar char="-"/>
            </a:pPr>
            <a:r>
              <a:rPr lang="de-DE" sz="900" dirty="0"/>
              <a:t>Cases </a:t>
            </a:r>
            <a:r>
              <a:rPr lang="de-DE" sz="900" dirty="0" err="1"/>
              <a:t>without</a:t>
            </a:r>
            <a:r>
              <a:rPr lang="de-DE" sz="900" dirty="0"/>
              <a:t> </a:t>
            </a:r>
            <a:r>
              <a:rPr lang="de-DE" sz="900" dirty="0" err="1"/>
              <a:t>any</a:t>
            </a:r>
            <a:r>
              <a:rPr lang="de-DE" sz="900" dirty="0"/>
              <a:t> </a:t>
            </a:r>
            <a:r>
              <a:rPr lang="de-DE" sz="900" dirty="0" err="1"/>
              <a:t>information</a:t>
            </a:r>
            <a:r>
              <a:rPr lang="de-DE" sz="900" dirty="0"/>
              <a:t> </a:t>
            </a:r>
            <a:r>
              <a:rPr lang="de-DE" sz="900" dirty="0" err="1"/>
              <a:t>about</a:t>
            </a:r>
            <a:r>
              <a:rPr lang="de-DE" sz="900" dirty="0"/>
              <a:t> </a:t>
            </a:r>
            <a:r>
              <a:rPr lang="de-DE" sz="900" dirty="0" err="1"/>
              <a:t>labvalues</a:t>
            </a:r>
            <a:endParaRPr lang="de-DE" sz="900" dirty="0"/>
          </a:p>
          <a:p>
            <a:pPr marL="160734" indent="-160734">
              <a:buFont typeface="Symbol" panose="05050102010706020507" pitchFamily="18" charset="2"/>
              <a:buChar char="-"/>
            </a:pPr>
            <a:r>
              <a:rPr lang="de-DE" sz="900" dirty="0"/>
              <a:t>Cases not </a:t>
            </a:r>
            <a:r>
              <a:rPr lang="de-DE" sz="900" dirty="0" err="1"/>
              <a:t>regarding</a:t>
            </a:r>
            <a:r>
              <a:rPr lang="de-DE" sz="900" dirty="0"/>
              <a:t> SJS, </a:t>
            </a:r>
            <a:r>
              <a:rPr lang="de-DE" sz="900" dirty="0" err="1"/>
              <a:t>skinreaction</a:t>
            </a:r>
            <a:r>
              <a:rPr lang="de-DE" sz="900" dirty="0"/>
              <a:t> </a:t>
            </a:r>
            <a:r>
              <a:rPr lang="de-DE" sz="900" dirty="0" err="1"/>
              <a:t>or</a:t>
            </a:r>
            <a:r>
              <a:rPr lang="de-DE" sz="900" dirty="0"/>
              <a:t> </a:t>
            </a:r>
            <a:r>
              <a:rPr lang="de-DE" sz="900" dirty="0" err="1"/>
              <a:t>liver</a:t>
            </a:r>
            <a:endParaRPr lang="de-DE" sz="900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8A6BBB3F-F8D8-A4EE-777D-36E0582D33ED}"/>
              </a:ext>
            </a:extLst>
          </p:cNvPr>
          <p:cNvSpPr/>
          <p:nvPr/>
        </p:nvSpPr>
        <p:spPr>
          <a:xfrm>
            <a:off x="3247037" y="1945657"/>
            <a:ext cx="473915" cy="26414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75" dirty="0"/>
              <a:t>SJS</a:t>
            </a:r>
          </a:p>
          <a:p>
            <a:pPr algn="ctr"/>
            <a:r>
              <a:rPr lang="de-DE" sz="675" dirty="0"/>
              <a:t>N=4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7AF5C036-09D3-AB42-5860-EB5BDFA36BB3}"/>
              </a:ext>
            </a:extLst>
          </p:cNvPr>
          <p:cNvSpPr/>
          <p:nvPr/>
        </p:nvSpPr>
        <p:spPr>
          <a:xfrm>
            <a:off x="3820424" y="1945657"/>
            <a:ext cx="473915" cy="26414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75" dirty="0"/>
              <a:t>Skin</a:t>
            </a:r>
          </a:p>
          <a:p>
            <a:pPr algn="ctr"/>
            <a:r>
              <a:rPr lang="de-DE" sz="675" dirty="0"/>
              <a:t>N=6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3D8A5C54-9817-4239-021E-B0430D2C2663}"/>
              </a:ext>
            </a:extLst>
          </p:cNvPr>
          <p:cNvSpPr/>
          <p:nvPr/>
        </p:nvSpPr>
        <p:spPr>
          <a:xfrm>
            <a:off x="4393810" y="1945657"/>
            <a:ext cx="473915" cy="26414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75" dirty="0"/>
              <a:t>Liver</a:t>
            </a:r>
          </a:p>
          <a:p>
            <a:pPr algn="ctr"/>
            <a:r>
              <a:rPr lang="de-DE" sz="675" dirty="0"/>
              <a:t>N=72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891DDE41-363C-FC99-562C-4E7721E9DDA0}"/>
              </a:ext>
            </a:extLst>
          </p:cNvPr>
          <p:cNvSpPr/>
          <p:nvPr/>
        </p:nvSpPr>
        <p:spPr>
          <a:xfrm>
            <a:off x="5113578" y="1945657"/>
            <a:ext cx="473915" cy="26414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75" dirty="0"/>
              <a:t>SJS</a:t>
            </a:r>
          </a:p>
          <a:p>
            <a:pPr algn="ctr"/>
            <a:r>
              <a:rPr lang="de-DE" sz="675" dirty="0"/>
              <a:t>N=21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C88A9F16-41B1-BC45-6B04-88788DF0F5F3}"/>
              </a:ext>
            </a:extLst>
          </p:cNvPr>
          <p:cNvSpPr/>
          <p:nvPr/>
        </p:nvSpPr>
        <p:spPr>
          <a:xfrm>
            <a:off x="5686965" y="1945657"/>
            <a:ext cx="473915" cy="26414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75" dirty="0"/>
              <a:t>Skin</a:t>
            </a:r>
          </a:p>
          <a:p>
            <a:pPr algn="ctr"/>
            <a:r>
              <a:rPr lang="de-DE" sz="675" dirty="0"/>
              <a:t>N=5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639C0D3E-C115-CF48-C4E7-5CDFDF079120}"/>
              </a:ext>
            </a:extLst>
          </p:cNvPr>
          <p:cNvSpPr/>
          <p:nvPr/>
        </p:nvSpPr>
        <p:spPr>
          <a:xfrm>
            <a:off x="6260351" y="1945657"/>
            <a:ext cx="473915" cy="26414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75" dirty="0"/>
              <a:t>Liver</a:t>
            </a:r>
          </a:p>
          <a:p>
            <a:pPr algn="ctr"/>
            <a:r>
              <a:rPr lang="de-DE" sz="675" dirty="0"/>
              <a:t>N=75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67644BCC-646F-28CC-6EFB-C0F9FA173F61}"/>
              </a:ext>
            </a:extLst>
          </p:cNvPr>
          <p:cNvSpPr/>
          <p:nvPr/>
        </p:nvSpPr>
        <p:spPr>
          <a:xfrm>
            <a:off x="752114" y="115818"/>
            <a:ext cx="5353770" cy="5143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13" dirty="0"/>
              <a:t>BfArM-</a:t>
            </a:r>
            <a:r>
              <a:rPr lang="de-DE" sz="1013" dirty="0" err="1"/>
              <a:t>case</a:t>
            </a:r>
            <a:r>
              <a:rPr lang="de-DE" sz="1013" dirty="0"/>
              <a:t> </a:t>
            </a:r>
            <a:r>
              <a:rPr lang="de-DE" sz="1013" dirty="0" err="1"/>
              <a:t>reports</a:t>
            </a:r>
            <a:r>
              <a:rPr lang="de-DE" sz="1013" dirty="0"/>
              <a:t> </a:t>
            </a:r>
            <a:r>
              <a:rPr lang="de-DE" sz="1013" dirty="0" err="1"/>
              <a:t>for</a:t>
            </a:r>
            <a:r>
              <a:rPr lang="de-DE" sz="1013" dirty="0"/>
              <a:t> </a:t>
            </a:r>
            <a:r>
              <a:rPr lang="de-DE" sz="1013" dirty="0" err="1"/>
              <a:t>drug-reaction</a:t>
            </a:r>
            <a:r>
              <a:rPr lang="de-DE" sz="1013" dirty="0"/>
              <a:t> on </a:t>
            </a:r>
            <a:r>
              <a:rPr lang="de-DE" sz="1013" dirty="0" err="1"/>
              <a:t>Diclofenac</a:t>
            </a:r>
            <a:r>
              <a:rPr lang="de-DE" sz="1013" dirty="0"/>
              <a:t>, Ibuprofen and </a:t>
            </a:r>
            <a:r>
              <a:rPr lang="de-DE" sz="1013" dirty="0" err="1"/>
              <a:t>paracetamol</a:t>
            </a:r>
            <a:endParaRPr lang="de-DE" sz="1013" dirty="0"/>
          </a:p>
          <a:p>
            <a:pPr algn="ctr"/>
            <a:r>
              <a:rPr lang="de-DE" sz="1013" dirty="0"/>
              <a:t>N=435</a:t>
            </a:r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310725C7-3CE5-F8EA-F5A3-3DF4FE6BADB1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1617453" y="1854677"/>
            <a:ext cx="1" cy="909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374C2DD5-1464-2955-31B9-37A863CAFB76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 flipH="1">
            <a:off x="2185130" y="1846442"/>
            <a:ext cx="5710" cy="99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33121686-46A9-CA75-A2F6-59989B6B8820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2764226" y="1854677"/>
            <a:ext cx="1" cy="942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B8F17AC9-7C8E-7A2C-769D-9279782924AE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3474289" y="1853019"/>
            <a:ext cx="9706" cy="926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3E3A4A21-D8D5-763B-BBDE-173AD210306F}"/>
              </a:ext>
            </a:extLst>
          </p:cNvPr>
          <p:cNvCxnSpPr>
            <a:cxnSpLocks/>
            <a:stCxn id="6" idx="2"/>
            <a:endCxn id="13" idx="0"/>
          </p:cNvCxnSpPr>
          <p:nvPr/>
        </p:nvCxnSpPr>
        <p:spPr>
          <a:xfrm>
            <a:off x="4057381" y="1852506"/>
            <a:ext cx="1" cy="93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37E76F69-48B2-2F42-2D19-9A939A778B36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4630767" y="1860741"/>
            <a:ext cx="1" cy="84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C94D79F2-F7D3-2161-3F0D-21787A05AABA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5350535" y="1860741"/>
            <a:ext cx="1" cy="84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C1D7CD0A-2FA6-FCF0-D87B-0EEE4A18260E}"/>
              </a:ext>
            </a:extLst>
          </p:cNvPr>
          <p:cNvCxnSpPr>
            <a:cxnSpLocks/>
            <a:stCxn id="7" idx="2"/>
            <a:endCxn id="16" idx="0"/>
          </p:cNvCxnSpPr>
          <p:nvPr/>
        </p:nvCxnSpPr>
        <p:spPr>
          <a:xfrm>
            <a:off x="5923922" y="1852506"/>
            <a:ext cx="1" cy="93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4B9977C7-9B9A-4531-0F8E-20C0F25F536C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6497308" y="1853019"/>
            <a:ext cx="1" cy="926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feld 27">
            <a:extLst>
              <a:ext uri="{FF2B5EF4-FFF2-40B4-BE49-F238E27FC236}">
                <a16:creationId xmlns:a16="http://schemas.microsoft.com/office/drawing/2014/main" id="{6A3C4C78-552A-E75D-56E8-81F48E2D2D86}"/>
              </a:ext>
            </a:extLst>
          </p:cNvPr>
          <p:cNvSpPr txBox="1"/>
          <p:nvPr/>
        </p:nvSpPr>
        <p:spPr>
          <a:xfrm>
            <a:off x="200731" y="1460219"/>
            <a:ext cx="7737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 err="1"/>
              <a:t>Number</a:t>
            </a:r>
            <a:r>
              <a:rPr lang="de-DE" sz="800" dirty="0"/>
              <a:t> </a:t>
            </a:r>
            <a:r>
              <a:rPr lang="de-DE" sz="800" dirty="0" err="1"/>
              <a:t>of</a:t>
            </a:r>
            <a:endParaRPr lang="de-DE" sz="800" dirty="0"/>
          </a:p>
          <a:p>
            <a:r>
              <a:rPr lang="de-DE" sz="800" dirty="0"/>
              <a:t> </a:t>
            </a:r>
            <a:r>
              <a:rPr lang="de-DE" sz="800" dirty="0" err="1"/>
              <a:t>Patients</a:t>
            </a:r>
            <a:r>
              <a:rPr lang="de-DE" sz="800" dirty="0"/>
              <a:t> (N)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70CE7301-B65E-879B-E783-A8C65A595484}"/>
              </a:ext>
            </a:extLst>
          </p:cNvPr>
          <p:cNvSpPr txBox="1"/>
          <p:nvPr/>
        </p:nvSpPr>
        <p:spPr>
          <a:xfrm>
            <a:off x="200731" y="1916912"/>
            <a:ext cx="7852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 err="1"/>
              <a:t>Number</a:t>
            </a:r>
            <a:r>
              <a:rPr lang="de-DE" sz="800" dirty="0"/>
              <a:t> </a:t>
            </a:r>
            <a:r>
              <a:rPr lang="de-DE" sz="800" dirty="0" err="1"/>
              <a:t>of</a:t>
            </a:r>
            <a:endParaRPr lang="de-DE" sz="800" dirty="0"/>
          </a:p>
          <a:p>
            <a:r>
              <a:rPr lang="de-DE" sz="800" dirty="0"/>
              <a:t> </a:t>
            </a:r>
            <a:r>
              <a:rPr lang="de-DE" sz="800" dirty="0" err="1"/>
              <a:t>Patients</a:t>
            </a:r>
            <a:r>
              <a:rPr lang="de-DE" sz="800" dirty="0"/>
              <a:t> (N)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69E1E554-AE07-114E-8664-BCD6EFF54B3B}"/>
              </a:ext>
            </a:extLst>
          </p:cNvPr>
          <p:cNvSpPr/>
          <p:nvPr/>
        </p:nvSpPr>
        <p:spPr>
          <a:xfrm>
            <a:off x="1380496" y="3096742"/>
            <a:ext cx="473915" cy="26414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75" dirty="0"/>
              <a:t>SJS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255CB8C4-4FBE-C2A9-0CFB-3D0AF4114987}"/>
              </a:ext>
            </a:extLst>
          </p:cNvPr>
          <p:cNvSpPr/>
          <p:nvPr/>
        </p:nvSpPr>
        <p:spPr>
          <a:xfrm>
            <a:off x="1948172" y="3096742"/>
            <a:ext cx="473915" cy="26414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75" dirty="0"/>
              <a:t>Skin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AF3E28AB-461C-4B36-1656-80257C9BB09D}"/>
              </a:ext>
            </a:extLst>
          </p:cNvPr>
          <p:cNvSpPr/>
          <p:nvPr/>
        </p:nvSpPr>
        <p:spPr>
          <a:xfrm>
            <a:off x="2527269" y="3100058"/>
            <a:ext cx="473915" cy="26414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75" dirty="0"/>
              <a:t>Liver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8A30802F-C4D0-852A-4FCA-C0F6BCE1B4DE}"/>
              </a:ext>
            </a:extLst>
          </p:cNvPr>
          <p:cNvSpPr/>
          <p:nvPr/>
        </p:nvSpPr>
        <p:spPr>
          <a:xfrm>
            <a:off x="3247037" y="3096742"/>
            <a:ext cx="473915" cy="26414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75" dirty="0"/>
              <a:t>SJS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71A65C49-78BE-7A45-1BF6-3E896D2D0535}"/>
              </a:ext>
            </a:extLst>
          </p:cNvPr>
          <p:cNvSpPr/>
          <p:nvPr/>
        </p:nvSpPr>
        <p:spPr>
          <a:xfrm>
            <a:off x="3820424" y="3096742"/>
            <a:ext cx="473915" cy="26414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75" dirty="0"/>
              <a:t>Skin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4DC74F01-AB68-B919-51AC-E5F54F764D8C}"/>
              </a:ext>
            </a:extLst>
          </p:cNvPr>
          <p:cNvSpPr/>
          <p:nvPr/>
        </p:nvSpPr>
        <p:spPr>
          <a:xfrm>
            <a:off x="4393810" y="3096742"/>
            <a:ext cx="473915" cy="26414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75" dirty="0"/>
              <a:t>Liver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89CED656-791D-CD34-20C1-13B0BB508114}"/>
              </a:ext>
            </a:extLst>
          </p:cNvPr>
          <p:cNvSpPr/>
          <p:nvPr/>
        </p:nvSpPr>
        <p:spPr>
          <a:xfrm>
            <a:off x="5113578" y="3096742"/>
            <a:ext cx="473915" cy="26414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75" dirty="0"/>
              <a:t>SJS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C681BF6B-505A-5763-1526-430E24A5B039}"/>
              </a:ext>
            </a:extLst>
          </p:cNvPr>
          <p:cNvSpPr/>
          <p:nvPr/>
        </p:nvSpPr>
        <p:spPr>
          <a:xfrm>
            <a:off x="5686965" y="3096742"/>
            <a:ext cx="473915" cy="26414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75" dirty="0"/>
              <a:t>Skin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793CC680-51C5-3C74-FDDE-C28066F5AA67}"/>
              </a:ext>
            </a:extLst>
          </p:cNvPr>
          <p:cNvSpPr/>
          <p:nvPr/>
        </p:nvSpPr>
        <p:spPr>
          <a:xfrm>
            <a:off x="6260351" y="3096742"/>
            <a:ext cx="473915" cy="26414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75" dirty="0"/>
              <a:t>Liver</a:t>
            </a:r>
          </a:p>
        </p:txBody>
      </p: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3B0FEA93-39A3-B33C-838C-259027C99337}"/>
              </a:ext>
            </a:extLst>
          </p:cNvPr>
          <p:cNvCxnSpPr>
            <a:cxnSpLocks/>
            <a:stCxn id="8" idx="2"/>
            <a:endCxn id="30" idx="0"/>
          </p:cNvCxnSpPr>
          <p:nvPr/>
        </p:nvCxnSpPr>
        <p:spPr>
          <a:xfrm>
            <a:off x="1617454" y="2209800"/>
            <a:ext cx="0" cy="886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FBE33271-1651-1249-17E0-23179BC2C2B7}"/>
              </a:ext>
            </a:extLst>
          </p:cNvPr>
          <p:cNvCxnSpPr>
            <a:stCxn id="9" idx="2"/>
            <a:endCxn id="31" idx="0"/>
          </p:cNvCxnSpPr>
          <p:nvPr/>
        </p:nvCxnSpPr>
        <p:spPr>
          <a:xfrm>
            <a:off x="2185130" y="2209800"/>
            <a:ext cx="0" cy="886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A8CB2DB5-B700-9139-7870-69C056D68E57}"/>
              </a:ext>
            </a:extLst>
          </p:cNvPr>
          <p:cNvCxnSpPr>
            <a:stCxn id="10" idx="2"/>
            <a:endCxn id="32" idx="0"/>
          </p:cNvCxnSpPr>
          <p:nvPr/>
        </p:nvCxnSpPr>
        <p:spPr>
          <a:xfrm>
            <a:off x="2764227" y="2213116"/>
            <a:ext cx="0" cy="886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4B2F86C0-281F-F6DA-3145-4C822C531EC2}"/>
              </a:ext>
            </a:extLst>
          </p:cNvPr>
          <p:cNvCxnSpPr>
            <a:stCxn id="12" idx="2"/>
            <a:endCxn id="33" idx="0"/>
          </p:cNvCxnSpPr>
          <p:nvPr/>
        </p:nvCxnSpPr>
        <p:spPr>
          <a:xfrm>
            <a:off x="3483995" y="2209800"/>
            <a:ext cx="0" cy="886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6E617A9C-9BCE-D742-29B9-E807F521F313}"/>
              </a:ext>
            </a:extLst>
          </p:cNvPr>
          <p:cNvCxnSpPr>
            <a:stCxn id="13" idx="2"/>
            <a:endCxn id="34" idx="0"/>
          </p:cNvCxnSpPr>
          <p:nvPr/>
        </p:nvCxnSpPr>
        <p:spPr>
          <a:xfrm>
            <a:off x="4057382" y="2209800"/>
            <a:ext cx="0" cy="886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1B6B497B-8E9C-9523-EB6C-D5F8A05059A4}"/>
              </a:ext>
            </a:extLst>
          </p:cNvPr>
          <p:cNvCxnSpPr>
            <a:stCxn id="14" idx="2"/>
            <a:endCxn id="35" idx="0"/>
          </p:cNvCxnSpPr>
          <p:nvPr/>
        </p:nvCxnSpPr>
        <p:spPr>
          <a:xfrm>
            <a:off x="4630768" y="2209800"/>
            <a:ext cx="0" cy="886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802733D8-AD40-E058-E0DA-250F7F009AC2}"/>
              </a:ext>
            </a:extLst>
          </p:cNvPr>
          <p:cNvCxnSpPr>
            <a:stCxn id="15" idx="2"/>
            <a:endCxn id="36" idx="0"/>
          </p:cNvCxnSpPr>
          <p:nvPr/>
        </p:nvCxnSpPr>
        <p:spPr>
          <a:xfrm>
            <a:off x="5350536" y="2209800"/>
            <a:ext cx="0" cy="886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349CB780-1709-63CA-EAC1-76D040F5CC5F}"/>
              </a:ext>
            </a:extLst>
          </p:cNvPr>
          <p:cNvCxnSpPr>
            <a:stCxn id="16" idx="2"/>
            <a:endCxn id="37" idx="0"/>
          </p:cNvCxnSpPr>
          <p:nvPr/>
        </p:nvCxnSpPr>
        <p:spPr>
          <a:xfrm>
            <a:off x="5923923" y="2209800"/>
            <a:ext cx="0" cy="886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A93CDF4E-5D04-F88C-E43E-9D046323FFC8}"/>
              </a:ext>
            </a:extLst>
          </p:cNvPr>
          <p:cNvCxnSpPr>
            <a:stCxn id="17" idx="2"/>
            <a:endCxn id="38" idx="0"/>
          </p:cNvCxnSpPr>
          <p:nvPr/>
        </p:nvCxnSpPr>
        <p:spPr>
          <a:xfrm>
            <a:off x="6497309" y="2209800"/>
            <a:ext cx="0" cy="886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hteck 47">
            <a:extLst>
              <a:ext uri="{FF2B5EF4-FFF2-40B4-BE49-F238E27FC236}">
                <a16:creationId xmlns:a16="http://schemas.microsoft.com/office/drawing/2014/main" id="{6444BD36-397A-B0E4-AC89-41491E9B8940}"/>
              </a:ext>
            </a:extLst>
          </p:cNvPr>
          <p:cNvSpPr/>
          <p:nvPr/>
        </p:nvSpPr>
        <p:spPr>
          <a:xfrm>
            <a:off x="2245265" y="2294716"/>
            <a:ext cx="3465667" cy="61412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de-DE" sz="900" dirty="0" err="1"/>
              <a:t>Exclusion</a:t>
            </a:r>
            <a:r>
              <a:rPr lang="de-DE" sz="900" dirty="0"/>
              <a:t> </a:t>
            </a:r>
            <a:r>
              <a:rPr lang="de-DE" sz="900" dirty="0" err="1"/>
              <a:t>criteria</a:t>
            </a:r>
            <a:endParaRPr lang="de-DE" sz="900" dirty="0"/>
          </a:p>
          <a:p>
            <a:pPr marL="160734" indent="-160734">
              <a:buFontTx/>
              <a:buChar char="-"/>
            </a:pPr>
            <a:r>
              <a:rPr lang="de-DE" sz="900" dirty="0"/>
              <a:t>Parameters not relevant </a:t>
            </a:r>
            <a:r>
              <a:rPr lang="de-DE" sz="900" dirty="0" err="1"/>
              <a:t>for</a:t>
            </a:r>
            <a:r>
              <a:rPr lang="de-DE" sz="900" dirty="0"/>
              <a:t> Analysis (Ex.: „Sauerstoffpartialdruck“)</a:t>
            </a:r>
          </a:p>
          <a:p>
            <a:pPr marL="160734" indent="-160734">
              <a:buFontTx/>
              <a:buChar char="-"/>
            </a:pPr>
            <a:r>
              <a:rPr lang="de-DE" sz="900" dirty="0"/>
              <a:t>Parameters </a:t>
            </a:r>
            <a:r>
              <a:rPr lang="de-DE" sz="900" dirty="0" err="1"/>
              <a:t>with</a:t>
            </a:r>
            <a:r>
              <a:rPr lang="de-DE" sz="900" dirty="0"/>
              <a:t> </a:t>
            </a:r>
            <a:r>
              <a:rPr lang="de-DE" sz="900" dirty="0" err="1"/>
              <a:t>no</a:t>
            </a:r>
            <a:r>
              <a:rPr lang="de-DE" sz="900" dirty="0"/>
              <a:t> </a:t>
            </a:r>
            <a:r>
              <a:rPr lang="de-DE" sz="900" dirty="0" err="1"/>
              <a:t>clear</a:t>
            </a:r>
            <a:r>
              <a:rPr lang="de-DE" sz="900" dirty="0"/>
              <a:t> </a:t>
            </a:r>
            <a:r>
              <a:rPr lang="de-DE" sz="900" dirty="0" err="1"/>
              <a:t>mesurement</a:t>
            </a:r>
            <a:r>
              <a:rPr lang="de-DE" sz="900" dirty="0"/>
              <a:t> (Ex.: „erhöht“)</a:t>
            </a:r>
          </a:p>
          <a:p>
            <a:pPr marL="160734" indent="-160734">
              <a:buFontTx/>
              <a:buChar char="-"/>
            </a:pPr>
            <a:r>
              <a:rPr lang="de-DE" sz="900" dirty="0"/>
              <a:t>Parameters </a:t>
            </a:r>
            <a:r>
              <a:rPr lang="de-DE" sz="900" dirty="0" err="1"/>
              <a:t>with</a:t>
            </a:r>
            <a:r>
              <a:rPr lang="de-DE" sz="900" dirty="0"/>
              <a:t> </a:t>
            </a:r>
            <a:r>
              <a:rPr lang="de-DE" sz="900" dirty="0" err="1"/>
              <a:t>less</a:t>
            </a:r>
            <a:r>
              <a:rPr lang="de-DE" sz="900" dirty="0"/>
              <a:t> </a:t>
            </a:r>
            <a:r>
              <a:rPr lang="de-DE" sz="900" dirty="0" err="1"/>
              <a:t>than</a:t>
            </a:r>
            <a:r>
              <a:rPr lang="de-DE" sz="900" dirty="0"/>
              <a:t> 3-6 </a:t>
            </a:r>
            <a:r>
              <a:rPr lang="de-DE" sz="900" dirty="0" err="1"/>
              <a:t>Mesurements</a:t>
            </a:r>
            <a:r>
              <a:rPr lang="de-DE" sz="900" dirty="0"/>
              <a:t> </a:t>
            </a:r>
            <a:r>
              <a:rPr lang="de-DE" sz="900" dirty="0" err="1"/>
              <a:t>for</a:t>
            </a:r>
            <a:r>
              <a:rPr lang="de-DE" sz="900" dirty="0"/>
              <a:t> all </a:t>
            </a:r>
            <a:r>
              <a:rPr lang="de-DE" sz="900" dirty="0" err="1"/>
              <a:t>groups</a:t>
            </a:r>
            <a:endParaRPr lang="de-DE" sz="900" dirty="0"/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628ED702-CBE6-7A9E-1982-E640D133EFBC}"/>
              </a:ext>
            </a:extLst>
          </p:cNvPr>
          <p:cNvSpPr txBox="1"/>
          <p:nvPr/>
        </p:nvSpPr>
        <p:spPr>
          <a:xfrm>
            <a:off x="102467" y="3003044"/>
            <a:ext cx="1475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 err="1"/>
              <a:t>Number</a:t>
            </a:r>
            <a:r>
              <a:rPr lang="de-DE" sz="800" dirty="0"/>
              <a:t> </a:t>
            </a:r>
            <a:r>
              <a:rPr lang="de-DE" sz="800" dirty="0" err="1"/>
              <a:t>of</a:t>
            </a:r>
            <a:r>
              <a:rPr lang="de-DE" sz="800" dirty="0"/>
              <a:t> </a:t>
            </a:r>
            <a:r>
              <a:rPr lang="de-DE" sz="800" dirty="0" err="1"/>
              <a:t>measurements</a:t>
            </a:r>
            <a:r>
              <a:rPr lang="de-DE" sz="800" dirty="0"/>
              <a:t> </a:t>
            </a:r>
          </a:p>
          <a:p>
            <a:r>
              <a:rPr lang="de-DE" sz="800" dirty="0"/>
              <a:t>per </a:t>
            </a:r>
            <a:r>
              <a:rPr lang="de-DE" sz="800" dirty="0" err="1"/>
              <a:t>parameter</a:t>
            </a:r>
            <a:r>
              <a:rPr lang="de-DE" sz="800" dirty="0"/>
              <a:t>: „</a:t>
            </a:r>
            <a:r>
              <a:rPr lang="de-DE" sz="800" dirty="0" err="1"/>
              <a:t>count</a:t>
            </a:r>
            <a:r>
              <a:rPr lang="de-DE" sz="800" dirty="0"/>
              <a:t> </a:t>
            </a:r>
          </a:p>
          <a:p>
            <a:r>
              <a:rPr lang="de-DE" sz="800" dirty="0"/>
              <a:t>labvalues.xlsx“</a:t>
            </a:r>
          </a:p>
        </p:txBody>
      </p: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F1B0B37A-77ED-04F5-9E46-DDAD542F080E}"/>
              </a:ext>
            </a:extLst>
          </p:cNvPr>
          <p:cNvCxnSpPr>
            <a:stCxn id="30" idx="2"/>
          </p:cNvCxnSpPr>
          <p:nvPr/>
        </p:nvCxnSpPr>
        <p:spPr>
          <a:xfrm flipH="1">
            <a:off x="1617453" y="3360885"/>
            <a:ext cx="1" cy="1038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BD45EDA2-C984-5680-DEB6-74E6C53C2472}"/>
              </a:ext>
            </a:extLst>
          </p:cNvPr>
          <p:cNvCxnSpPr>
            <a:cxnSpLocks/>
          </p:cNvCxnSpPr>
          <p:nvPr/>
        </p:nvCxnSpPr>
        <p:spPr>
          <a:xfrm>
            <a:off x="1617453" y="3464709"/>
            <a:ext cx="487372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33DF0A8F-5086-C191-F8A7-B9DAC042AF7A}"/>
              </a:ext>
            </a:extLst>
          </p:cNvPr>
          <p:cNvCxnSpPr>
            <a:stCxn id="31" idx="2"/>
          </p:cNvCxnSpPr>
          <p:nvPr/>
        </p:nvCxnSpPr>
        <p:spPr>
          <a:xfrm>
            <a:off x="2185130" y="3360885"/>
            <a:ext cx="0" cy="1038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0DF11A99-043D-28EE-E564-1550E1EC17ED}"/>
              </a:ext>
            </a:extLst>
          </p:cNvPr>
          <p:cNvCxnSpPr>
            <a:stCxn id="32" idx="2"/>
          </p:cNvCxnSpPr>
          <p:nvPr/>
        </p:nvCxnSpPr>
        <p:spPr>
          <a:xfrm flipH="1">
            <a:off x="2764226" y="3364201"/>
            <a:ext cx="1" cy="1005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A23C859E-841E-1635-8B3F-690B69A10998}"/>
              </a:ext>
            </a:extLst>
          </p:cNvPr>
          <p:cNvCxnSpPr>
            <a:stCxn id="33" idx="2"/>
          </p:cNvCxnSpPr>
          <p:nvPr/>
        </p:nvCxnSpPr>
        <p:spPr>
          <a:xfrm flipH="1">
            <a:off x="3483993" y="3360885"/>
            <a:ext cx="2" cy="1038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568EC1D6-15F8-38DB-C64D-21D595C12FC2}"/>
              </a:ext>
            </a:extLst>
          </p:cNvPr>
          <p:cNvCxnSpPr>
            <a:stCxn id="35" idx="2"/>
          </p:cNvCxnSpPr>
          <p:nvPr/>
        </p:nvCxnSpPr>
        <p:spPr>
          <a:xfrm flipH="1">
            <a:off x="4630767" y="3360885"/>
            <a:ext cx="1" cy="1038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r Verbinder 55">
            <a:extLst>
              <a:ext uri="{FF2B5EF4-FFF2-40B4-BE49-F238E27FC236}">
                <a16:creationId xmlns:a16="http://schemas.microsoft.com/office/drawing/2014/main" id="{1B60D8B6-44A6-2F8A-A38F-4C293E57E70E}"/>
              </a:ext>
            </a:extLst>
          </p:cNvPr>
          <p:cNvCxnSpPr>
            <a:stCxn id="34" idx="2"/>
          </p:cNvCxnSpPr>
          <p:nvPr/>
        </p:nvCxnSpPr>
        <p:spPr>
          <a:xfrm flipH="1">
            <a:off x="4057381" y="3360885"/>
            <a:ext cx="1" cy="1038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088A4DA8-E905-DBDD-22EE-F773C1D2E98F}"/>
              </a:ext>
            </a:extLst>
          </p:cNvPr>
          <p:cNvCxnSpPr>
            <a:stCxn id="36" idx="2"/>
          </p:cNvCxnSpPr>
          <p:nvPr/>
        </p:nvCxnSpPr>
        <p:spPr>
          <a:xfrm flipH="1">
            <a:off x="5350535" y="3360885"/>
            <a:ext cx="1" cy="1038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Gerader Verbinder 57">
            <a:extLst>
              <a:ext uri="{FF2B5EF4-FFF2-40B4-BE49-F238E27FC236}">
                <a16:creationId xmlns:a16="http://schemas.microsoft.com/office/drawing/2014/main" id="{1F8B9761-A331-720E-54E8-B7DFAB76BA1C}"/>
              </a:ext>
            </a:extLst>
          </p:cNvPr>
          <p:cNvCxnSpPr>
            <a:stCxn id="37" idx="2"/>
          </p:cNvCxnSpPr>
          <p:nvPr/>
        </p:nvCxnSpPr>
        <p:spPr>
          <a:xfrm flipH="1">
            <a:off x="5923922" y="3360885"/>
            <a:ext cx="1" cy="1038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r Verbinder 58">
            <a:extLst>
              <a:ext uri="{FF2B5EF4-FFF2-40B4-BE49-F238E27FC236}">
                <a16:creationId xmlns:a16="http://schemas.microsoft.com/office/drawing/2014/main" id="{4CD0E5D5-4376-44FF-1445-BCFA828B0D71}"/>
              </a:ext>
            </a:extLst>
          </p:cNvPr>
          <p:cNvCxnSpPr>
            <a:cxnSpLocks/>
            <a:stCxn id="38" idx="2"/>
          </p:cNvCxnSpPr>
          <p:nvPr/>
        </p:nvCxnSpPr>
        <p:spPr>
          <a:xfrm>
            <a:off x="6497309" y="3360885"/>
            <a:ext cx="0" cy="1038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hteck 59">
            <a:extLst>
              <a:ext uri="{FF2B5EF4-FFF2-40B4-BE49-F238E27FC236}">
                <a16:creationId xmlns:a16="http://schemas.microsoft.com/office/drawing/2014/main" id="{958E8B8A-C9DD-0D99-25C9-D6189E1CC5D7}"/>
              </a:ext>
            </a:extLst>
          </p:cNvPr>
          <p:cNvSpPr/>
          <p:nvPr/>
        </p:nvSpPr>
        <p:spPr>
          <a:xfrm>
            <a:off x="4376440" y="4765358"/>
            <a:ext cx="2114742" cy="25346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75" dirty="0"/>
              <a:t>Data: „</a:t>
            </a:r>
            <a:r>
              <a:rPr lang="en-US" sz="675" dirty="0"/>
              <a:t>count cases with </a:t>
            </a:r>
            <a:r>
              <a:rPr lang="en-US" sz="675" dirty="0" err="1"/>
              <a:t>labvalues</a:t>
            </a:r>
            <a:r>
              <a:rPr lang="en-US" sz="675" dirty="0"/>
              <a:t> in time course.xlsx”</a:t>
            </a:r>
            <a:endParaRPr lang="de-DE" sz="675" dirty="0"/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CB22538F-8D86-0DDA-F074-3DDD29DD4F92}"/>
              </a:ext>
            </a:extLst>
          </p:cNvPr>
          <p:cNvSpPr/>
          <p:nvPr/>
        </p:nvSpPr>
        <p:spPr>
          <a:xfrm>
            <a:off x="1617453" y="4761290"/>
            <a:ext cx="2114742" cy="25346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75" dirty="0"/>
              <a:t>Data: „</a:t>
            </a:r>
            <a:r>
              <a:rPr lang="en-US" sz="675" dirty="0"/>
              <a:t>count cases with </a:t>
            </a:r>
            <a:r>
              <a:rPr lang="en-US" sz="675" dirty="0" err="1"/>
              <a:t>labvalues</a:t>
            </a:r>
            <a:r>
              <a:rPr lang="en-US" sz="675" dirty="0"/>
              <a:t> in time course.xlsx”</a:t>
            </a:r>
            <a:endParaRPr lang="de-DE" sz="675" dirty="0"/>
          </a:p>
        </p:txBody>
      </p: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919ADEDD-82EF-E405-C4F3-E24B83EEE73A}"/>
              </a:ext>
            </a:extLst>
          </p:cNvPr>
          <p:cNvCxnSpPr>
            <a:endCxn id="61" idx="0"/>
          </p:cNvCxnSpPr>
          <p:nvPr/>
        </p:nvCxnSpPr>
        <p:spPr>
          <a:xfrm>
            <a:off x="2674824" y="3470773"/>
            <a:ext cx="0" cy="1290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87BDD20B-10F2-F422-9F3D-243BFCF08409}"/>
              </a:ext>
            </a:extLst>
          </p:cNvPr>
          <p:cNvCxnSpPr>
            <a:endCxn id="60" idx="0"/>
          </p:cNvCxnSpPr>
          <p:nvPr/>
        </p:nvCxnSpPr>
        <p:spPr>
          <a:xfrm>
            <a:off x="5433811" y="3464709"/>
            <a:ext cx="0" cy="13006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hteck 63">
            <a:extLst>
              <a:ext uri="{FF2B5EF4-FFF2-40B4-BE49-F238E27FC236}">
                <a16:creationId xmlns:a16="http://schemas.microsoft.com/office/drawing/2014/main" id="{098F4C46-F605-3E89-FBE6-F70065D2A0DB}"/>
              </a:ext>
            </a:extLst>
          </p:cNvPr>
          <p:cNvSpPr/>
          <p:nvPr/>
        </p:nvSpPr>
        <p:spPr>
          <a:xfrm>
            <a:off x="2705324" y="3937401"/>
            <a:ext cx="1083425" cy="3552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de-DE" sz="900" dirty="0"/>
              <a:t>3 ≤ </a:t>
            </a:r>
            <a:r>
              <a:rPr lang="de-DE" sz="900" dirty="0" err="1"/>
              <a:t>measurements</a:t>
            </a:r>
            <a:r>
              <a:rPr lang="de-DE" sz="900" dirty="0"/>
              <a:t> per </a:t>
            </a:r>
            <a:r>
              <a:rPr lang="de-DE" sz="900" dirty="0" err="1"/>
              <a:t>timepoint</a:t>
            </a:r>
            <a:endParaRPr lang="de-DE" sz="900" dirty="0"/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9E11BA9C-C6CD-4DCD-DFAC-AC3B5D902AD1}"/>
              </a:ext>
            </a:extLst>
          </p:cNvPr>
          <p:cNvSpPr/>
          <p:nvPr/>
        </p:nvSpPr>
        <p:spPr>
          <a:xfrm>
            <a:off x="5490365" y="3889628"/>
            <a:ext cx="1318565" cy="46202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de-DE" sz="900" dirty="0"/>
              <a:t>3 ≤ </a:t>
            </a:r>
            <a:r>
              <a:rPr lang="de-DE" sz="900" dirty="0" err="1"/>
              <a:t>measurements</a:t>
            </a:r>
            <a:r>
              <a:rPr lang="de-DE" sz="900" dirty="0"/>
              <a:t> </a:t>
            </a:r>
            <a:r>
              <a:rPr lang="de-DE" sz="900" dirty="0" err="1"/>
              <a:t>for</a:t>
            </a:r>
            <a:r>
              <a:rPr lang="de-DE" sz="900" dirty="0"/>
              <a:t> </a:t>
            </a:r>
            <a:r>
              <a:rPr lang="de-DE" sz="900" dirty="0" err="1"/>
              <a:t>one</a:t>
            </a:r>
            <a:r>
              <a:rPr lang="de-DE" sz="900" dirty="0"/>
              <a:t> </a:t>
            </a:r>
            <a:r>
              <a:rPr lang="de-DE" sz="900" dirty="0" err="1"/>
              <a:t>patient</a:t>
            </a:r>
            <a:r>
              <a:rPr lang="de-DE" sz="900" dirty="0"/>
              <a:t> at different </a:t>
            </a:r>
            <a:r>
              <a:rPr lang="de-DE" sz="900" dirty="0" err="1"/>
              <a:t>timepoints</a:t>
            </a:r>
            <a:endParaRPr lang="de-DE" sz="900" dirty="0"/>
          </a:p>
        </p:txBody>
      </p:sp>
    </p:spTree>
    <p:extLst>
      <p:ext uri="{BB962C8B-B14F-4D97-AF65-F5344CB8AC3E}">
        <p14:creationId xmlns:p14="http://schemas.microsoft.com/office/powerpoint/2010/main" val="3962253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hteck 65">
            <a:extLst>
              <a:ext uri="{FF2B5EF4-FFF2-40B4-BE49-F238E27FC236}">
                <a16:creationId xmlns:a16="http://schemas.microsoft.com/office/drawing/2014/main" id="{46DE2A29-2924-09A8-9F26-FB14213F4378}"/>
              </a:ext>
            </a:extLst>
          </p:cNvPr>
          <p:cNvSpPr/>
          <p:nvPr/>
        </p:nvSpPr>
        <p:spPr>
          <a:xfrm>
            <a:off x="1348745" y="2582443"/>
            <a:ext cx="2594600" cy="37524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13" dirty="0"/>
              <a:t>Cases </a:t>
            </a:r>
            <a:r>
              <a:rPr lang="de-DE" sz="1013" dirty="0" err="1"/>
              <a:t>without</a:t>
            </a:r>
            <a:r>
              <a:rPr lang="de-DE" sz="1013" dirty="0"/>
              <a:t> </a:t>
            </a:r>
            <a:r>
              <a:rPr lang="de-DE" sz="1013" dirty="0" err="1"/>
              <a:t>timecourse</a:t>
            </a:r>
            <a:endParaRPr lang="de-DE" sz="1013" dirty="0"/>
          </a:p>
          <a:p>
            <a:pPr algn="ctr"/>
            <a:r>
              <a:rPr lang="de-DE" sz="1013" dirty="0"/>
              <a:t>N=55</a:t>
            </a:r>
          </a:p>
        </p:txBody>
      </p:sp>
      <p:sp>
        <p:nvSpPr>
          <p:cNvPr id="67" name="Rechteck 66">
            <a:extLst>
              <a:ext uri="{FF2B5EF4-FFF2-40B4-BE49-F238E27FC236}">
                <a16:creationId xmlns:a16="http://schemas.microsoft.com/office/drawing/2014/main" id="{3BD05E1B-C189-8608-C90A-2CBD65DFCE0B}"/>
              </a:ext>
            </a:extLst>
          </p:cNvPr>
          <p:cNvSpPr/>
          <p:nvPr/>
        </p:nvSpPr>
        <p:spPr>
          <a:xfrm>
            <a:off x="4107913" y="2588507"/>
            <a:ext cx="2594602" cy="37524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13" dirty="0"/>
              <a:t>Cases </a:t>
            </a:r>
            <a:r>
              <a:rPr lang="de-DE" sz="1013" dirty="0" err="1"/>
              <a:t>with</a:t>
            </a:r>
            <a:r>
              <a:rPr lang="de-DE" sz="1013" dirty="0"/>
              <a:t> </a:t>
            </a:r>
            <a:r>
              <a:rPr lang="de-DE" sz="1013" dirty="0" err="1"/>
              <a:t>timecourse</a:t>
            </a:r>
            <a:endParaRPr lang="de-DE" sz="1013" dirty="0"/>
          </a:p>
          <a:p>
            <a:pPr algn="ctr"/>
            <a:r>
              <a:rPr lang="de-DE" sz="1013" dirty="0"/>
              <a:t>N=18</a:t>
            </a:r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EC33AEF6-E9A4-13E0-9055-5457ADB91ADC}"/>
              </a:ext>
            </a:extLst>
          </p:cNvPr>
          <p:cNvSpPr txBox="1"/>
          <p:nvPr/>
        </p:nvSpPr>
        <p:spPr>
          <a:xfrm>
            <a:off x="168980" y="2571469"/>
            <a:ext cx="7737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 err="1"/>
              <a:t>Number</a:t>
            </a:r>
            <a:r>
              <a:rPr lang="de-DE" sz="800" dirty="0"/>
              <a:t> </a:t>
            </a:r>
            <a:r>
              <a:rPr lang="de-DE" sz="800" dirty="0" err="1"/>
              <a:t>of</a:t>
            </a:r>
            <a:endParaRPr lang="de-DE" sz="800" dirty="0"/>
          </a:p>
          <a:p>
            <a:r>
              <a:rPr lang="de-DE" sz="800" dirty="0"/>
              <a:t> </a:t>
            </a:r>
            <a:r>
              <a:rPr lang="de-DE" sz="800" dirty="0" err="1"/>
              <a:t>Patients</a:t>
            </a:r>
            <a:r>
              <a:rPr lang="de-DE" sz="800" dirty="0"/>
              <a:t> (N)</a:t>
            </a:r>
          </a:p>
        </p:txBody>
      </p:sp>
      <p:cxnSp>
        <p:nvCxnSpPr>
          <p:cNvPr id="69" name="Gerader Verbinder 68">
            <a:extLst>
              <a:ext uri="{FF2B5EF4-FFF2-40B4-BE49-F238E27FC236}">
                <a16:creationId xmlns:a16="http://schemas.microsoft.com/office/drawing/2014/main" id="{7DA8609C-5E58-A5D0-A4C3-F48E1AC37BA8}"/>
              </a:ext>
            </a:extLst>
          </p:cNvPr>
          <p:cNvCxnSpPr>
            <a:cxnSpLocks/>
          </p:cNvCxnSpPr>
          <p:nvPr/>
        </p:nvCxnSpPr>
        <p:spPr>
          <a:xfrm>
            <a:off x="2161704" y="1813436"/>
            <a:ext cx="37304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Gerade Verbindung mit Pfeil 69">
            <a:extLst>
              <a:ext uri="{FF2B5EF4-FFF2-40B4-BE49-F238E27FC236}">
                <a16:creationId xmlns:a16="http://schemas.microsoft.com/office/drawing/2014/main" id="{EE9BC0A7-74C8-B779-E832-6FFCB0F6D23E}"/>
              </a:ext>
            </a:extLst>
          </p:cNvPr>
          <p:cNvCxnSpPr>
            <a:cxnSpLocks/>
          </p:cNvCxnSpPr>
          <p:nvPr/>
        </p:nvCxnSpPr>
        <p:spPr>
          <a:xfrm>
            <a:off x="2161704" y="1813436"/>
            <a:ext cx="0" cy="7690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Gerade Verbindung mit Pfeil 70">
            <a:extLst>
              <a:ext uri="{FF2B5EF4-FFF2-40B4-BE49-F238E27FC236}">
                <a16:creationId xmlns:a16="http://schemas.microsoft.com/office/drawing/2014/main" id="{F444EA88-F84E-88DD-7AE2-3CC4D2DCB83B}"/>
              </a:ext>
            </a:extLst>
          </p:cNvPr>
          <p:cNvCxnSpPr>
            <a:cxnSpLocks/>
          </p:cNvCxnSpPr>
          <p:nvPr/>
        </p:nvCxnSpPr>
        <p:spPr>
          <a:xfrm>
            <a:off x="5892171" y="1813436"/>
            <a:ext cx="0" cy="7750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hteck 71">
            <a:extLst>
              <a:ext uri="{FF2B5EF4-FFF2-40B4-BE49-F238E27FC236}">
                <a16:creationId xmlns:a16="http://schemas.microsoft.com/office/drawing/2014/main" id="{A535C321-E2A9-36B5-8978-BF0E389B50EA}"/>
              </a:ext>
            </a:extLst>
          </p:cNvPr>
          <p:cNvSpPr/>
          <p:nvPr/>
        </p:nvSpPr>
        <p:spPr>
          <a:xfrm>
            <a:off x="1348743" y="1066226"/>
            <a:ext cx="5353770" cy="5143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b="1" dirty="0"/>
              <a:t>Control </a:t>
            </a:r>
            <a:r>
              <a:rPr lang="de-DE" sz="1050" b="1" dirty="0" err="1"/>
              <a:t>group</a:t>
            </a:r>
            <a:r>
              <a:rPr lang="de-DE" sz="1050" b="1" dirty="0"/>
              <a:t>: </a:t>
            </a:r>
            <a:r>
              <a:rPr lang="de-DE" sz="1050" dirty="0"/>
              <a:t>Data </a:t>
            </a:r>
            <a:r>
              <a:rPr lang="de-DE" sz="1050" dirty="0" err="1"/>
              <a:t>without</a:t>
            </a:r>
            <a:r>
              <a:rPr lang="de-DE" sz="1050" dirty="0"/>
              <a:t> </a:t>
            </a:r>
            <a:r>
              <a:rPr lang="de-DE" sz="1050" dirty="0" err="1"/>
              <a:t>starting</a:t>
            </a:r>
            <a:r>
              <a:rPr lang="de-DE" sz="1050" dirty="0"/>
              <a:t>-date </a:t>
            </a:r>
            <a:r>
              <a:rPr lang="de-DE" sz="1050" dirty="0" err="1"/>
              <a:t>for</a:t>
            </a:r>
            <a:r>
              <a:rPr lang="de-DE" sz="1050" dirty="0"/>
              <a:t> </a:t>
            </a:r>
            <a:r>
              <a:rPr lang="de-DE" sz="1050" dirty="0" err="1"/>
              <a:t>drug</a:t>
            </a:r>
            <a:r>
              <a:rPr lang="de-DE" sz="1050" dirty="0"/>
              <a:t> </a:t>
            </a:r>
            <a:r>
              <a:rPr lang="de-DE" sz="1050" dirty="0" err="1"/>
              <a:t>related</a:t>
            </a:r>
            <a:r>
              <a:rPr lang="de-DE" sz="1050" dirty="0"/>
              <a:t> </a:t>
            </a:r>
            <a:r>
              <a:rPr lang="de-DE" sz="1050" dirty="0" err="1"/>
              <a:t>symptomes</a:t>
            </a:r>
            <a:endParaRPr lang="de-DE" sz="1050" dirty="0"/>
          </a:p>
          <a:p>
            <a:pPr algn="ctr"/>
            <a:r>
              <a:rPr lang="de-DE" sz="1013" dirty="0"/>
              <a:t>N=73</a:t>
            </a:r>
          </a:p>
        </p:txBody>
      </p:sp>
      <p:sp>
        <p:nvSpPr>
          <p:cNvPr id="73" name="Textfeld 72">
            <a:extLst>
              <a:ext uri="{FF2B5EF4-FFF2-40B4-BE49-F238E27FC236}">
                <a16:creationId xmlns:a16="http://schemas.microsoft.com/office/drawing/2014/main" id="{CBD748DC-AFC4-BF25-65B0-227A9D249E16}"/>
              </a:ext>
            </a:extLst>
          </p:cNvPr>
          <p:cNvSpPr txBox="1"/>
          <p:nvPr/>
        </p:nvSpPr>
        <p:spPr>
          <a:xfrm>
            <a:off x="168977" y="1154124"/>
            <a:ext cx="7737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 err="1"/>
              <a:t>Number</a:t>
            </a:r>
            <a:r>
              <a:rPr lang="de-DE" sz="800" dirty="0"/>
              <a:t> </a:t>
            </a:r>
            <a:r>
              <a:rPr lang="de-DE" sz="800" dirty="0" err="1"/>
              <a:t>of</a:t>
            </a:r>
            <a:endParaRPr lang="de-DE" sz="800" dirty="0"/>
          </a:p>
          <a:p>
            <a:r>
              <a:rPr lang="de-DE" sz="800" dirty="0"/>
              <a:t> </a:t>
            </a:r>
            <a:r>
              <a:rPr lang="de-DE" sz="800" dirty="0" err="1"/>
              <a:t>Patients</a:t>
            </a:r>
            <a:r>
              <a:rPr lang="de-DE" sz="800" dirty="0"/>
              <a:t> (N)</a:t>
            </a:r>
          </a:p>
        </p:txBody>
      </p:sp>
      <p:cxnSp>
        <p:nvCxnSpPr>
          <p:cNvPr id="74" name="Gerader Verbinder 73">
            <a:extLst>
              <a:ext uri="{FF2B5EF4-FFF2-40B4-BE49-F238E27FC236}">
                <a16:creationId xmlns:a16="http://schemas.microsoft.com/office/drawing/2014/main" id="{A2A3DD71-D5A0-DD7E-09E6-D01AD3E7872A}"/>
              </a:ext>
            </a:extLst>
          </p:cNvPr>
          <p:cNvCxnSpPr>
            <a:cxnSpLocks/>
            <a:stCxn id="72" idx="2"/>
          </p:cNvCxnSpPr>
          <p:nvPr/>
        </p:nvCxnSpPr>
        <p:spPr>
          <a:xfrm>
            <a:off x="4025628" y="1580576"/>
            <a:ext cx="0" cy="2328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hteck 74">
            <a:extLst>
              <a:ext uri="{FF2B5EF4-FFF2-40B4-BE49-F238E27FC236}">
                <a16:creationId xmlns:a16="http://schemas.microsoft.com/office/drawing/2014/main" id="{F041C332-BD84-B174-45C5-9A584E5432F1}"/>
              </a:ext>
            </a:extLst>
          </p:cNvPr>
          <p:cNvSpPr/>
          <p:nvPr/>
        </p:nvSpPr>
        <p:spPr>
          <a:xfrm>
            <a:off x="1348743" y="3232690"/>
            <a:ext cx="802540" cy="37524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 err="1"/>
              <a:t>Diclofenac</a:t>
            </a:r>
            <a:endParaRPr lang="de-DE" sz="900" dirty="0"/>
          </a:p>
          <a:p>
            <a:pPr algn="ctr"/>
            <a:r>
              <a:rPr lang="de-DE" sz="900" dirty="0"/>
              <a:t>N=28</a:t>
            </a:r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AA4A5A2C-A7DC-7DF4-B572-7DAFE6E55CED}"/>
              </a:ext>
            </a:extLst>
          </p:cNvPr>
          <p:cNvSpPr/>
          <p:nvPr/>
        </p:nvSpPr>
        <p:spPr>
          <a:xfrm>
            <a:off x="2244777" y="3231031"/>
            <a:ext cx="802535" cy="37524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/>
              <a:t>Ibuprofen</a:t>
            </a:r>
          </a:p>
          <a:p>
            <a:pPr algn="ctr"/>
            <a:r>
              <a:rPr lang="de-DE" sz="900" dirty="0"/>
              <a:t>N=11</a:t>
            </a:r>
          </a:p>
        </p:txBody>
      </p:sp>
      <p:sp>
        <p:nvSpPr>
          <p:cNvPr id="77" name="Rechteck 76">
            <a:extLst>
              <a:ext uri="{FF2B5EF4-FFF2-40B4-BE49-F238E27FC236}">
                <a16:creationId xmlns:a16="http://schemas.microsoft.com/office/drawing/2014/main" id="{4F36EBC6-F01A-F7B5-4CD6-DF0D5CA8FF17}"/>
              </a:ext>
            </a:extLst>
          </p:cNvPr>
          <p:cNvSpPr/>
          <p:nvPr/>
        </p:nvSpPr>
        <p:spPr>
          <a:xfrm>
            <a:off x="3140810" y="3231031"/>
            <a:ext cx="802535" cy="37524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/>
              <a:t>Paracetamol</a:t>
            </a:r>
          </a:p>
          <a:p>
            <a:pPr algn="ctr"/>
            <a:r>
              <a:rPr lang="de-DE" sz="900" dirty="0"/>
              <a:t>N=16</a:t>
            </a:r>
          </a:p>
        </p:txBody>
      </p:sp>
      <p:sp>
        <p:nvSpPr>
          <p:cNvPr id="78" name="Rechteck 77">
            <a:extLst>
              <a:ext uri="{FF2B5EF4-FFF2-40B4-BE49-F238E27FC236}">
                <a16:creationId xmlns:a16="http://schemas.microsoft.com/office/drawing/2014/main" id="{CB2343BB-0F78-A228-F1E7-AD2C2A0758BA}"/>
              </a:ext>
            </a:extLst>
          </p:cNvPr>
          <p:cNvSpPr/>
          <p:nvPr/>
        </p:nvSpPr>
        <p:spPr>
          <a:xfrm>
            <a:off x="1675170" y="4073954"/>
            <a:ext cx="473915" cy="26414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 dirty="0" err="1"/>
              <a:t>hepatotoxicity</a:t>
            </a:r>
            <a:endParaRPr lang="de-DE" sz="600" dirty="0"/>
          </a:p>
          <a:p>
            <a:pPr algn="ctr"/>
            <a:r>
              <a:rPr lang="de-DE" sz="600" dirty="0"/>
              <a:t>N=28</a:t>
            </a:r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CE3619E1-89A7-CA64-AF03-CF02C56E7ACB}"/>
              </a:ext>
            </a:extLst>
          </p:cNvPr>
          <p:cNvSpPr txBox="1"/>
          <p:nvPr/>
        </p:nvSpPr>
        <p:spPr>
          <a:xfrm>
            <a:off x="170761" y="3267726"/>
            <a:ext cx="7737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 err="1"/>
              <a:t>Number</a:t>
            </a:r>
            <a:r>
              <a:rPr lang="de-DE" sz="800" dirty="0"/>
              <a:t> </a:t>
            </a:r>
            <a:r>
              <a:rPr lang="de-DE" sz="800" dirty="0" err="1"/>
              <a:t>of</a:t>
            </a:r>
            <a:endParaRPr lang="de-DE" sz="800" dirty="0"/>
          </a:p>
          <a:p>
            <a:r>
              <a:rPr lang="de-DE" sz="800" dirty="0"/>
              <a:t> </a:t>
            </a:r>
            <a:r>
              <a:rPr lang="de-DE" sz="800" dirty="0" err="1"/>
              <a:t>Patients</a:t>
            </a:r>
            <a:r>
              <a:rPr lang="de-DE" sz="800" dirty="0"/>
              <a:t> (N)</a:t>
            </a:r>
          </a:p>
        </p:txBody>
      </p:sp>
      <p:sp>
        <p:nvSpPr>
          <p:cNvPr id="80" name="Textfeld 79">
            <a:extLst>
              <a:ext uri="{FF2B5EF4-FFF2-40B4-BE49-F238E27FC236}">
                <a16:creationId xmlns:a16="http://schemas.microsoft.com/office/drawing/2014/main" id="{F08C8C72-ACAE-8B0F-23EF-53A91208A1C5}"/>
              </a:ext>
            </a:extLst>
          </p:cNvPr>
          <p:cNvSpPr txBox="1"/>
          <p:nvPr/>
        </p:nvSpPr>
        <p:spPr>
          <a:xfrm>
            <a:off x="168977" y="3720898"/>
            <a:ext cx="7852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 err="1"/>
              <a:t>Number</a:t>
            </a:r>
            <a:r>
              <a:rPr lang="de-DE" sz="800" dirty="0"/>
              <a:t> </a:t>
            </a:r>
            <a:r>
              <a:rPr lang="de-DE" sz="800" dirty="0" err="1"/>
              <a:t>of</a:t>
            </a:r>
            <a:endParaRPr lang="de-DE" sz="800" dirty="0"/>
          </a:p>
          <a:p>
            <a:r>
              <a:rPr lang="de-DE" sz="800" dirty="0"/>
              <a:t> </a:t>
            </a:r>
            <a:r>
              <a:rPr lang="de-DE" sz="800" dirty="0" err="1"/>
              <a:t>Patients</a:t>
            </a:r>
            <a:r>
              <a:rPr lang="de-DE" sz="800" dirty="0"/>
              <a:t> (N)</a:t>
            </a:r>
          </a:p>
        </p:txBody>
      </p:sp>
      <p:sp>
        <p:nvSpPr>
          <p:cNvPr id="81" name="Rechteck 80">
            <a:extLst>
              <a:ext uri="{FF2B5EF4-FFF2-40B4-BE49-F238E27FC236}">
                <a16:creationId xmlns:a16="http://schemas.microsoft.com/office/drawing/2014/main" id="{E10684CA-8AD4-7446-2D1D-DCD651BC1BC4}"/>
              </a:ext>
            </a:extLst>
          </p:cNvPr>
          <p:cNvSpPr/>
          <p:nvPr/>
        </p:nvSpPr>
        <p:spPr>
          <a:xfrm>
            <a:off x="2580214" y="4073954"/>
            <a:ext cx="473915" cy="26414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 dirty="0" err="1"/>
              <a:t>hepatotoxicity</a:t>
            </a:r>
            <a:endParaRPr lang="de-DE" sz="600" dirty="0"/>
          </a:p>
          <a:p>
            <a:pPr algn="ctr"/>
            <a:r>
              <a:rPr lang="de-DE" sz="600" dirty="0"/>
              <a:t>N=11</a:t>
            </a:r>
          </a:p>
        </p:txBody>
      </p:sp>
      <p:sp>
        <p:nvSpPr>
          <p:cNvPr id="82" name="Rechteck 81">
            <a:extLst>
              <a:ext uri="{FF2B5EF4-FFF2-40B4-BE49-F238E27FC236}">
                <a16:creationId xmlns:a16="http://schemas.microsoft.com/office/drawing/2014/main" id="{6597F5D6-32DC-7C5A-1B7C-77B6913DABF4}"/>
              </a:ext>
            </a:extLst>
          </p:cNvPr>
          <p:cNvSpPr/>
          <p:nvPr/>
        </p:nvSpPr>
        <p:spPr>
          <a:xfrm>
            <a:off x="3448945" y="4073954"/>
            <a:ext cx="473915" cy="26414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 dirty="0" err="1"/>
              <a:t>hepatotoxicity</a:t>
            </a:r>
            <a:endParaRPr lang="de-DE" sz="600" dirty="0"/>
          </a:p>
          <a:p>
            <a:pPr algn="ctr"/>
            <a:r>
              <a:rPr lang="de-DE" sz="600" dirty="0"/>
              <a:t>N=16</a:t>
            </a:r>
          </a:p>
        </p:txBody>
      </p:sp>
      <p:cxnSp>
        <p:nvCxnSpPr>
          <p:cNvPr id="83" name="Gerade Verbindung mit Pfeil 82">
            <a:extLst>
              <a:ext uri="{FF2B5EF4-FFF2-40B4-BE49-F238E27FC236}">
                <a16:creationId xmlns:a16="http://schemas.microsoft.com/office/drawing/2014/main" id="{E23C6E38-F560-EB50-797B-997EC79DF01C}"/>
              </a:ext>
            </a:extLst>
          </p:cNvPr>
          <p:cNvCxnSpPr>
            <a:cxnSpLocks/>
          </p:cNvCxnSpPr>
          <p:nvPr/>
        </p:nvCxnSpPr>
        <p:spPr>
          <a:xfrm>
            <a:off x="1758950" y="3060700"/>
            <a:ext cx="0" cy="1719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Gerade Verbindung mit Pfeil 83">
            <a:extLst>
              <a:ext uri="{FF2B5EF4-FFF2-40B4-BE49-F238E27FC236}">
                <a16:creationId xmlns:a16="http://schemas.microsoft.com/office/drawing/2014/main" id="{F54A72CE-4162-4A23-1E42-A1A55D413582}"/>
              </a:ext>
            </a:extLst>
          </p:cNvPr>
          <p:cNvCxnSpPr>
            <a:cxnSpLocks/>
          </p:cNvCxnSpPr>
          <p:nvPr/>
        </p:nvCxnSpPr>
        <p:spPr>
          <a:xfrm>
            <a:off x="2614161" y="2957692"/>
            <a:ext cx="0" cy="2749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Gerade Verbindung mit Pfeil 84">
            <a:extLst>
              <a:ext uri="{FF2B5EF4-FFF2-40B4-BE49-F238E27FC236}">
                <a16:creationId xmlns:a16="http://schemas.microsoft.com/office/drawing/2014/main" id="{E8DC3F27-682D-41BE-C117-95CED3D5BD56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3542078" y="3060700"/>
            <a:ext cx="0" cy="1703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Gerader Verbinder 85">
            <a:extLst>
              <a:ext uri="{FF2B5EF4-FFF2-40B4-BE49-F238E27FC236}">
                <a16:creationId xmlns:a16="http://schemas.microsoft.com/office/drawing/2014/main" id="{719A5BFC-A666-E308-002A-1929EA21EEBB}"/>
              </a:ext>
            </a:extLst>
          </p:cNvPr>
          <p:cNvCxnSpPr>
            <a:cxnSpLocks/>
          </p:cNvCxnSpPr>
          <p:nvPr/>
        </p:nvCxnSpPr>
        <p:spPr>
          <a:xfrm>
            <a:off x="1758950" y="3060700"/>
            <a:ext cx="17831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Gerade Verbindung mit Pfeil 86">
            <a:extLst>
              <a:ext uri="{FF2B5EF4-FFF2-40B4-BE49-F238E27FC236}">
                <a16:creationId xmlns:a16="http://schemas.microsoft.com/office/drawing/2014/main" id="{6AC11121-A7F6-E8EE-381C-272A2D11C5C0}"/>
              </a:ext>
            </a:extLst>
          </p:cNvPr>
          <p:cNvCxnSpPr>
            <a:cxnSpLocks/>
          </p:cNvCxnSpPr>
          <p:nvPr/>
        </p:nvCxnSpPr>
        <p:spPr>
          <a:xfrm>
            <a:off x="1516420" y="4221224"/>
            <a:ext cx="1587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Gerader Verbinder 87">
            <a:extLst>
              <a:ext uri="{FF2B5EF4-FFF2-40B4-BE49-F238E27FC236}">
                <a16:creationId xmlns:a16="http://schemas.microsoft.com/office/drawing/2014/main" id="{9E15A22D-1181-8228-75D7-0AB052852AEC}"/>
              </a:ext>
            </a:extLst>
          </p:cNvPr>
          <p:cNvCxnSpPr>
            <a:cxnSpLocks/>
          </p:cNvCxnSpPr>
          <p:nvPr/>
        </p:nvCxnSpPr>
        <p:spPr>
          <a:xfrm flipV="1">
            <a:off x="1518617" y="3595528"/>
            <a:ext cx="0" cy="6216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Gerade Verbindung mit Pfeil 88">
            <a:extLst>
              <a:ext uri="{FF2B5EF4-FFF2-40B4-BE49-F238E27FC236}">
                <a16:creationId xmlns:a16="http://schemas.microsoft.com/office/drawing/2014/main" id="{FA071A81-3CB6-A517-5399-311B087911F8}"/>
              </a:ext>
            </a:extLst>
          </p:cNvPr>
          <p:cNvCxnSpPr>
            <a:cxnSpLocks/>
          </p:cNvCxnSpPr>
          <p:nvPr/>
        </p:nvCxnSpPr>
        <p:spPr>
          <a:xfrm>
            <a:off x="2421464" y="4218849"/>
            <a:ext cx="1587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Gerader Verbinder 89">
            <a:extLst>
              <a:ext uri="{FF2B5EF4-FFF2-40B4-BE49-F238E27FC236}">
                <a16:creationId xmlns:a16="http://schemas.microsoft.com/office/drawing/2014/main" id="{65C35D38-F3AF-497F-3D1F-B07B45D7492B}"/>
              </a:ext>
            </a:extLst>
          </p:cNvPr>
          <p:cNvCxnSpPr>
            <a:cxnSpLocks/>
          </p:cNvCxnSpPr>
          <p:nvPr/>
        </p:nvCxnSpPr>
        <p:spPr>
          <a:xfrm flipV="1">
            <a:off x="2421464" y="3593153"/>
            <a:ext cx="2197" cy="6240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Gerade Verbindung mit Pfeil 90">
            <a:extLst>
              <a:ext uri="{FF2B5EF4-FFF2-40B4-BE49-F238E27FC236}">
                <a16:creationId xmlns:a16="http://schemas.microsoft.com/office/drawing/2014/main" id="{2C06FD73-6C8F-2BFC-F4BA-F89734714F13}"/>
              </a:ext>
            </a:extLst>
          </p:cNvPr>
          <p:cNvCxnSpPr>
            <a:cxnSpLocks/>
          </p:cNvCxnSpPr>
          <p:nvPr/>
        </p:nvCxnSpPr>
        <p:spPr>
          <a:xfrm>
            <a:off x="3290195" y="4218849"/>
            <a:ext cx="1587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Gerader Verbinder 91">
            <a:extLst>
              <a:ext uri="{FF2B5EF4-FFF2-40B4-BE49-F238E27FC236}">
                <a16:creationId xmlns:a16="http://schemas.microsoft.com/office/drawing/2014/main" id="{778AAF71-73DF-C63A-896C-0BE23036C942}"/>
              </a:ext>
            </a:extLst>
          </p:cNvPr>
          <p:cNvCxnSpPr>
            <a:cxnSpLocks/>
          </p:cNvCxnSpPr>
          <p:nvPr/>
        </p:nvCxnSpPr>
        <p:spPr>
          <a:xfrm flipV="1">
            <a:off x="3290195" y="3593153"/>
            <a:ext cx="2197" cy="6240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feld 92">
            <a:extLst>
              <a:ext uri="{FF2B5EF4-FFF2-40B4-BE49-F238E27FC236}">
                <a16:creationId xmlns:a16="http://schemas.microsoft.com/office/drawing/2014/main" id="{18C9D5EA-6310-8747-F7BA-EE91CDBF7478}"/>
              </a:ext>
            </a:extLst>
          </p:cNvPr>
          <p:cNvSpPr txBox="1"/>
          <p:nvPr/>
        </p:nvSpPr>
        <p:spPr>
          <a:xfrm>
            <a:off x="163265" y="4073954"/>
            <a:ext cx="7852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 err="1"/>
              <a:t>Number</a:t>
            </a:r>
            <a:r>
              <a:rPr lang="de-DE" sz="800" dirty="0"/>
              <a:t> </a:t>
            </a:r>
            <a:r>
              <a:rPr lang="de-DE" sz="800" dirty="0" err="1"/>
              <a:t>of</a:t>
            </a:r>
            <a:endParaRPr lang="de-DE" sz="800" dirty="0"/>
          </a:p>
          <a:p>
            <a:r>
              <a:rPr lang="de-DE" sz="800" dirty="0"/>
              <a:t> </a:t>
            </a:r>
            <a:r>
              <a:rPr lang="de-DE" sz="800" dirty="0" err="1"/>
              <a:t>Patients</a:t>
            </a:r>
            <a:r>
              <a:rPr lang="de-DE" sz="800" dirty="0"/>
              <a:t> (N)</a:t>
            </a:r>
          </a:p>
        </p:txBody>
      </p:sp>
      <p:sp>
        <p:nvSpPr>
          <p:cNvPr id="94" name="Rechteck 93">
            <a:extLst>
              <a:ext uri="{FF2B5EF4-FFF2-40B4-BE49-F238E27FC236}">
                <a16:creationId xmlns:a16="http://schemas.microsoft.com/office/drawing/2014/main" id="{AC28ADB5-1C65-3324-CDC0-5D473C17AAF2}"/>
              </a:ext>
            </a:extLst>
          </p:cNvPr>
          <p:cNvSpPr/>
          <p:nvPr/>
        </p:nvSpPr>
        <p:spPr>
          <a:xfrm>
            <a:off x="4107911" y="3231031"/>
            <a:ext cx="802540" cy="37524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 err="1"/>
              <a:t>Diclofenac</a:t>
            </a:r>
            <a:endParaRPr lang="de-DE" sz="900" dirty="0"/>
          </a:p>
          <a:p>
            <a:pPr algn="ctr"/>
            <a:r>
              <a:rPr lang="de-DE" sz="900" dirty="0"/>
              <a:t>N=11</a:t>
            </a:r>
          </a:p>
        </p:txBody>
      </p:sp>
      <p:sp>
        <p:nvSpPr>
          <p:cNvPr id="95" name="Rechteck 94">
            <a:extLst>
              <a:ext uri="{FF2B5EF4-FFF2-40B4-BE49-F238E27FC236}">
                <a16:creationId xmlns:a16="http://schemas.microsoft.com/office/drawing/2014/main" id="{1B60BE6D-9A38-94E7-6831-D1061086C90F}"/>
              </a:ext>
            </a:extLst>
          </p:cNvPr>
          <p:cNvSpPr/>
          <p:nvPr/>
        </p:nvSpPr>
        <p:spPr>
          <a:xfrm>
            <a:off x="5003945" y="3229372"/>
            <a:ext cx="802535" cy="37524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/>
              <a:t>Ibuprofen</a:t>
            </a:r>
          </a:p>
          <a:p>
            <a:pPr algn="ctr"/>
            <a:r>
              <a:rPr lang="de-DE" sz="900" dirty="0"/>
              <a:t>N=2</a:t>
            </a:r>
          </a:p>
        </p:txBody>
      </p:sp>
      <p:sp>
        <p:nvSpPr>
          <p:cNvPr id="96" name="Rechteck 95">
            <a:extLst>
              <a:ext uri="{FF2B5EF4-FFF2-40B4-BE49-F238E27FC236}">
                <a16:creationId xmlns:a16="http://schemas.microsoft.com/office/drawing/2014/main" id="{B21E89D5-DDE7-DAFD-B44C-782436EE1E0B}"/>
              </a:ext>
            </a:extLst>
          </p:cNvPr>
          <p:cNvSpPr/>
          <p:nvPr/>
        </p:nvSpPr>
        <p:spPr>
          <a:xfrm>
            <a:off x="5899978" y="3229372"/>
            <a:ext cx="802535" cy="37524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/>
              <a:t>Paracetamol</a:t>
            </a:r>
          </a:p>
          <a:p>
            <a:pPr algn="ctr"/>
            <a:r>
              <a:rPr lang="de-DE" sz="900" dirty="0"/>
              <a:t>N=5</a:t>
            </a:r>
          </a:p>
        </p:txBody>
      </p:sp>
      <p:sp>
        <p:nvSpPr>
          <p:cNvPr id="97" name="Rechteck 96">
            <a:extLst>
              <a:ext uri="{FF2B5EF4-FFF2-40B4-BE49-F238E27FC236}">
                <a16:creationId xmlns:a16="http://schemas.microsoft.com/office/drawing/2014/main" id="{B28F24CA-35A5-50E1-405D-5A630ECE92D3}"/>
              </a:ext>
            </a:extLst>
          </p:cNvPr>
          <p:cNvSpPr/>
          <p:nvPr/>
        </p:nvSpPr>
        <p:spPr>
          <a:xfrm>
            <a:off x="4436536" y="3749206"/>
            <a:ext cx="473915" cy="26414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500" dirty="0">
                <a:solidFill>
                  <a:schemeClr val="bg1"/>
                </a:solidFill>
              </a:rPr>
              <a:t>Epidermal </a:t>
            </a:r>
            <a:r>
              <a:rPr lang="de-DE" sz="500" dirty="0" err="1">
                <a:solidFill>
                  <a:schemeClr val="bg1"/>
                </a:solidFill>
              </a:rPr>
              <a:t>reaction</a:t>
            </a:r>
            <a:endParaRPr lang="de-DE" sz="500" dirty="0">
              <a:solidFill>
                <a:schemeClr val="bg1"/>
              </a:solidFill>
            </a:endParaRPr>
          </a:p>
          <a:p>
            <a:pPr algn="ctr"/>
            <a:r>
              <a:rPr lang="de-DE" sz="500" dirty="0">
                <a:solidFill>
                  <a:schemeClr val="bg1"/>
                </a:solidFill>
              </a:rPr>
              <a:t>N=2</a:t>
            </a:r>
          </a:p>
        </p:txBody>
      </p:sp>
      <p:sp>
        <p:nvSpPr>
          <p:cNvPr id="98" name="Rechteck 97">
            <a:extLst>
              <a:ext uri="{FF2B5EF4-FFF2-40B4-BE49-F238E27FC236}">
                <a16:creationId xmlns:a16="http://schemas.microsoft.com/office/drawing/2014/main" id="{50FA06E5-116B-C41E-99E7-D2BE804FB896}"/>
              </a:ext>
            </a:extLst>
          </p:cNvPr>
          <p:cNvSpPr/>
          <p:nvPr/>
        </p:nvSpPr>
        <p:spPr>
          <a:xfrm>
            <a:off x="4434338" y="4072295"/>
            <a:ext cx="473915" cy="26414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 dirty="0" err="1"/>
              <a:t>hepatotoxicity</a:t>
            </a:r>
            <a:endParaRPr lang="de-DE" sz="600" dirty="0"/>
          </a:p>
          <a:p>
            <a:pPr algn="ctr"/>
            <a:r>
              <a:rPr lang="de-DE" sz="600" dirty="0"/>
              <a:t>N=9</a:t>
            </a:r>
          </a:p>
        </p:txBody>
      </p:sp>
      <p:sp>
        <p:nvSpPr>
          <p:cNvPr id="99" name="Rechteck 98">
            <a:extLst>
              <a:ext uri="{FF2B5EF4-FFF2-40B4-BE49-F238E27FC236}">
                <a16:creationId xmlns:a16="http://schemas.microsoft.com/office/drawing/2014/main" id="{EDFDDCFA-96D5-0275-E8D6-C52F4B204B25}"/>
              </a:ext>
            </a:extLst>
          </p:cNvPr>
          <p:cNvSpPr/>
          <p:nvPr/>
        </p:nvSpPr>
        <p:spPr>
          <a:xfrm>
            <a:off x="5339382" y="4072295"/>
            <a:ext cx="473915" cy="26414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 dirty="0" err="1"/>
              <a:t>hepatotoxicity</a:t>
            </a:r>
            <a:endParaRPr lang="de-DE" sz="600" dirty="0"/>
          </a:p>
          <a:p>
            <a:pPr algn="ctr"/>
            <a:r>
              <a:rPr lang="de-DE" sz="600" dirty="0"/>
              <a:t>N=2</a:t>
            </a:r>
          </a:p>
        </p:txBody>
      </p:sp>
      <p:sp>
        <p:nvSpPr>
          <p:cNvPr id="100" name="Rechteck 99">
            <a:extLst>
              <a:ext uri="{FF2B5EF4-FFF2-40B4-BE49-F238E27FC236}">
                <a16:creationId xmlns:a16="http://schemas.microsoft.com/office/drawing/2014/main" id="{5EAE96FA-31EB-1929-5DF3-8B2926FFD39B}"/>
              </a:ext>
            </a:extLst>
          </p:cNvPr>
          <p:cNvSpPr/>
          <p:nvPr/>
        </p:nvSpPr>
        <p:spPr>
          <a:xfrm>
            <a:off x="6208113" y="4072295"/>
            <a:ext cx="473915" cy="26414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 dirty="0" err="1"/>
              <a:t>hepatotoxicity</a:t>
            </a:r>
            <a:endParaRPr lang="de-DE" sz="600" dirty="0"/>
          </a:p>
          <a:p>
            <a:pPr algn="ctr"/>
            <a:r>
              <a:rPr lang="de-DE" sz="600" dirty="0"/>
              <a:t>N=5</a:t>
            </a:r>
          </a:p>
        </p:txBody>
      </p:sp>
      <p:cxnSp>
        <p:nvCxnSpPr>
          <p:cNvPr id="101" name="Gerade Verbindung mit Pfeil 100">
            <a:extLst>
              <a:ext uri="{FF2B5EF4-FFF2-40B4-BE49-F238E27FC236}">
                <a16:creationId xmlns:a16="http://schemas.microsoft.com/office/drawing/2014/main" id="{0BFF6206-729D-D2FD-3CF4-E1AFBFF7AC5B}"/>
              </a:ext>
            </a:extLst>
          </p:cNvPr>
          <p:cNvCxnSpPr>
            <a:cxnSpLocks/>
          </p:cNvCxnSpPr>
          <p:nvPr/>
        </p:nvCxnSpPr>
        <p:spPr>
          <a:xfrm>
            <a:off x="4518118" y="3059041"/>
            <a:ext cx="0" cy="1719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Gerade Verbindung mit Pfeil 101">
            <a:extLst>
              <a:ext uri="{FF2B5EF4-FFF2-40B4-BE49-F238E27FC236}">
                <a16:creationId xmlns:a16="http://schemas.microsoft.com/office/drawing/2014/main" id="{3BDD8296-A00B-A178-2BE1-3A7405C650A2}"/>
              </a:ext>
            </a:extLst>
          </p:cNvPr>
          <p:cNvCxnSpPr>
            <a:cxnSpLocks/>
          </p:cNvCxnSpPr>
          <p:nvPr/>
        </p:nvCxnSpPr>
        <p:spPr>
          <a:xfrm>
            <a:off x="5373329" y="2956033"/>
            <a:ext cx="0" cy="2749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Gerade Verbindung mit Pfeil 102">
            <a:extLst>
              <a:ext uri="{FF2B5EF4-FFF2-40B4-BE49-F238E27FC236}">
                <a16:creationId xmlns:a16="http://schemas.microsoft.com/office/drawing/2014/main" id="{48840D14-3E3F-8D45-3C4A-E22207B537C6}"/>
              </a:ext>
            </a:extLst>
          </p:cNvPr>
          <p:cNvCxnSpPr>
            <a:cxnSpLocks/>
            <a:endCxn id="96" idx="0"/>
          </p:cNvCxnSpPr>
          <p:nvPr/>
        </p:nvCxnSpPr>
        <p:spPr>
          <a:xfrm>
            <a:off x="6301246" y="3059041"/>
            <a:ext cx="0" cy="1703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Gerader Verbinder 103">
            <a:extLst>
              <a:ext uri="{FF2B5EF4-FFF2-40B4-BE49-F238E27FC236}">
                <a16:creationId xmlns:a16="http://schemas.microsoft.com/office/drawing/2014/main" id="{64AA87DF-3ED7-8B48-F4B0-B81ED456CEDA}"/>
              </a:ext>
            </a:extLst>
          </p:cNvPr>
          <p:cNvCxnSpPr>
            <a:cxnSpLocks/>
          </p:cNvCxnSpPr>
          <p:nvPr/>
        </p:nvCxnSpPr>
        <p:spPr>
          <a:xfrm>
            <a:off x="4518118" y="3059041"/>
            <a:ext cx="17831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Gerade Verbindung mit Pfeil 104">
            <a:extLst>
              <a:ext uri="{FF2B5EF4-FFF2-40B4-BE49-F238E27FC236}">
                <a16:creationId xmlns:a16="http://schemas.microsoft.com/office/drawing/2014/main" id="{A56F395E-3D45-66AB-4C96-D38AC55060FB}"/>
              </a:ext>
            </a:extLst>
          </p:cNvPr>
          <p:cNvCxnSpPr>
            <a:cxnSpLocks/>
          </p:cNvCxnSpPr>
          <p:nvPr/>
        </p:nvCxnSpPr>
        <p:spPr>
          <a:xfrm>
            <a:off x="4275588" y="4219565"/>
            <a:ext cx="1587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Gerade Verbindung mit Pfeil 105">
            <a:extLst>
              <a:ext uri="{FF2B5EF4-FFF2-40B4-BE49-F238E27FC236}">
                <a16:creationId xmlns:a16="http://schemas.microsoft.com/office/drawing/2014/main" id="{E692B907-AE5B-331D-E722-3A516D0AC551}"/>
              </a:ext>
            </a:extLst>
          </p:cNvPr>
          <p:cNvCxnSpPr>
            <a:cxnSpLocks/>
          </p:cNvCxnSpPr>
          <p:nvPr/>
        </p:nvCxnSpPr>
        <p:spPr>
          <a:xfrm>
            <a:off x="4277785" y="3888516"/>
            <a:ext cx="1587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Gerader Verbinder 106">
            <a:extLst>
              <a:ext uri="{FF2B5EF4-FFF2-40B4-BE49-F238E27FC236}">
                <a16:creationId xmlns:a16="http://schemas.microsoft.com/office/drawing/2014/main" id="{F36BADE9-7FEC-16F3-82B4-9BF9931CB493}"/>
              </a:ext>
            </a:extLst>
          </p:cNvPr>
          <p:cNvCxnSpPr>
            <a:cxnSpLocks/>
          </p:cNvCxnSpPr>
          <p:nvPr/>
        </p:nvCxnSpPr>
        <p:spPr>
          <a:xfrm flipV="1">
            <a:off x="4277785" y="3593869"/>
            <a:ext cx="0" cy="6233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Gerade Verbindung mit Pfeil 107">
            <a:extLst>
              <a:ext uri="{FF2B5EF4-FFF2-40B4-BE49-F238E27FC236}">
                <a16:creationId xmlns:a16="http://schemas.microsoft.com/office/drawing/2014/main" id="{B544234C-CCDB-A57C-E682-4784664F5991}"/>
              </a:ext>
            </a:extLst>
          </p:cNvPr>
          <p:cNvCxnSpPr>
            <a:cxnSpLocks/>
          </p:cNvCxnSpPr>
          <p:nvPr/>
        </p:nvCxnSpPr>
        <p:spPr>
          <a:xfrm>
            <a:off x="5180632" y="4217190"/>
            <a:ext cx="1587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Gerader Verbinder 108">
            <a:extLst>
              <a:ext uri="{FF2B5EF4-FFF2-40B4-BE49-F238E27FC236}">
                <a16:creationId xmlns:a16="http://schemas.microsoft.com/office/drawing/2014/main" id="{2F8AC526-5846-87EB-AE6B-DCEF87C9CAD0}"/>
              </a:ext>
            </a:extLst>
          </p:cNvPr>
          <p:cNvCxnSpPr>
            <a:cxnSpLocks/>
          </p:cNvCxnSpPr>
          <p:nvPr/>
        </p:nvCxnSpPr>
        <p:spPr>
          <a:xfrm flipV="1">
            <a:off x="5182829" y="3591494"/>
            <a:ext cx="0" cy="625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Gerade Verbindung mit Pfeil 109">
            <a:extLst>
              <a:ext uri="{FF2B5EF4-FFF2-40B4-BE49-F238E27FC236}">
                <a16:creationId xmlns:a16="http://schemas.microsoft.com/office/drawing/2014/main" id="{D4DD93F2-D2D6-753D-F4A0-15C02FC9AD4D}"/>
              </a:ext>
            </a:extLst>
          </p:cNvPr>
          <p:cNvCxnSpPr>
            <a:cxnSpLocks/>
          </p:cNvCxnSpPr>
          <p:nvPr/>
        </p:nvCxnSpPr>
        <p:spPr>
          <a:xfrm>
            <a:off x="6049363" y="4217190"/>
            <a:ext cx="1587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Gerader Verbinder 110">
            <a:extLst>
              <a:ext uri="{FF2B5EF4-FFF2-40B4-BE49-F238E27FC236}">
                <a16:creationId xmlns:a16="http://schemas.microsoft.com/office/drawing/2014/main" id="{94FE36CB-44DB-B4A0-3147-18A500DFE85A}"/>
              </a:ext>
            </a:extLst>
          </p:cNvPr>
          <p:cNvCxnSpPr>
            <a:cxnSpLocks/>
          </p:cNvCxnSpPr>
          <p:nvPr/>
        </p:nvCxnSpPr>
        <p:spPr>
          <a:xfrm flipV="1">
            <a:off x="6049363" y="3591494"/>
            <a:ext cx="2197" cy="625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6736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496</Words>
  <Application>Microsoft Office PowerPoint</Application>
  <PresentationFormat>Breitbild</PresentationFormat>
  <Paragraphs>140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Symbol</vt:lpstr>
      <vt:lpstr>Office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lw-r</dc:creator>
  <cp:lastModifiedBy>lw-r</cp:lastModifiedBy>
  <cp:revision>1</cp:revision>
  <dcterms:created xsi:type="dcterms:W3CDTF">2024-09-26T21:25:40Z</dcterms:created>
  <dcterms:modified xsi:type="dcterms:W3CDTF">2024-09-26T21:25:57Z</dcterms:modified>
</cp:coreProperties>
</file>