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E32F18-34CD-24F5-55DA-CE5F4CC7DF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D95CE41-BC9B-D11E-F7E9-54F88528AF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5EF8873-A81A-1915-5849-DD08DB60B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29686-1391-48B6-8348-381ABFBD771A}" type="datetimeFigureOut">
              <a:rPr lang="de-DE" smtClean="0"/>
              <a:t>26.09.2024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68DEAC0-7F08-2902-0400-5660F2DE8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25835DA-59D5-C589-A2E2-11C47DE20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4441C-3718-42C6-9617-28B11C18112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18348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240F13-D210-629B-3379-588865AC1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57D6F7B-C223-9DC1-7C6C-49D882A6D9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B642E2B-DEC6-6659-78E6-CE878F155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29686-1391-48B6-8348-381ABFBD771A}" type="datetimeFigureOut">
              <a:rPr lang="de-DE" smtClean="0"/>
              <a:t>26.09.2024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704EE68-F89E-BA02-F175-76FF5FB0C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658878E-0B64-349E-9AB0-B815AC0B3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4441C-3718-42C6-9617-28B11C18112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3740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E6BC28-16F5-9E0B-1383-2637144AC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DBEF0CC-8A1C-EF4F-3E2B-8512DEA7BB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EB3D485-7197-0BCE-8518-934F169CC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29686-1391-48B6-8348-381ABFBD771A}" type="datetimeFigureOut">
              <a:rPr lang="de-DE" smtClean="0"/>
              <a:t>26.09.2024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16B4ED1-2597-C161-6AD5-29C988920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7553CA4-58AC-68E8-266F-F945A1F45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4441C-3718-42C6-9617-28B11C18112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95906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67BC2F0-EAF5-7645-9653-BE29E8CA2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031C442-9E3D-057A-915C-65AE82449A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D29DA64-AFAB-54FA-EC86-7ABB65D096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013DD9E-4723-B826-8346-8C77C5178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29686-1391-48B6-8348-381ABFBD771A}" type="datetimeFigureOut">
              <a:rPr lang="de-DE" smtClean="0"/>
              <a:t>26.09.2024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D555366-B974-4D56-886F-2AE12986E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7BFD661-DDB0-5A0A-D10D-B7CBDEB39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4441C-3718-42C6-9617-28B11C18112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46579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A6764F-2610-CFB8-5B18-626A2B1C8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6023E54-18F6-F294-2B83-83EA57363B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E91B192-01B6-C3F0-41EB-086D15BA31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D3A53C5-B15B-6261-9A2C-013F603E31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0853BF9-95D7-C852-09E3-A6E7E3A0BA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3F3A3625-9DA2-4284-C3BF-60173E7FC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29686-1391-48B6-8348-381ABFBD771A}" type="datetimeFigureOut">
              <a:rPr lang="de-DE" smtClean="0"/>
              <a:t>26.09.2024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7A63AD80-D34B-9EEF-D0B9-F747D0488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0F8B2BE-D083-28E1-9AC2-58D03333B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4441C-3718-42C6-9617-28B11C18112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0536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D5A258-CCE3-05E5-7C8A-F8EA8455D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C67AF22-09BE-6940-8BA6-5723ECC9A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29686-1391-48B6-8348-381ABFBD771A}" type="datetimeFigureOut">
              <a:rPr lang="de-DE" smtClean="0"/>
              <a:t>26.09.2024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AEAA8A9-E11F-255B-F572-FDC5D8FC8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4FE9452-6A3E-B779-549C-991F5A44F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4441C-3718-42C6-9617-28B11C18112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664810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D5C9279-8F23-F873-62F8-E3A29F8CC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29686-1391-48B6-8348-381ABFBD771A}" type="datetimeFigureOut">
              <a:rPr lang="de-DE" smtClean="0"/>
              <a:t>26.09.2024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1B2A39F-2F80-4FC8-86B4-2DED9CF12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E1F8994-7E29-119F-20DC-C2EFCCA72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4441C-3718-42C6-9617-28B11C18112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84245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509C7C-70A9-7B7C-FD0B-A57941F1F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CB026E7-CBF7-5429-11E0-27E25700E5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A9C3A35-77D8-1510-1EA3-95822B406A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43065E8-45A0-11CB-498E-C3F3200AC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29686-1391-48B6-8348-381ABFBD771A}" type="datetimeFigureOut">
              <a:rPr lang="de-DE" smtClean="0"/>
              <a:t>26.09.2024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BDB1B73-76C9-3A8A-B31B-7F504AEDC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B9CD023-6AB7-71A2-DAB7-F642CD307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4441C-3718-42C6-9617-28B11C18112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371638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478D53-55EA-0ABA-0CCC-60729BA46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3271DA60-336B-EF52-5EA7-92E9701BBF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5B511B6-1900-F536-1756-4627EADA22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FE62A0B-BAD5-D350-6057-B5F3095CF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29686-1391-48B6-8348-381ABFBD771A}" type="datetimeFigureOut">
              <a:rPr lang="de-DE" smtClean="0"/>
              <a:t>26.09.2024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CD2A17B-E551-3E30-52E9-7402ED549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38048DA-3399-D745-5E60-3734C8F5C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4441C-3718-42C6-9617-28B11C18112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275502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E248F3-9F4C-C14A-2579-79F14D6AA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FF17109-445B-8DA2-8444-C2E9195E27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E686D57-ACAD-8989-309F-D80652BDF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29686-1391-48B6-8348-381ABFBD771A}" type="datetimeFigureOut">
              <a:rPr lang="de-DE" smtClean="0"/>
              <a:t>26.09.2024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1B30084-ABB6-10BD-7F15-FE38C1124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07E46A7-AE62-7BF5-F3F8-4CB565B1C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4441C-3718-42C6-9617-28B11C18112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79183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E9301961-4CB9-7EAB-80A5-42E5431752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A6A95BD-C1F0-8DB4-B8CF-302E6B29FB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605C579-B4F5-5ABF-0C51-71B102D0A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29686-1391-48B6-8348-381ABFBD771A}" type="datetimeFigureOut">
              <a:rPr lang="de-DE" smtClean="0"/>
              <a:t>26.09.2024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E76E04A-1CE5-A097-2C43-53E41ACC9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8CD53BB-E0A4-4B6F-A7DF-812081C30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4441C-3718-42C6-9617-28B11C18112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06008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4A14858-8480-32F9-371D-EB20252F0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3C8E1DF-3BC5-81C0-5446-83C5ABE995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6A028D2-5933-FB99-B64D-91C3939358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429686-1391-48B6-8348-381ABFBD771A}" type="datetimeFigureOut">
              <a:rPr lang="de-DE" smtClean="0"/>
              <a:t>26.09.2024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5FAF6A4-0EB9-0A69-00F9-0D996F81F3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9358A09-06D0-06AC-C1A6-5F3FB4979F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04441C-3718-42C6-9617-28B11C18112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39471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6.png"/><Relationship Id="rId4" Type="http://schemas.openxmlformats.org/officeDocument/2006/relationships/image" Target="../media/image8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0.png"/><Relationship Id="rId4" Type="http://schemas.openxmlformats.org/officeDocument/2006/relationships/image" Target="../media/image8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0.png"/><Relationship Id="rId5" Type="http://schemas.openxmlformats.org/officeDocument/2006/relationships/image" Target="../media/image99.png"/><Relationship Id="rId4" Type="http://schemas.openxmlformats.org/officeDocument/2006/relationships/image" Target="../media/image9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A067DAD9-1A77-073D-9F95-692DFDCD54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7264491"/>
              </p:ext>
            </p:extLst>
          </p:nvPr>
        </p:nvGraphicFramePr>
        <p:xfrm>
          <a:off x="6707035" y="0"/>
          <a:ext cx="5484965" cy="1202429"/>
        </p:xfrm>
        <a:graphic>
          <a:graphicData uri="http://schemas.openxmlformats.org/drawingml/2006/table">
            <a:tbl>
              <a:tblPr/>
              <a:tblGrid>
                <a:gridCol w="1096993">
                  <a:extLst>
                    <a:ext uri="{9D8B030D-6E8A-4147-A177-3AD203B41FA5}">
                      <a16:colId xmlns:a16="http://schemas.microsoft.com/office/drawing/2014/main" val="2833132635"/>
                    </a:ext>
                  </a:extLst>
                </a:gridCol>
                <a:gridCol w="1096993">
                  <a:extLst>
                    <a:ext uri="{9D8B030D-6E8A-4147-A177-3AD203B41FA5}">
                      <a16:colId xmlns:a16="http://schemas.microsoft.com/office/drawing/2014/main" val="4254826524"/>
                    </a:ext>
                  </a:extLst>
                </a:gridCol>
                <a:gridCol w="1096993">
                  <a:extLst>
                    <a:ext uri="{9D8B030D-6E8A-4147-A177-3AD203B41FA5}">
                      <a16:colId xmlns:a16="http://schemas.microsoft.com/office/drawing/2014/main" val="3616723979"/>
                    </a:ext>
                  </a:extLst>
                </a:gridCol>
                <a:gridCol w="1096993">
                  <a:extLst>
                    <a:ext uri="{9D8B030D-6E8A-4147-A177-3AD203B41FA5}">
                      <a16:colId xmlns:a16="http://schemas.microsoft.com/office/drawing/2014/main" val="307181596"/>
                    </a:ext>
                  </a:extLst>
                </a:gridCol>
                <a:gridCol w="1096993">
                  <a:extLst>
                    <a:ext uri="{9D8B030D-6E8A-4147-A177-3AD203B41FA5}">
                      <a16:colId xmlns:a16="http://schemas.microsoft.com/office/drawing/2014/main" val="2531155129"/>
                    </a:ext>
                  </a:extLst>
                </a:gridCol>
              </a:tblGrid>
              <a:tr h="627104">
                <a:tc>
                  <a:txBody>
                    <a:bodyPr/>
                    <a:lstStyle/>
                    <a:p>
                      <a:pPr algn="l"/>
                      <a:r>
                        <a:rPr lang="de-DE">
                          <a:effectLst/>
                        </a:rPr>
                        <a:t>variable</a:t>
                      </a:r>
                    </a:p>
                    <a:p>
                      <a:pPr algn="l"/>
                      <a:r>
                        <a:rPr lang="de-DE" b="0">
                          <a:effectLst/>
                        </a:rPr>
                        <a:t>&lt;chr&gt;</a:t>
                      </a:r>
                    </a:p>
                  </a:txBody>
                  <a:tcPr marL="57150" marR="57150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>
                          <a:effectLst/>
                        </a:rPr>
                        <a:t>gender</a:t>
                      </a:r>
                    </a:p>
                    <a:p>
                      <a:pPr algn="l"/>
                      <a:r>
                        <a:rPr lang="de-DE" b="0">
                          <a:effectLst/>
                        </a:rPr>
                        <a:t>&lt;chr&gt;</a:t>
                      </a:r>
                    </a:p>
                  </a:txBody>
                  <a:tcPr marL="57150" marR="57150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>
                          <a:effectLst/>
                        </a:rPr>
                        <a:t>statistic</a:t>
                      </a:r>
                    </a:p>
                    <a:p>
                      <a:pPr algn="r"/>
                      <a:r>
                        <a:rPr lang="de-DE" b="0">
                          <a:effectLst/>
                        </a:rPr>
                        <a:t>&lt;dbl&gt;</a:t>
                      </a:r>
                    </a:p>
                  </a:txBody>
                  <a:tcPr marL="57150" marR="57150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dirty="0" err="1">
                          <a:effectLst/>
                        </a:rPr>
                        <a:t>p_value</a:t>
                      </a:r>
                      <a:endParaRPr lang="de-DE" dirty="0">
                        <a:effectLst/>
                      </a:endParaRPr>
                    </a:p>
                    <a:p>
                      <a:pPr algn="r"/>
                      <a:r>
                        <a:rPr lang="de-DE" b="0" dirty="0">
                          <a:effectLst/>
                        </a:rPr>
                        <a:t>&lt;</a:t>
                      </a:r>
                      <a:r>
                        <a:rPr lang="de-DE" b="0" dirty="0" err="1">
                          <a:effectLst/>
                        </a:rPr>
                        <a:t>dbl</a:t>
                      </a:r>
                      <a:r>
                        <a:rPr lang="de-DE" b="0" dirty="0">
                          <a:effectLst/>
                        </a:rPr>
                        <a:t>&gt;</a:t>
                      </a:r>
                    </a:p>
                  </a:txBody>
                  <a:tcPr marL="57150" marR="57150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>
                          <a:effectLst/>
                        </a:rPr>
                        <a:t>sample</a:t>
                      </a:r>
                    </a:p>
                    <a:p>
                      <a:pPr algn="r"/>
                      <a:r>
                        <a:rPr lang="de-DE" b="0">
                          <a:effectLst/>
                        </a:rPr>
                        <a:t>&lt;dbl&gt;</a:t>
                      </a:r>
                    </a:p>
                  </a:txBody>
                  <a:tcPr marL="57150" marR="57150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1649840"/>
                  </a:ext>
                </a:extLst>
              </a:tr>
              <a:tr h="191775"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labreads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Female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0.7930576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5.022242e-11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108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7998128"/>
                  </a:ext>
                </a:extLst>
              </a:tr>
              <a:tr h="191775"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labreads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Male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0.7282622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3.593002e-11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84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5781922"/>
                  </a:ext>
                </a:extLst>
              </a:tr>
              <a:tr h="191775"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labreads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Unknown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0.7506731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2.022462e-02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 dirty="0">
                          <a:effectLst/>
                        </a:rPr>
                        <a:t>6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0831945"/>
                  </a:ext>
                </a:extLst>
              </a:tr>
            </a:tbl>
          </a:graphicData>
        </a:graphic>
      </p:graphicFrame>
      <p:pic>
        <p:nvPicPr>
          <p:cNvPr id="5" name="Grafik 4">
            <a:extLst>
              <a:ext uri="{FF2B5EF4-FFF2-40B4-BE49-F238E27FC236}">
                <a16:creationId xmlns:a16="http://schemas.microsoft.com/office/drawing/2014/main" id="{986EAA57-218D-A76E-0221-96C1D81B4B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909" y="523219"/>
            <a:ext cx="5345057" cy="3297845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B799BC3D-A3E1-C7D1-2710-5F8791A64620}"/>
              </a:ext>
            </a:extLst>
          </p:cNvPr>
          <p:cNvSpPr txBox="1"/>
          <p:nvPr/>
        </p:nvSpPr>
        <p:spPr>
          <a:xfrm>
            <a:off x="2691442" y="0"/>
            <a:ext cx="6921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/>
              <a:t>ALT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7C860565-6C07-D170-5A3A-1987BDB39C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1902" y="1258183"/>
            <a:ext cx="4825311" cy="2808947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01568FA7-88CF-28F0-BC84-9E3469AB3D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3184" y="4063100"/>
            <a:ext cx="4825311" cy="2794899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88044B0D-CE0A-C150-7033-7C41B5A94F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06" y="3837643"/>
            <a:ext cx="4895310" cy="3020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5608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0A269864-474B-CF67-9D74-FC1F2FA127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9827556"/>
              </p:ext>
            </p:extLst>
          </p:nvPr>
        </p:nvGraphicFramePr>
        <p:xfrm>
          <a:off x="6696975" y="0"/>
          <a:ext cx="5495025" cy="1194435"/>
        </p:xfrm>
        <a:graphic>
          <a:graphicData uri="http://schemas.openxmlformats.org/drawingml/2006/table">
            <a:tbl>
              <a:tblPr/>
              <a:tblGrid>
                <a:gridCol w="1099005">
                  <a:extLst>
                    <a:ext uri="{9D8B030D-6E8A-4147-A177-3AD203B41FA5}">
                      <a16:colId xmlns:a16="http://schemas.microsoft.com/office/drawing/2014/main" val="1915113561"/>
                    </a:ext>
                  </a:extLst>
                </a:gridCol>
                <a:gridCol w="1099005">
                  <a:extLst>
                    <a:ext uri="{9D8B030D-6E8A-4147-A177-3AD203B41FA5}">
                      <a16:colId xmlns:a16="http://schemas.microsoft.com/office/drawing/2014/main" val="1623741077"/>
                    </a:ext>
                  </a:extLst>
                </a:gridCol>
                <a:gridCol w="1099005">
                  <a:extLst>
                    <a:ext uri="{9D8B030D-6E8A-4147-A177-3AD203B41FA5}">
                      <a16:colId xmlns:a16="http://schemas.microsoft.com/office/drawing/2014/main" val="750460644"/>
                    </a:ext>
                  </a:extLst>
                </a:gridCol>
                <a:gridCol w="1099005">
                  <a:extLst>
                    <a:ext uri="{9D8B030D-6E8A-4147-A177-3AD203B41FA5}">
                      <a16:colId xmlns:a16="http://schemas.microsoft.com/office/drawing/2014/main" val="433490278"/>
                    </a:ext>
                  </a:extLst>
                </a:gridCol>
                <a:gridCol w="1099005">
                  <a:extLst>
                    <a:ext uri="{9D8B030D-6E8A-4147-A177-3AD203B41FA5}">
                      <a16:colId xmlns:a16="http://schemas.microsoft.com/office/drawing/2014/main" val="3518044642"/>
                    </a:ext>
                  </a:extLst>
                </a:gridCol>
              </a:tblGrid>
              <a:tr h="620854">
                <a:tc>
                  <a:txBody>
                    <a:bodyPr/>
                    <a:lstStyle/>
                    <a:p>
                      <a:pPr algn="l"/>
                      <a:r>
                        <a:rPr lang="de-DE">
                          <a:effectLst/>
                        </a:rPr>
                        <a:t>variable</a:t>
                      </a:r>
                    </a:p>
                    <a:p>
                      <a:pPr algn="l"/>
                      <a:r>
                        <a:rPr lang="de-DE" b="0">
                          <a:effectLst/>
                        </a:rPr>
                        <a:t>&lt;chr&gt;</a:t>
                      </a:r>
                    </a:p>
                  </a:txBody>
                  <a:tcPr marL="57150" marR="57150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>
                          <a:effectLst/>
                        </a:rPr>
                        <a:t>gender</a:t>
                      </a:r>
                    </a:p>
                    <a:p>
                      <a:pPr algn="l"/>
                      <a:r>
                        <a:rPr lang="de-DE" b="0">
                          <a:effectLst/>
                        </a:rPr>
                        <a:t>&lt;chr&gt;</a:t>
                      </a:r>
                    </a:p>
                  </a:txBody>
                  <a:tcPr marL="57150" marR="57150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>
                          <a:effectLst/>
                        </a:rPr>
                        <a:t>statistic</a:t>
                      </a:r>
                    </a:p>
                    <a:p>
                      <a:pPr algn="r"/>
                      <a:r>
                        <a:rPr lang="de-DE" b="0">
                          <a:effectLst/>
                        </a:rPr>
                        <a:t>&lt;dbl&gt;</a:t>
                      </a:r>
                    </a:p>
                  </a:txBody>
                  <a:tcPr marL="57150" marR="57150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>
                          <a:effectLst/>
                        </a:rPr>
                        <a:t>p_value</a:t>
                      </a:r>
                    </a:p>
                    <a:p>
                      <a:pPr algn="r"/>
                      <a:r>
                        <a:rPr lang="de-DE" b="0">
                          <a:effectLst/>
                        </a:rPr>
                        <a:t>&lt;dbl&gt;</a:t>
                      </a:r>
                    </a:p>
                  </a:txBody>
                  <a:tcPr marL="57150" marR="57150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>
                          <a:effectLst/>
                        </a:rPr>
                        <a:t>sample</a:t>
                      </a:r>
                    </a:p>
                    <a:p>
                      <a:pPr algn="r"/>
                      <a:r>
                        <a:rPr lang="de-DE" b="0">
                          <a:effectLst/>
                        </a:rPr>
                        <a:t>&lt;dbl&gt;</a:t>
                      </a:r>
                    </a:p>
                  </a:txBody>
                  <a:tcPr marL="57150" marR="57150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5849825"/>
                  </a:ext>
                </a:extLst>
              </a:tr>
              <a:tr h="189864"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labreads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Female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 dirty="0">
                          <a:effectLst/>
                        </a:rPr>
                        <a:t>0.6390150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1.788699e-14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102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5133455"/>
                  </a:ext>
                </a:extLst>
              </a:tr>
              <a:tr h="189864"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labreads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Male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0.2601560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2.177545e-19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92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1721289"/>
                  </a:ext>
                </a:extLst>
              </a:tr>
              <a:tr h="189864"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labreads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Unknown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0.8668231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2.537967e-01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 dirty="0">
                          <a:effectLst/>
                        </a:rPr>
                        <a:t>5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4106887"/>
                  </a:ext>
                </a:extLst>
              </a:tr>
            </a:tbl>
          </a:graphicData>
        </a:graphic>
      </p:graphicFrame>
      <p:pic>
        <p:nvPicPr>
          <p:cNvPr id="5" name="Grafik 4">
            <a:extLst>
              <a:ext uri="{FF2B5EF4-FFF2-40B4-BE49-F238E27FC236}">
                <a16:creationId xmlns:a16="http://schemas.microsoft.com/office/drawing/2014/main" id="{34D9578A-D2D4-6429-4918-6D3AD7071A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597217"/>
            <a:ext cx="5624423" cy="3470210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D14501AC-7A0F-52C4-58EB-8B47E61B809D}"/>
              </a:ext>
            </a:extLst>
          </p:cNvPr>
          <p:cNvSpPr txBox="1"/>
          <p:nvPr/>
        </p:nvSpPr>
        <p:spPr>
          <a:xfrm>
            <a:off x="2691442" y="0"/>
            <a:ext cx="7304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/>
              <a:t>AST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12ABE827-4D83-A50A-2C97-1DF3096C3A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636" y="4016702"/>
            <a:ext cx="4622528" cy="2841298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B1A2FF51-749C-C319-E5C5-7B5B47B3FA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2672" y="3846705"/>
            <a:ext cx="4872692" cy="3011295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83809207-6F14-876A-75D7-AFC24F4ABC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5366" y="1194435"/>
            <a:ext cx="4449998" cy="260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4706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le 1">
            <a:extLst>
              <a:ext uri="{FF2B5EF4-FFF2-40B4-BE49-F238E27FC236}">
                <a16:creationId xmlns:a16="http://schemas.microsoft.com/office/drawing/2014/main" id="{A231DB37-BF14-CF6F-F3AC-05C59E0A1F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8317973"/>
              </p:ext>
            </p:extLst>
          </p:nvPr>
        </p:nvGraphicFramePr>
        <p:xfrm>
          <a:off x="6096000" y="0"/>
          <a:ext cx="6096000" cy="1003935"/>
        </p:xfrm>
        <a:graphic>
          <a:graphicData uri="http://schemas.openxmlformats.org/drawingml/2006/table">
            <a:tbl>
              <a:tblPr/>
              <a:tblGrid>
                <a:gridCol w="1219200">
                  <a:extLst>
                    <a:ext uri="{9D8B030D-6E8A-4147-A177-3AD203B41FA5}">
                      <a16:colId xmlns:a16="http://schemas.microsoft.com/office/drawing/2014/main" val="140665778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4287862795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411002398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428386811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1411656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de-DE">
                          <a:effectLst/>
                        </a:rPr>
                        <a:t>variable</a:t>
                      </a:r>
                    </a:p>
                    <a:p>
                      <a:pPr algn="l"/>
                      <a:r>
                        <a:rPr lang="de-DE" b="0">
                          <a:effectLst/>
                        </a:rPr>
                        <a:t>&lt;chr&gt;</a:t>
                      </a:r>
                    </a:p>
                  </a:txBody>
                  <a:tcPr marL="57150" marR="57150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>
                          <a:effectLst/>
                        </a:rPr>
                        <a:t>gender</a:t>
                      </a:r>
                    </a:p>
                    <a:p>
                      <a:pPr algn="l"/>
                      <a:r>
                        <a:rPr lang="de-DE" b="0">
                          <a:effectLst/>
                        </a:rPr>
                        <a:t>&lt;chr&gt;</a:t>
                      </a:r>
                    </a:p>
                  </a:txBody>
                  <a:tcPr marL="57150" marR="57150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>
                          <a:effectLst/>
                        </a:rPr>
                        <a:t>statistic</a:t>
                      </a:r>
                    </a:p>
                    <a:p>
                      <a:pPr algn="r"/>
                      <a:r>
                        <a:rPr lang="de-DE" b="0">
                          <a:effectLst/>
                        </a:rPr>
                        <a:t>&lt;dbl&gt;</a:t>
                      </a:r>
                    </a:p>
                  </a:txBody>
                  <a:tcPr marL="57150" marR="57150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>
                          <a:effectLst/>
                        </a:rPr>
                        <a:t>p_value</a:t>
                      </a:r>
                    </a:p>
                    <a:p>
                      <a:pPr algn="r"/>
                      <a:r>
                        <a:rPr lang="de-DE" b="0">
                          <a:effectLst/>
                        </a:rPr>
                        <a:t>&lt;dbl&gt;</a:t>
                      </a:r>
                    </a:p>
                  </a:txBody>
                  <a:tcPr marL="57150" marR="57150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>
                          <a:effectLst/>
                        </a:rPr>
                        <a:t>sample</a:t>
                      </a:r>
                    </a:p>
                    <a:p>
                      <a:pPr algn="r"/>
                      <a:r>
                        <a:rPr lang="de-DE" b="0">
                          <a:effectLst/>
                        </a:rPr>
                        <a:t>&lt;dbl&gt;</a:t>
                      </a:r>
                    </a:p>
                  </a:txBody>
                  <a:tcPr marL="57150" marR="57150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65212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labreads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Female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0.9677362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0.860534803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5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88896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labreads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Male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0.7848556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0.003262458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 dirty="0">
                          <a:effectLst/>
                        </a:rPr>
                        <a:t>14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2513056"/>
                  </a:ext>
                </a:extLst>
              </a:tr>
            </a:tbl>
          </a:graphicData>
        </a:graphic>
      </p:graphicFrame>
      <p:sp>
        <p:nvSpPr>
          <p:cNvPr id="3" name="Textfeld 2">
            <a:extLst>
              <a:ext uri="{FF2B5EF4-FFF2-40B4-BE49-F238E27FC236}">
                <a16:creationId xmlns:a16="http://schemas.microsoft.com/office/drawing/2014/main" id="{37C7D7F3-9FB6-671F-B8EC-18C6A01BC526}"/>
              </a:ext>
            </a:extLst>
          </p:cNvPr>
          <p:cNvSpPr txBox="1"/>
          <p:nvPr/>
        </p:nvSpPr>
        <p:spPr>
          <a:xfrm>
            <a:off x="2691442" y="0"/>
            <a:ext cx="5613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/>
              <a:t>CK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F7F027F5-D62A-E4D9-A807-45FB456647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77" y="523220"/>
            <a:ext cx="6038824" cy="3725891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233548B2-FF58-A08E-5299-98F8906BF5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6242" y="3791338"/>
            <a:ext cx="5200380" cy="3066662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03F1A246-DE76-059C-19B6-8018855CDB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2619" y="1034099"/>
            <a:ext cx="4424003" cy="2729564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20C499AC-1FA1-30C3-AE37-D644CD3EE8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5378" y="4220690"/>
            <a:ext cx="4274479" cy="2637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7377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0B03C07F-9E3B-1AAA-DC6A-5C02310F56E3}"/>
              </a:ext>
            </a:extLst>
          </p:cNvPr>
          <p:cNvSpPr txBox="1"/>
          <p:nvPr/>
        </p:nvSpPr>
        <p:spPr>
          <a:xfrm>
            <a:off x="2691442" y="0"/>
            <a:ext cx="9605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/>
              <a:t>quick</a:t>
            </a:r>
          </a:p>
        </p:txBody>
      </p:sp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43447518-2B8B-DE27-6883-B34B29EC04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8761218"/>
              </p:ext>
            </p:extLst>
          </p:nvPr>
        </p:nvGraphicFramePr>
        <p:xfrm>
          <a:off x="5788324" y="0"/>
          <a:ext cx="6403675" cy="1194435"/>
        </p:xfrm>
        <a:graphic>
          <a:graphicData uri="http://schemas.openxmlformats.org/drawingml/2006/table">
            <a:tbl>
              <a:tblPr/>
              <a:tblGrid>
                <a:gridCol w="1280735">
                  <a:extLst>
                    <a:ext uri="{9D8B030D-6E8A-4147-A177-3AD203B41FA5}">
                      <a16:colId xmlns:a16="http://schemas.microsoft.com/office/drawing/2014/main" val="1664164488"/>
                    </a:ext>
                  </a:extLst>
                </a:gridCol>
                <a:gridCol w="1280735">
                  <a:extLst>
                    <a:ext uri="{9D8B030D-6E8A-4147-A177-3AD203B41FA5}">
                      <a16:colId xmlns:a16="http://schemas.microsoft.com/office/drawing/2014/main" val="48464314"/>
                    </a:ext>
                  </a:extLst>
                </a:gridCol>
                <a:gridCol w="1280735">
                  <a:extLst>
                    <a:ext uri="{9D8B030D-6E8A-4147-A177-3AD203B41FA5}">
                      <a16:colId xmlns:a16="http://schemas.microsoft.com/office/drawing/2014/main" val="2463715460"/>
                    </a:ext>
                  </a:extLst>
                </a:gridCol>
                <a:gridCol w="1280735">
                  <a:extLst>
                    <a:ext uri="{9D8B030D-6E8A-4147-A177-3AD203B41FA5}">
                      <a16:colId xmlns:a16="http://schemas.microsoft.com/office/drawing/2014/main" val="1180398198"/>
                    </a:ext>
                  </a:extLst>
                </a:gridCol>
                <a:gridCol w="1280735">
                  <a:extLst>
                    <a:ext uri="{9D8B030D-6E8A-4147-A177-3AD203B41FA5}">
                      <a16:colId xmlns:a16="http://schemas.microsoft.com/office/drawing/2014/main" val="33045533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de-DE">
                          <a:effectLst/>
                        </a:rPr>
                        <a:t>variable</a:t>
                      </a:r>
                    </a:p>
                    <a:p>
                      <a:pPr algn="l"/>
                      <a:r>
                        <a:rPr lang="de-DE" b="0">
                          <a:effectLst/>
                        </a:rPr>
                        <a:t>&lt;chr&gt;</a:t>
                      </a:r>
                    </a:p>
                  </a:txBody>
                  <a:tcPr marL="57150" marR="57150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>
                          <a:effectLst/>
                        </a:rPr>
                        <a:t>gender</a:t>
                      </a:r>
                    </a:p>
                    <a:p>
                      <a:pPr algn="l"/>
                      <a:r>
                        <a:rPr lang="de-DE" b="0">
                          <a:effectLst/>
                        </a:rPr>
                        <a:t>&lt;chr&gt;</a:t>
                      </a:r>
                    </a:p>
                  </a:txBody>
                  <a:tcPr marL="57150" marR="57150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>
                          <a:effectLst/>
                        </a:rPr>
                        <a:t>statistic</a:t>
                      </a:r>
                    </a:p>
                    <a:p>
                      <a:pPr algn="r"/>
                      <a:r>
                        <a:rPr lang="de-DE" b="0">
                          <a:effectLst/>
                        </a:rPr>
                        <a:t>&lt;dbl&gt;</a:t>
                      </a:r>
                    </a:p>
                  </a:txBody>
                  <a:tcPr marL="57150" marR="57150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>
                          <a:effectLst/>
                        </a:rPr>
                        <a:t>p_value</a:t>
                      </a:r>
                    </a:p>
                    <a:p>
                      <a:pPr algn="r"/>
                      <a:r>
                        <a:rPr lang="de-DE" b="0">
                          <a:effectLst/>
                        </a:rPr>
                        <a:t>&lt;dbl&gt;</a:t>
                      </a:r>
                    </a:p>
                  </a:txBody>
                  <a:tcPr marL="57150" marR="57150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>
                          <a:effectLst/>
                        </a:rPr>
                        <a:t>sample</a:t>
                      </a:r>
                    </a:p>
                    <a:p>
                      <a:pPr algn="r"/>
                      <a:r>
                        <a:rPr lang="de-DE" b="0">
                          <a:effectLst/>
                        </a:rPr>
                        <a:t>&lt;dbl&gt;</a:t>
                      </a:r>
                    </a:p>
                  </a:txBody>
                  <a:tcPr marL="57150" marR="57150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80849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labreads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Female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0.9210333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0.02514716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31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29240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labreads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Male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0.9614341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0.26759440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34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74536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labreads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Unknown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 i="1">
                          <a:effectLst/>
                        </a:rPr>
                        <a:t>NA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 i="1">
                          <a:effectLst/>
                        </a:rPr>
                        <a:t>NA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 dirty="0">
                          <a:effectLst/>
                        </a:rPr>
                        <a:t>2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1031985"/>
                  </a:ext>
                </a:extLst>
              </a:tr>
            </a:tbl>
          </a:graphicData>
        </a:graphic>
      </p:graphicFrame>
      <p:pic>
        <p:nvPicPr>
          <p:cNvPr id="6" name="Grafik 5">
            <a:extLst>
              <a:ext uri="{FF2B5EF4-FFF2-40B4-BE49-F238E27FC236}">
                <a16:creationId xmlns:a16="http://schemas.microsoft.com/office/drawing/2014/main" id="{9A036B49-52E1-3363-79F2-CE9CFCBAE3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523220"/>
            <a:ext cx="5486400" cy="3385052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CDBBDA6C-2BBA-B4BB-31D2-8DF242B6CE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4412" y="4028536"/>
            <a:ext cx="4585919" cy="2829464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1F97837D-866C-9A7D-FAA4-A124104839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6521" y="1276171"/>
            <a:ext cx="4314195" cy="2661813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12A86423-F4CE-F353-54EC-085D3A4B53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099" y="3899904"/>
            <a:ext cx="4794400" cy="295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5117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feld 5">
            <a:extLst>
              <a:ext uri="{FF2B5EF4-FFF2-40B4-BE49-F238E27FC236}">
                <a16:creationId xmlns:a16="http://schemas.microsoft.com/office/drawing/2014/main" id="{CD0388C4-A596-D9BC-8818-193233001BFB}"/>
              </a:ext>
            </a:extLst>
          </p:cNvPr>
          <p:cNvSpPr txBox="1"/>
          <p:nvPr/>
        </p:nvSpPr>
        <p:spPr>
          <a:xfrm>
            <a:off x="2691442" y="0"/>
            <a:ext cx="5886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 err="1"/>
              <a:t>Inr</a:t>
            </a:r>
            <a:endParaRPr lang="de-DE" sz="2800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58CE1EAA-1B54-20F4-6E99-474F98CCE6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8708" y="0"/>
            <a:ext cx="6343291" cy="1190625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FA1B49D5-5667-D3EE-A68A-343A5B2A24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650576"/>
            <a:ext cx="5538158" cy="3406633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4D752D41-B6AE-2C76-5AE9-DE2D5CB1C6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7230" y="1190625"/>
            <a:ext cx="5254475" cy="3241956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76C98D4B-F9FE-04B2-CBB3-C57FB9BA06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8112" y="4258262"/>
            <a:ext cx="4467585" cy="2599738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0D9C8BE9-18AD-B540-3BDE-58B7AA0901E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5661" y="4025868"/>
            <a:ext cx="4590241" cy="2832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0013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4C5CE5B9-64DB-1758-8F2E-391DAEA586EE}"/>
              </a:ext>
            </a:extLst>
          </p:cNvPr>
          <p:cNvSpPr txBox="1"/>
          <p:nvPr/>
        </p:nvSpPr>
        <p:spPr>
          <a:xfrm>
            <a:off x="2691442" y="0"/>
            <a:ext cx="6076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 err="1"/>
              <a:t>ptt</a:t>
            </a:r>
            <a:endParaRPr lang="de-DE" sz="2800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87AEC244-804E-DEE3-024C-756865A8A3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3434" y="0"/>
            <a:ext cx="6498566" cy="1200150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59641F93-E099-2C48-8577-72CD1F835D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23220"/>
            <a:ext cx="5503653" cy="3395696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F7300473-F6AC-A293-5689-1891B240D4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3915262"/>
            <a:ext cx="4769509" cy="2942737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55D0A07D-8E64-D19B-620D-3834BA7FC5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7793" y="1293423"/>
            <a:ext cx="4249406" cy="2621839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E731AA4B-960D-A33B-4FCF-04E635F187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7075" y="3915261"/>
            <a:ext cx="4769510" cy="2942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3529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198624D7-FD48-F68E-332C-56A854874C37}"/>
              </a:ext>
            </a:extLst>
          </p:cNvPr>
          <p:cNvSpPr txBox="1"/>
          <p:nvPr/>
        </p:nvSpPr>
        <p:spPr>
          <a:xfrm>
            <a:off x="2691442" y="0"/>
            <a:ext cx="17942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 err="1"/>
              <a:t>Leukocytes</a:t>
            </a:r>
            <a:endParaRPr lang="de-DE" sz="2800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21D864BE-6EC9-241A-B587-37691F374A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4313"/>
            <a:ext cx="6096000" cy="1504950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16816712-0CB6-190C-EC62-7FA2E5C182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23220"/>
            <a:ext cx="5417389" cy="3342472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A52E3F02-9878-2C65-3725-FD9E9A629D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9921" y="4201064"/>
            <a:ext cx="4306290" cy="2656936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21F6D2F5-4EF8-8FF1-3AB1-C9E967BA3E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9921" y="1509263"/>
            <a:ext cx="4306290" cy="2656936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37E665B7-9D70-C878-CA9D-07096AB2E8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7380" y="3821898"/>
            <a:ext cx="4920831" cy="3036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7675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>
            <a:extLst>
              <a:ext uri="{FF2B5EF4-FFF2-40B4-BE49-F238E27FC236}">
                <a16:creationId xmlns:a16="http://schemas.microsoft.com/office/drawing/2014/main" id="{EA7E9530-73D5-9BFD-AB02-5FC1D0904756}"/>
              </a:ext>
            </a:extLst>
          </p:cNvPr>
          <p:cNvSpPr txBox="1"/>
          <p:nvPr/>
        </p:nvSpPr>
        <p:spPr>
          <a:xfrm>
            <a:off x="2691442" y="0"/>
            <a:ext cx="6394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 err="1"/>
              <a:t>ggt</a:t>
            </a:r>
            <a:endParaRPr lang="de-DE" sz="2800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2329D263-716D-FB12-DC63-05C18A476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674" y="0"/>
            <a:ext cx="6550325" cy="1543050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55DE5E08-15F1-6193-29E1-264D8E6EEA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23220"/>
            <a:ext cx="5546785" cy="3422308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399517D2-ECF3-7C23-B8A4-0D11ED705D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6462" y="1546306"/>
            <a:ext cx="4428594" cy="2732396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E3A4AD61-36C6-04EE-1EA1-0C6BCA0A7C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4355" y="4125604"/>
            <a:ext cx="4428594" cy="2732396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36533C1C-46AF-74AB-62C9-6DB317CB32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3943" y="3914892"/>
            <a:ext cx="4766632" cy="2940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6354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>
            <a:extLst>
              <a:ext uri="{FF2B5EF4-FFF2-40B4-BE49-F238E27FC236}">
                <a16:creationId xmlns:a16="http://schemas.microsoft.com/office/drawing/2014/main" id="{6567E9E9-6FDE-1047-C114-B687A5C5B59D}"/>
              </a:ext>
            </a:extLst>
          </p:cNvPr>
          <p:cNvSpPr txBox="1"/>
          <p:nvPr/>
        </p:nvSpPr>
        <p:spPr>
          <a:xfrm>
            <a:off x="2691442" y="0"/>
            <a:ext cx="7809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/>
              <a:t>LDH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56ECB97D-E18A-4178-D153-B48F442DAD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7940" y="0"/>
            <a:ext cx="6464060" cy="1171575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0981489B-3FFC-AC15-9E2E-7266E52921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422155"/>
            <a:ext cx="5400136" cy="3331828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9077EB86-9BAF-7C58-919B-8C71AD07F7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3660" y="1171575"/>
            <a:ext cx="5081947" cy="3135508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D33BF1AF-DCD3-2666-060F-7131D412E4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9102" y="4137640"/>
            <a:ext cx="4409086" cy="2720360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B541E005-5804-C2FB-0482-8F47BFCEB6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6788" y="3722490"/>
            <a:ext cx="5081948" cy="3135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593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E9A7C19F-1382-610C-D44B-70AC1079FE9F}"/>
              </a:ext>
            </a:extLst>
          </p:cNvPr>
          <p:cNvSpPr txBox="1"/>
          <p:nvPr/>
        </p:nvSpPr>
        <p:spPr>
          <a:xfrm>
            <a:off x="2691442" y="0"/>
            <a:ext cx="6046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/>
              <a:t>HB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CAE08C49-E6A3-5AB4-3C3E-33729D0657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0"/>
            <a:ext cx="6095999" cy="1504950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C2AC3B8D-5D66-7EF4-FCAF-831B2483EE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523220"/>
            <a:ext cx="5900468" cy="3640527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3975B51E-2D15-3DE3-15CA-C5AB36CEAC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1464" y="4153606"/>
            <a:ext cx="4383207" cy="2704393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6ACBDB75-76F3-352F-9BA0-E77D399842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0860" y="1562452"/>
            <a:ext cx="4150294" cy="2560688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48EDE049-13A2-1783-6829-78DF442599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3017" y="4176447"/>
            <a:ext cx="4383207" cy="2708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4206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>
            <a:extLst>
              <a:ext uri="{FF2B5EF4-FFF2-40B4-BE49-F238E27FC236}">
                <a16:creationId xmlns:a16="http://schemas.microsoft.com/office/drawing/2014/main" id="{36654746-867F-F777-B7CA-CCD047A298D7}"/>
              </a:ext>
            </a:extLst>
          </p:cNvPr>
          <p:cNvSpPr txBox="1"/>
          <p:nvPr/>
        </p:nvSpPr>
        <p:spPr>
          <a:xfrm>
            <a:off x="2691442" y="0"/>
            <a:ext cx="21825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/>
              <a:t>Total Bilirubin</a:t>
            </a:r>
          </a:p>
        </p:txBody>
      </p:sp>
      <p:graphicFrame>
        <p:nvGraphicFramePr>
          <p:cNvPr id="9" name="Tabelle 8">
            <a:extLst>
              <a:ext uri="{FF2B5EF4-FFF2-40B4-BE49-F238E27FC236}">
                <a16:creationId xmlns:a16="http://schemas.microsoft.com/office/drawing/2014/main" id="{96121893-42E9-2E73-7F89-8229D4499B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2918626"/>
              </p:ext>
            </p:extLst>
          </p:nvPr>
        </p:nvGraphicFramePr>
        <p:xfrm>
          <a:off x="6331788" y="0"/>
          <a:ext cx="5860210" cy="1194435"/>
        </p:xfrm>
        <a:graphic>
          <a:graphicData uri="http://schemas.openxmlformats.org/drawingml/2006/table">
            <a:tbl>
              <a:tblPr/>
              <a:tblGrid>
                <a:gridCol w="1172042">
                  <a:extLst>
                    <a:ext uri="{9D8B030D-6E8A-4147-A177-3AD203B41FA5}">
                      <a16:colId xmlns:a16="http://schemas.microsoft.com/office/drawing/2014/main" val="3810106893"/>
                    </a:ext>
                  </a:extLst>
                </a:gridCol>
                <a:gridCol w="1172042">
                  <a:extLst>
                    <a:ext uri="{9D8B030D-6E8A-4147-A177-3AD203B41FA5}">
                      <a16:colId xmlns:a16="http://schemas.microsoft.com/office/drawing/2014/main" val="2433847555"/>
                    </a:ext>
                  </a:extLst>
                </a:gridCol>
                <a:gridCol w="1172042">
                  <a:extLst>
                    <a:ext uri="{9D8B030D-6E8A-4147-A177-3AD203B41FA5}">
                      <a16:colId xmlns:a16="http://schemas.microsoft.com/office/drawing/2014/main" val="1313475854"/>
                    </a:ext>
                  </a:extLst>
                </a:gridCol>
                <a:gridCol w="1172042">
                  <a:extLst>
                    <a:ext uri="{9D8B030D-6E8A-4147-A177-3AD203B41FA5}">
                      <a16:colId xmlns:a16="http://schemas.microsoft.com/office/drawing/2014/main" val="4174125127"/>
                    </a:ext>
                  </a:extLst>
                </a:gridCol>
                <a:gridCol w="1172042">
                  <a:extLst>
                    <a:ext uri="{9D8B030D-6E8A-4147-A177-3AD203B41FA5}">
                      <a16:colId xmlns:a16="http://schemas.microsoft.com/office/drawing/2014/main" val="34410997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de-DE">
                          <a:effectLst/>
                        </a:rPr>
                        <a:t>variable</a:t>
                      </a:r>
                    </a:p>
                    <a:p>
                      <a:pPr algn="l"/>
                      <a:r>
                        <a:rPr lang="de-DE" b="0">
                          <a:effectLst/>
                        </a:rPr>
                        <a:t>&lt;chr&gt;</a:t>
                      </a:r>
                    </a:p>
                  </a:txBody>
                  <a:tcPr marL="57150" marR="57150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>
                          <a:effectLst/>
                        </a:rPr>
                        <a:t>gender</a:t>
                      </a:r>
                    </a:p>
                    <a:p>
                      <a:pPr algn="l"/>
                      <a:r>
                        <a:rPr lang="de-DE" b="0">
                          <a:effectLst/>
                        </a:rPr>
                        <a:t>&lt;chr&gt;</a:t>
                      </a:r>
                    </a:p>
                  </a:txBody>
                  <a:tcPr marL="57150" marR="57150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>
                          <a:effectLst/>
                        </a:rPr>
                        <a:t>statistic</a:t>
                      </a:r>
                    </a:p>
                    <a:p>
                      <a:pPr algn="r"/>
                      <a:r>
                        <a:rPr lang="de-DE" b="0">
                          <a:effectLst/>
                        </a:rPr>
                        <a:t>&lt;dbl&gt;</a:t>
                      </a:r>
                    </a:p>
                  </a:txBody>
                  <a:tcPr marL="57150" marR="57150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>
                          <a:effectLst/>
                        </a:rPr>
                        <a:t>p_value</a:t>
                      </a:r>
                    </a:p>
                    <a:p>
                      <a:pPr algn="r"/>
                      <a:r>
                        <a:rPr lang="de-DE" b="0">
                          <a:effectLst/>
                        </a:rPr>
                        <a:t>&lt;dbl&gt;</a:t>
                      </a:r>
                    </a:p>
                  </a:txBody>
                  <a:tcPr marL="57150" marR="57150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>
                          <a:effectLst/>
                        </a:rPr>
                        <a:t>sample</a:t>
                      </a:r>
                    </a:p>
                    <a:p>
                      <a:pPr algn="r"/>
                      <a:r>
                        <a:rPr lang="de-DE" b="0">
                          <a:effectLst/>
                        </a:rPr>
                        <a:t>&lt;dbl&gt;</a:t>
                      </a:r>
                    </a:p>
                  </a:txBody>
                  <a:tcPr marL="57150" marR="57150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87880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labreads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Female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0.7101301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6.390384e-09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53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05248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labreads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Male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0.8649679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7.714902e-05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46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93604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labreads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Unknown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 i="1">
                          <a:effectLst/>
                        </a:rPr>
                        <a:t>NA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 i="1">
                          <a:effectLst/>
                        </a:rPr>
                        <a:t>NA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 dirty="0">
                          <a:effectLst/>
                        </a:rPr>
                        <a:t>2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4863801"/>
                  </a:ext>
                </a:extLst>
              </a:tr>
            </a:tbl>
          </a:graphicData>
        </a:graphic>
      </p:graphicFrame>
      <p:pic>
        <p:nvPicPr>
          <p:cNvPr id="10" name="Grafik 9">
            <a:extLst>
              <a:ext uri="{FF2B5EF4-FFF2-40B4-BE49-F238E27FC236}">
                <a16:creationId xmlns:a16="http://schemas.microsoft.com/office/drawing/2014/main" id="{3F725396-C2F9-4396-7BF6-B482977A76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23220"/>
            <a:ext cx="5860211" cy="3615689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A40A64E4-F396-E71C-AEB4-E45FBB2FA7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4400" y="3856008"/>
            <a:ext cx="4865547" cy="3001992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6B2F3946-5F80-A067-60C3-93216C6E67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5751" y="1194435"/>
            <a:ext cx="4314196" cy="2661814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73D23821-4015-1B5F-D606-3CBFA1FB29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074" y="4116744"/>
            <a:ext cx="4442953" cy="2741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9054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78D32A56-0CA7-95B2-F8F0-C0083B60CA46}"/>
              </a:ext>
            </a:extLst>
          </p:cNvPr>
          <p:cNvSpPr txBox="1"/>
          <p:nvPr/>
        </p:nvSpPr>
        <p:spPr>
          <a:xfrm>
            <a:off x="2691442" y="0"/>
            <a:ext cx="5790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/>
              <a:t>AP</a:t>
            </a:r>
          </a:p>
        </p:txBody>
      </p:sp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8110D3C6-7260-C8C1-6A52-918E47D15A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1554679"/>
              </p:ext>
            </p:extLst>
          </p:nvPr>
        </p:nvGraphicFramePr>
        <p:xfrm>
          <a:off x="6245524" y="0"/>
          <a:ext cx="5946475" cy="1194435"/>
        </p:xfrm>
        <a:graphic>
          <a:graphicData uri="http://schemas.openxmlformats.org/drawingml/2006/table">
            <a:tbl>
              <a:tblPr/>
              <a:tblGrid>
                <a:gridCol w="1189295">
                  <a:extLst>
                    <a:ext uri="{9D8B030D-6E8A-4147-A177-3AD203B41FA5}">
                      <a16:colId xmlns:a16="http://schemas.microsoft.com/office/drawing/2014/main" val="1565926135"/>
                    </a:ext>
                  </a:extLst>
                </a:gridCol>
                <a:gridCol w="1189295">
                  <a:extLst>
                    <a:ext uri="{9D8B030D-6E8A-4147-A177-3AD203B41FA5}">
                      <a16:colId xmlns:a16="http://schemas.microsoft.com/office/drawing/2014/main" val="1835091271"/>
                    </a:ext>
                  </a:extLst>
                </a:gridCol>
                <a:gridCol w="1189295">
                  <a:extLst>
                    <a:ext uri="{9D8B030D-6E8A-4147-A177-3AD203B41FA5}">
                      <a16:colId xmlns:a16="http://schemas.microsoft.com/office/drawing/2014/main" val="1447578899"/>
                    </a:ext>
                  </a:extLst>
                </a:gridCol>
                <a:gridCol w="1189295">
                  <a:extLst>
                    <a:ext uri="{9D8B030D-6E8A-4147-A177-3AD203B41FA5}">
                      <a16:colId xmlns:a16="http://schemas.microsoft.com/office/drawing/2014/main" val="1739993101"/>
                    </a:ext>
                  </a:extLst>
                </a:gridCol>
                <a:gridCol w="1189295">
                  <a:extLst>
                    <a:ext uri="{9D8B030D-6E8A-4147-A177-3AD203B41FA5}">
                      <a16:colId xmlns:a16="http://schemas.microsoft.com/office/drawing/2014/main" val="113991441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de-DE">
                          <a:effectLst/>
                        </a:rPr>
                        <a:t>variable</a:t>
                      </a:r>
                    </a:p>
                    <a:p>
                      <a:pPr algn="l"/>
                      <a:r>
                        <a:rPr lang="de-DE" b="0">
                          <a:effectLst/>
                        </a:rPr>
                        <a:t>&lt;chr&gt;</a:t>
                      </a:r>
                    </a:p>
                  </a:txBody>
                  <a:tcPr marL="57150" marR="57150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>
                          <a:effectLst/>
                        </a:rPr>
                        <a:t>gender</a:t>
                      </a:r>
                    </a:p>
                    <a:p>
                      <a:pPr algn="l"/>
                      <a:r>
                        <a:rPr lang="de-DE" b="0">
                          <a:effectLst/>
                        </a:rPr>
                        <a:t>&lt;chr&gt;</a:t>
                      </a:r>
                    </a:p>
                  </a:txBody>
                  <a:tcPr marL="57150" marR="57150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>
                          <a:effectLst/>
                        </a:rPr>
                        <a:t>statistic</a:t>
                      </a:r>
                    </a:p>
                    <a:p>
                      <a:pPr algn="r"/>
                      <a:r>
                        <a:rPr lang="de-DE" b="0">
                          <a:effectLst/>
                        </a:rPr>
                        <a:t>&lt;dbl&gt;</a:t>
                      </a:r>
                    </a:p>
                  </a:txBody>
                  <a:tcPr marL="57150" marR="57150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>
                          <a:effectLst/>
                        </a:rPr>
                        <a:t>p_value</a:t>
                      </a:r>
                    </a:p>
                    <a:p>
                      <a:pPr algn="r"/>
                      <a:r>
                        <a:rPr lang="de-DE" b="0">
                          <a:effectLst/>
                        </a:rPr>
                        <a:t>&lt;dbl&gt;</a:t>
                      </a:r>
                    </a:p>
                  </a:txBody>
                  <a:tcPr marL="57150" marR="57150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>
                          <a:effectLst/>
                        </a:rPr>
                        <a:t>sample</a:t>
                      </a:r>
                    </a:p>
                    <a:p>
                      <a:pPr algn="r"/>
                      <a:r>
                        <a:rPr lang="de-DE" b="0">
                          <a:effectLst/>
                        </a:rPr>
                        <a:t>&lt;dbl&gt;</a:t>
                      </a:r>
                    </a:p>
                  </a:txBody>
                  <a:tcPr marL="57150" marR="57150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58980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labreads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Female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0.9026562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2.111096e-04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58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34848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labreads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Male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0.6266958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1.424119e-10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55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94832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labreads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Unknown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0.9668353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8.217987e-01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 dirty="0">
                          <a:effectLst/>
                        </a:rPr>
                        <a:t>4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6953395"/>
                  </a:ext>
                </a:extLst>
              </a:tr>
            </a:tbl>
          </a:graphicData>
        </a:graphic>
      </p:graphicFrame>
      <p:pic>
        <p:nvPicPr>
          <p:cNvPr id="6" name="Grafik 5">
            <a:extLst>
              <a:ext uri="{FF2B5EF4-FFF2-40B4-BE49-F238E27FC236}">
                <a16:creationId xmlns:a16="http://schemas.microsoft.com/office/drawing/2014/main" id="{6F3DFC34-BB43-D5C4-4472-0BA97A365E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448034"/>
            <a:ext cx="5607170" cy="3459565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B531BC08-776A-67E7-B766-3DE0671CB6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7081" y="4132052"/>
            <a:ext cx="4418141" cy="2725947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9A2A329A-EF18-A329-8904-D5A9B5DA99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2068" y="1194435"/>
            <a:ext cx="4726378" cy="2916126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2E6C7643-EC4B-9C65-1CB8-B644E0880F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872128"/>
            <a:ext cx="4839419" cy="2985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9548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>
            <a:extLst>
              <a:ext uri="{FF2B5EF4-FFF2-40B4-BE49-F238E27FC236}">
                <a16:creationId xmlns:a16="http://schemas.microsoft.com/office/drawing/2014/main" id="{0D2E1539-E4ED-FC45-245B-0158B49B690A}"/>
              </a:ext>
            </a:extLst>
          </p:cNvPr>
          <p:cNvSpPr txBox="1"/>
          <p:nvPr/>
        </p:nvSpPr>
        <p:spPr>
          <a:xfrm>
            <a:off x="2691442" y="0"/>
            <a:ext cx="16818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 err="1"/>
              <a:t>Creatinine</a:t>
            </a:r>
            <a:endParaRPr lang="de-DE" sz="2800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4CE998AC-A215-ABAC-95DC-BB565AA6CA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2830" y="0"/>
            <a:ext cx="6369170" cy="1162050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1504DA85-F81D-9D08-3403-001D8DCF76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523220"/>
            <a:ext cx="5408762" cy="3337150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83E7BD81-BA33-7847-515E-58ECA160E7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3267" y="1162050"/>
            <a:ext cx="4548053" cy="2806101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80D267BB-047B-1838-CA51-0EA6B36ED6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7531" y="3968150"/>
            <a:ext cx="4683789" cy="2889849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4C01E5FA-45B7-ACE0-8A7D-2C201A5AF0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1773" y="3832474"/>
            <a:ext cx="4903691" cy="3025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8743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>
            <a:extLst>
              <a:ext uri="{FF2B5EF4-FFF2-40B4-BE49-F238E27FC236}">
                <a16:creationId xmlns:a16="http://schemas.microsoft.com/office/drawing/2014/main" id="{E3399B4B-8EE1-A9BA-C64D-FD2DDF29774D}"/>
              </a:ext>
            </a:extLst>
          </p:cNvPr>
          <p:cNvSpPr txBox="1"/>
          <p:nvPr/>
        </p:nvSpPr>
        <p:spPr>
          <a:xfrm>
            <a:off x="2691442" y="0"/>
            <a:ext cx="7569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/>
              <a:t>CRP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EE694BE1-DCBC-FE01-CAB9-E424F583E2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2445" y="0"/>
            <a:ext cx="6429554" cy="1476375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DE89283B-8431-1ACB-42C6-A1D1263DE6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523220"/>
            <a:ext cx="5693434" cy="3512789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E15578E6-692B-24F5-8D57-48DA5E3DCC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5033" y="1476375"/>
            <a:ext cx="4881203" cy="3016555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0DBB2E27-624D-7833-27D1-2880F2854B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43004" y="4338637"/>
            <a:ext cx="4313118" cy="2519362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09274B78-046C-7D11-D4E8-7F7DA06036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572" y="3997101"/>
            <a:ext cx="4629330" cy="2860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4101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CD020A86-B113-14EC-3B51-A4A1985A189A}"/>
              </a:ext>
            </a:extLst>
          </p:cNvPr>
          <p:cNvSpPr txBox="1"/>
          <p:nvPr/>
        </p:nvSpPr>
        <p:spPr>
          <a:xfrm>
            <a:off x="2691442" y="0"/>
            <a:ext cx="8852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/>
              <a:t>Urea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50E8ABDB-1913-1655-5E55-E88E32C524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0906" y="0"/>
            <a:ext cx="6671094" cy="1171575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D4AD2ACB-6EBF-9022-57D7-844413934A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523220"/>
            <a:ext cx="5365630" cy="3310538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DFB21087-1CC0-744B-F016-867BC5AE45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9268" y="4186493"/>
            <a:ext cx="4332347" cy="2671507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204CE07D-3A4F-6711-5632-F79311DE3C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8166" y="1171576"/>
            <a:ext cx="4904567" cy="3024362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E40A73CB-1A9F-8DF0-4121-F14586E5B7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876" y="3833638"/>
            <a:ext cx="4904567" cy="3024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9996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A0E097E5-8E16-09AD-25C0-681D6BF9AD44}"/>
              </a:ext>
            </a:extLst>
          </p:cNvPr>
          <p:cNvSpPr txBox="1"/>
          <p:nvPr/>
        </p:nvSpPr>
        <p:spPr>
          <a:xfrm>
            <a:off x="2691442" y="0"/>
            <a:ext cx="20188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 err="1"/>
              <a:t>Erythrocytes</a:t>
            </a:r>
            <a:endParaRPr lang="de-DE" sz="2800" dirty="0"/>
          </a:p>
        </p:txBody>
      </p:sp>
      <p:graphicFrame>
        <p:nvGraphicFramePr>
          <p:cNvPr id="9" name="Tabelle 8">
            <a:extLst>
              <a:ext uri="{FF2B5EF4-FFF2-40B4-BE49-F238E27FC236}">
                <a16:creationId xmlns:a16="http://schemas.microsoft.com/office/drawing/2014/main" id="{A193BEDB-C2F4-625E-218D-3DF18CAC45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7128273"/>
              </p:ext>
            </p:extLst>
          </p:nvPr>
        </p:nvGraphicFramePr>
        <p:xfrm>
          <a:off x="6096000" y="0"/>
          <a:ext cx="6096000" cy="1194435"/>
        </p:xfrm>
        <a:graphic>
          <a:graphicData uri="http://schemas.openxmlformats.org/drawingml/2006/table">
            <a:tbl>
              <a:tblPr/>
              <a:tblGrid>
                <a:gridCol w="1219200">
                  <a:extLst>
                    <a:ext uri="{9D8B030D-6E8A-4147-A177-3AD203B41FA5}">
                      <a16:colId xmlns:a16="http://schemas.microsoft.com/office/drawing/2014/main" val="260056328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641008776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75018066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4245358967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87982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de-DE">
                          <a:effectLst/>
                        </a:rPr>
                        <a:t>variable</a:t>
                      </a:r>
                    </a:p>
                    <a:p>
                      <a:pPr algn="l"/>
                      <a:r>
                        <a:rPr lang="de-DE" b="0">
                          <a:effectLst/>
                        </a:rPr>
                        <a:t>&lt;chr&gt;</a:t>
                      </a:r>
                    </a:p>
                  </a:txBody>
                  <a:tcPr marL="57150" marR="57150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>
                          <a:effectLst/>
                        </a:rPr>
                        <a:t>gender</a:t>
                      </a:r>
                    </a:p>
                    <a:p>
                      <a:pPr algn="l"/>
                      <a:r>
                        <a:rPr lang="de-DE" b="0">
                          <a:effectLst/>
                        </a:rPr>
                        <a:t>&lt;chr&gt;</a:t>
                      </a:r>
                    </a:p>
                  </a:txBody>
                  <a:tcPr marL="57150" marR="57150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>
                          <a:effectLst/>
                        </a:rPr>
                        <a:t>statistic</a:t>
                      </a:r>
                    </a:p>
                    <a:p>
                      <a:pPr algn="r"/>
                      <a:r>
                        <a:rPr lang="de-DE" b="0">
                          <a:effectLst/>
                        </a:rPr>
                        <a:t>&lt;dbl&gt;</a:t>
                      </a:r>
                    </a:p>
                  </a:txBody>
                  <a:tcPr marL="57150" marR="57150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>
                          <a:effectLst/>
                        </a:rPr>
                        <a:t>p_value</a:t>
                      </a:r>
                    </a:p>
                    <a:p>
                      <a:pPr algn="r"/>
                      <a:r>
                        <a:rPr lang="de-DE" b="0">
                          <a:effectLst/>
                        </a:rPr>
                        <a:t>&lt;dbl&gt;</a:t>
                      </a:r>
                    </a:p>
                  </a:txBody>
                  <a:tcPr marL="57150" marR="57150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>
                          <a:effectLst/>
                        </a:rPr>
                        <a:t>sample</a:t>
                      </a:r>
                    </a:p>
                    <a:p>
                      <a:pPr algn="r"/>
                      <a:r>
                        <a:rPr lang="de-DE" b="0">
                          <a:effectLst/>
                        </a:rPr>
                        <a:t>&lt;dbl&gt;</a:t>
                      </a:r>
                    </a:p>
                  </a:txBody>
                  <a:tcPr marL="57150" marR="57150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45466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labreads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Female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0.9150230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7.919679e-03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37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91519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labreads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Male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0.7069135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1.723145e-05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23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76779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labreads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Unknown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1.0000000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1.000000e+00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 dirty="0">
                          <a:effectLst/>
                        </a:rPr>
                        <a:t>3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2122387"/>
                  </a:ext>
                </a:extLst>
              </a:tr>
            </a:tbl>
          </a:graphicData>
        </a:graphic>
      </p:graphicFrame>
      <p:pic>
        <p:nvPicPr>
          <p:cNvPr id="10" name="Grafik 9">
            <a:extLst>
              <a:ext uri="{FF2B5EF4-FFF2-40B4-BE49-F238E27FC236}">
                <a16:creationId xmlns:a16="http://schemas.microsoft.com/office/drawing/2014/main" id="{67504B05-728B-8DD5-AFFF-7DDCD7A8BF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657" y="523220"/>
            <a:ext cx="5570778" cy="3437112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1E1B3336-ED3B-F924-93E8-81B76E7709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6024" y="1194435"/>
            <a:ext cx="4737788" cy="2921519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6C444AA2-0F1C-0BFA-837F-9A714E2F71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2838" y="4014846"/>
            <a:ext cx="4562025" cy="2709804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D0BC13DF-3B83-2990-D656-29E586B21F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498" y="3907277"/>
            <a:ext cx="4862692" cy="2950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5521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52FC0051-6E6F-D2B6-7A93-3597C2AFE593}"/>
              </a:ext>
            </a:extLst>
          </p:cNvPr>
          <p:cNvSpPr txBox="1"/>
          <p:nvPr/>
        </p:nvSpPr>
        <p:spPr>
          <a:xfrm>
            <a:off x="2691442" y="0"/>
            <a:ext cx="22735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 err="1"/>
              <a:t>Thrombocytes</a:t>
            </a:r>
            <a:endParaRPr lang="de-DE" sz="2800" dirty="0"/>
          </a:p>
        </p:txBody>
      </p:sp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5FFE450E-411F-437C-5FF3-53D1A3FD4C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1110518"/>
              </p:ext>
            </p:extLst>
          </p:nvPr>
        </p:nvGraphicFramePr>
        <p:xfrm>
          <a:off x="5753818" y="0"/>
          <a:ext cx="6438180" cy="1194435"/>
        </p:xfrm>
        <a:graphic>
          <a:graphicData uri="http://schemas.openxmlformats.org/drawingml/2006/table">
            <a:tbl>
              <a:tblPr/>
              <a:tblGrid>
                <a:gridCol w="1287636">
                  <a:extLst>
                    <a:ext uri="{9D8B030D-6E8A-4147-A177-3AD203B41FA5}">
                      <a16:colId xmlns:a16="http://schemas.microsoft.com/office/drawing/2014/main" val="3783499705"/>
                    </a:ext>
                  </a:extLst>
                </a:gridCol>
                <a:gridCol w="1287636">
                  <a:extLst>
                    <a:ext uri="{9D8B030D-6E8A-4147-A177-3AD203B41FA5}">
                      <a16:colId xmlns:a16="http://schemas.microsoft.com/office/drawing/2014/main" val="2537811142"/>
                    </a:ext>
                  </a:extLst>
                </a:gridCol>
                <a:gridCol w="1287636">
                  <a:extLst>
                    <a:ext uri="{9D8B030D-6E8A-4147-A177-3AD203B41FA5}">
                      <a16:colId xmlns:a16="http://schemas.microsoft.com/office/drawing/2014/main" val="3943968780"/>
                    </a:ext>
                  </a:extLst>
                </a:gridCol>
                <a:gridCol w="1287636">
                  <a:extLst>
                    <a:ext uri="{9D8B030D-6E8A-4147-A177-3AD203B41FA5}">
                      <a16:colId xmlns:a16="http://schemas.microsoft.com/office/drawing/2014/main" val="1470105741"/>
                    </a:ext>
                  </a:extLst>
                </a:gridCol>
                <a:gridCol w="1287636">
                  <a:extLst>
                    <a:ext uri="{9D8B030D-6E8A-4147-A177-3AD203B41FA5}">
                      <a16:colId xmlns:a16="http://schemas.microsoft.com/office/drawing/2014/main" val="2868674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de-DE">
                          <a:effectLst/>
                        </a:rPr>
                        <a:t>variable</a:t>
                      </a:r>
                    </a:p>
                    <a:p>
                      <a:pPr algn="l"/>
                      <a:r>
                        <a:rPr lang="de-DE" b="0">
                          <a:effectLst/>
                        </a:rPr>
                        <a:t>&lt;chr&gt;</a:t>
                      </a:r>
                    </a:p>
                  </a:txBody>
                  <a:tcPr marL="57150" marR="57150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>
                          <a:effectLst/>
                        </a:rPr>
                        <a:t>gender</a:t>
                      </a:r>
                    </a:p>
                    <a:p>
                      <a:pPr algn="l"/>
                      <a:r>
                        <a:rPr lang="de-DE" b="0">
                          <a:effectLst/>
                        </a:rPr>
                        <a:t>&lt;chr&gt;</a:t>
                      </a:r>
                    </a:p>
                  </a:txBody>
                  <a:tcPr marL="57150" marR="57150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>
                          <a:effectLst/>
                        </a:rPr>
                        <a:t>statistic</a:t>
                      </a:r>
                    </a:p>
                    <a:p>
                      <a:pPr algn="r"/>
                      <a:r>
                        <a:rPr lang="de-DE" b="0">
                          <a:effectLst/>
                        </a:rPr>
                        <a:t>&lt;dbl&gt;</a:t>
                      </a:r>
                    </a:p>
                  </a:txBody>
                  <a:tcPr marL="57150" marR="57150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>
                          <a:effectLst/>
                        </a:rPr>
                        <a:t>p_value</a:t>
                      </a:r>
                    </a:p>
                    <a:p>
                      <a:pPr algn="r"/>
                      <a:r>
                        <a:rPr lang="de-DE" b="0">
                          <a:effectLst/>
                        </a:rPr>
                        <a:t>&lt;dbl&gt;</a:t>
                      </a:r>
                    </a:p>
                  </a:txBody>
                  <a:tcPr marL="57150" marR="57150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>
                          <a:effectLst/>
                        </a:rPr>
                        <a:t>sample</a:t>
                      </a:r>
                    </a:p>
                    <a:p>
                      <a:pPr algn="r"/>
                      <a:r>
                        <a:rPr lang="de-DE" b="0">
                          <a:effectLst/>
                        </a:rPr>
                        <a:t>&lt;dbl&gt;</a:t>
                      </a:r>
                    </a:p>
                  </a:txBody>
                  <a:tcPr marL="57150" marR="57150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73857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labreads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Female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0.9548505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0.1114320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40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86854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labreads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Male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0.9535038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0.1682671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33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56515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labreads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Unknown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0.9998684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0.9780939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 dirty="0">
                          <a:effectLst/>
                        </a:rPr>
                        <a:t>3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3908917"/>
                  </a:ext>
                </a:extLst>
              </a:tr>
            </a:tbl>
          </a:graphicData>
        </a:graphic>
      </p:graphicFrame>
      <p:pic>
        <p:nvPicPr>
          <p:cNvPr id="6" name="Grafik 5">
            <a:extLst>
              <a:ext uri="{FF2B5EF4-FFF2-40B4-BE49-F238E27FC236}">
                <a16:creationId xmlns:a16="http://schemas.microsoft.com/office/drawing/2014/main" id="{734697F3-54F9-A2C6-D863-7B3AC29CF5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523220"/>
            <a:ext cx="5443268" cy="3358440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2BB74B3A-D7B1-6A28-F0DC-A9DE1B119A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2234" y="4127980"/>
            <a:ext cx="4427237" cy="273002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469E9838-2E49-BB20-DDB7-73237B32EE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2234" y="1194436"/>
            <a:ext cx="4641909" cy="2862396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73DAE95B-FD6F-3406-EECB-01799A9DCB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408" y="3853753"/>
            <a:ext cx="4871947" cy="3004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5741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feld 5">
            <a:extLst>
              <a:ext uri="{FF2B5EF4-FFF2-40B4-BE49-F238E27FC236}">
                <a16:creationId xmlns:a16="http://schemas.microsoft.com/office/drawing/2014/main" id="{791D8D40-B1CF-AC69-4630-F342944EE961}"/>
              </a:ext>
            </a:extLst>
          </p:cNvPr>
          <p:cNvSpPr txBox="1"/>
          <p:nvPr/>
        </p:nvSpPr>
        <p:spPr>
          <a:xfrm>
            <a:off x="2691442" y="0"/>
            <a:ext cx="18385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 err="1"/>
              <a:t>Hematokrit</a:t>
            </a:r>
            <a:endParaRPr lang="de-DE" sz="2800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9B3DB752-7296-28C0-2D9A-1A4A95EE85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4474" y="0"/>
            <a:ext cx="7007525" cy="1466850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EE8D119B-AAE7-03C1-029A-EE3EB3F9AF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23220"/>
            <a:ext cx="5355773" cy="3304456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B1003F92-9BCE-73FF-7DED-B925A93733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4113390"/>
            <a:ext cx="4450898" cy="274461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72F431B6-A48E-FF2B-2366-EE3DCA784E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5147" y="1466851"/>
            <a:ext cx="4315094" cy="2660868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6E84865F-34B6-3483-1813-89C9F3A9BA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5659" y="3876773"/>
            <a:ext cx="4786673" cy="2951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8870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>
            <a:extLst>
              <a:ext uri="{FF2B5EF4-FFF2-40B4-BE49-F238E27FC236}">
                <a16:creationId xmlns:a16="http://schemas.microsoft.com/office/drawing/2014/main" id="{403B1DAE-1E76-9CA4-F926-6099AA61903F}"/>
              </a:ext>
            </a:extLst>
          </p:cNvPr>
          <p:cNvSpPr txBox="1"/>
          <p:nvPr/>
        </p:nvSpPr>
        <p:spPr>
          <a:xfrm>
            <a:off x="2691442" y="0"/>
            <a:ext cx="12859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/>
              <a:t>Sodium</a:t>
            </a:r>
          </a:p>
        </p:txBody>
      </p:sp>
      <p:graphicFrame>
        <p:nvGraphicFramePr>
          <p:cNvPr id="7" name="Tabelle 6">
            <a:extLst>
              <a:ext uri="{FF2B5EF4-FFF2-40B4-BE49-F238E27FC236}">
                <a16:creationId xmlns:a16="http://schemas.microsoft.com/office/drawing/2014/main" id="{812D6B82-0B7D-1A08-FD94-59A750145F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1694241"/>
              </p:ext>
            </p:extLst>
          </p:nvPr>
        </p:nvGraphicFramePr>
        <p:xfrm>
          <a:off x="5796950" y="0"/>
          <a:ext cx="6404270" cy="1003935"/>
        </p:xfrm>
        <a:graphic>
          <a:graphicData uri="http://schemas.openxmlformats.org/drawingml/2006/table">
            <a:tbl>
              <a:tblPr/>
              <a:tblGrid>
                <a:gridCol w="1280854">
                  <a:extLst>
                    <a:ext uri="{9D8B030D-6E8A-4147-A177-3AD203B41FA5}">
                      <a16:colId xmlns:a16="http://schemas.microsoft.com/office/drawing/2014/main" val="2611870288"/>
                    </a:ext>
                  </a:extLst>
                </a:gridCol>
                <a:gridCol w="1280854">
                  <a:extLst>
                    <a:ext uri="{9D8B030D-6E8A-4147-A177-3AD203B41FA5}">
                      <a16:colId xmlns:a16="http://schemas.microsoft.com/office/drawing/2014/main" val="3522749933"/>
                    </a:ext>
                  </a:extLst>
                </a:gridCol>
                <a:gridCol w="1280854">
                  <a:extLst>
                    <a:ext uri="{9D8B030D-6E8A-4147-A177-3AD203B41FA5}">
                      <a16:colId xmlns:a16="http://schemas.microsoft.com/office/drawing/2014/main" val="1271568821"/>
                    </a:ext>
                  </a:extLst>
                </a:gridCol>
                <a:gridCol w="1280854">
                  <a:extLst>
                    <a:ext uri="{9D8B030D-6E8A-4147-A177-3AD203B41FA5}">
                      <a16:colId xmlns:a16="http://schemas.microsoft.com/office/drawing/2014/main" val="1059574517"/>
                    </a:ext>
                  </a:extLst>
                </a:gridCol>
                <a:gridCol w="1280854">
                  <a:extLst>
                    <a:ext uri="{9D8B030D-6E8A-4147-A177-3AD203B41FA5}">
                      <a16:colId xmlns:a16="http://schemas.microsoft.com/office/drawing/2014/main" val="6960397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de-DE">
                          <a:effectLst/>
                        </a:rPr>
                        <a:t>variable</a:t>
                      </a:r>
                    </a:p>
                    <a:p>
                      <a:pPr algn="l"/>
                      <a:r>
                        <a:rPr lang="de-DE" b="0">
                          <a:effectLst/>
                        </a:rPr>
                        <a:t>&lt;chr&gt;</a:t>
                      </a:r>
                    </a:p>
                  </a:txBody>
                  <a:tcPr marL="57150" marR="57150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>
                          <a:effectLst/>
                        </a:rPr>
                        <a:t>gender</a:t>
                      </a:r>
                    </a:p>
                    <a:p>
                      <a:pPr algn="l"/>
                      <a:r>
                        <a:rPr lang="de-DE" b="0">
                          <a:effectLst/>
                        </a:rPr>
                        <a:t>&lt;chr&gt;</a:t>
                      </a:r>
                    </a:p>
                  </a:txBody>
                  <a:tcPr marL="57150" marR="57150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>
                          <a:effectLst/>
                        </a:rPr>
                        <a:t>statistic</a:t>
                      </a:r>
                    </a:p>
                    <a:p>
                      <a:pPr algn="r"/>
                      <a:r>
                        <a:rPr lang="de-DE" b="0">
                          <a:effectLst/>
                        </a:rPr>
                        <a:t>&lt;dbl&gt;</a:t>
                      </a:r>
                    </a:p>
                  </a:txBody>
                  <a:tcPr marL="57150" marR="57150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>
                          <a:effectLst/>
                        </a:rPr>
                        <a:t>p_value</a:t>
                      </a:r>
                    </a:p>
                    <a:p>
                      <a:pPr algn="r"/>
                      <a:r>
                        <a:rPr lang="de-DE" b="0">
                          <a:effectLst/>
                        </a:rPr>
                        <a:t>&lt;dbl&gt;</a:t>
                      </a:r>
                    </a:p>
                  </a:txBody>
                  <a:tcPr marL="57150" marR="57150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>
                          <a:effectLst/>
                        </a:rPr>
                        <a:t>sample</a:t>
                      </a:r>
                    </a:p>
                    <a:p>
                      <a:pPr algn="r"/>
                      <a:r>
                        <a:rPr lang="de-DE" b="0">
                          <a:effectLst/>
                        </a:rPr>
                        <a:t>&lt;dbl&gt;</a:t>
                      </a:r>
                    </a:p>
                  </a:txBody>
                  <a:tcPr marL="57150" marR="57150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20325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labreads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Female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0.9001351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0.03520439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21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84732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labreads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Male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0.9130235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0.04103897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 dirty="0">
                          <a:effectLst/>
                        </a:rPr>
                        <a:t>24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7944799"/>
                  </a:ext>
                </a:extLst>
              </a:tr>
            </a:tbl>
          </a:graphicData>
        </a:graphic>
      </p:graphicFrame>
      <p:pic>
        <p:nvPicPr>
          <p:cNvPr id="9" name="Grafik 8">
            <a:extLst>
              <a:ext uri="{FF2B5EF4-FFF2-40B4-BE49-F238E27FC236}">
                <a16:creationId xmlns:a16="http://schemas.microsoft.com/office/drawing/2014/main" id="{F0353BD3-E73F-358C-F7EF-1696B66521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1775"/>
            <a:ext cx="5426015" cy="3347795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6FBCC8DD-883F-3761-DC8D-CCB0FD2FB2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4286" y="3819570"/>
            <a:ext cx="4927382" cy="3038430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4614D811-4BBC-4F5A-98B9-6076AF4067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3766" y="1003935"/>
            <a:ext cx="4750638" cy="2780664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C640954E-3BF3-A5E9-8696-0B8E2C2D14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431" y="3812907"/>
            <a:ext cx="4927382" cy="3045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6927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>
            <a:extLst>
              <a:ext uri="{FF2B5EF4-FFF2-40B4-BE49-F238E27FC236}">
                <a16:creationId xmlns:a16="http://schemas.microsoft.com/office/drawing/2014/main" id="{A8FC05CA-203E-3F55-82C7-5E91CAE11747}"/>
              </a:ext>
            </a:extLst>
          </p:cNvPr>
          <p:cNvSpPr txBox="1"/>
          <p:nvPr/>
        </p:nvSpPr>
        <p:spPr>
          <a:xfrm>
            <a:off x="2691442" y="0"/>
            <a:ext cx="16799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/>
              <a:t>Potassium</a:t>
            </a:r>
          </a:p>
        </p:txBody>
      </p:sp>
      <p:graphicFrame>
        <p:nvGraphicFramePr>
          <p:cNvPr id="8" name="Tabelle 7">
            <a:extLst>
              <a:ext uri="{FF2B5EF4-FFF2-40B4-BE49-F238E27FC236}">
                <a16:creationId xmlns:a16="http://schemas.microsoft.com/office/drawing/2014/main" id="{CC680E11-FF86-61C8-6E0B-DC2E04F9AB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6137173"/>
              </p:ext>
            </p:extLst>
          </p:nvPr>
        </p:nvGraphicFramePr>
        <p:xfrm>
          <a:off x="6096000" y="0"/>
          <a:ext cx="6096000" cy="1003935"/>
        </p:xfrm>
        <a:graphic>
          <a:graphicData uri="http://schemas.openxmlformats.org/drawingml/2006/table">
            <a:tbl>
              <a:tblPr/>
              <a:tblGrid>
                <a:gridCol w="1219200">
                  <a:extLst>
                    <a:ext uri="{9D8B030D-6E8A-4147-A177-3AD203B41FA5}">
                      <a16:colId xmlns:a16="http://schemas.microsoft.com/office/drawing/2014/main" val="3447632956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821700796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4104619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621942407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6548005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de-DE">
                          <a:effectLst/>
                        </a:rPr>
                        <a:t>variable</a:t>
                      </a:r>
                    </a:p>
                    <a:p>
                      <a:pPr algn="l"/>
                      <a:r>
                        <a:rPr lang="de-DE" b="0">
                          <a:effectLst/>
                        </a:rPr>
                        <a:t>&lt;chr&gt;</a:t>
                      </a:r>
                    </a:p>
                  </a:txBody>
                  <a:tcPr marL="57150" marR="57150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>
                          <a:effectLst/>
                        </a:rPr>
                        <a:t>gender</a:t>
                      </a:r>
                    </a:p>
                    <a:p>
                      <a:pPr algn="l"/>
                      <a:r>
                        <a:rPr lang="de-DE" b="0">
                          <a:effectLst/>
                        </a:rPr>
                        <a:t>&lt;chr&gt;</a:t>
                      </a:r>
                    </a:p>
                  </a:txBody>
                  <a:tcPr marL="57150" marR="57150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>
                          <a:effectLst/>
                        </a:rPr>
                        <a:t>statistic</a:t>
                      </a:r>
                    </a:p>
                    <a:p>
                      <a:pPr algn="r"/>
                      <a:r>
                        <a:rPr lang="de-DE" b="0">
                          <a:effectLst/>
                        </a:rPr>
                        <a:t>&lt;dbl&gt;</a:t>
                      </a:r>
                    </a:p>
                  </a:txBody>
                  <a:tcPr marL="57150" marR="57150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>
                          <a:effectLst/>
                        </a:rPr>
                        <a:t>p_value</a:t>
                      </a:r>
                    </a:p>
                    <a:p>
                      <a:pPr algn="r"/>
                      <a:r>
                        <a:rPr lang="de-DE" b="0">
                          <a:effectLst/>
                        </a:rPr>
                        <a:t>&lt;dbl&gt;</a:t>
                      </a:r>
                    </a:p>
                  </a:txBody>
                  <a:tcPr marL="57150" marR="57150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>
                          <a:effectLst/>
                        </a:rPr>
                        <a:t>sample</a:t>
                      </a:r>
                    </a:p>
                    <a:p>
                      <a:pPr algn="r"/>
                      <a:r>
                        <a:rPr lang="de-DE" b="0">
                          <a:effectLst/>
                        </a:rPr>
                        <a:t>&lt;dbl&gt;</a:t>
                      </a:r>
                    </a:p>
                  </a:txBody>
                  <a:tcPr marL="57150" marR="57150" marB="285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86326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labreads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Female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0.9105457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0.01768517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29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68896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labreads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000">
                          <a:effectLst/>
                        </a:rPr>
                        <a:t>Male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0.9539643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>
                          <a:effectLst/>
                        </a:rPr>
                        <a:t>0.20061603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de-DE" sz="1000" dirty="0">
                          <a:effectLst/>
                        </a:rPr>
                        <a:t>31</a:t>
                      </a:r>
                    </a:p>
                  </a:txBody>
                  <a:tcPr marL="57150" marR="57150" marT="19050" marB="19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9615373"/>
                  </a:ext>
                </a:extLst>
              </a:tr>
            </a:tbl>
          </a:graphicData>
        </a:graphic>
      </p:graphicFrame>
      <p:pic>
        <p:nvPicPr>
          <p:cNvPr id="9" name="Grafik 8">
            <a:extLst>
              <a:ext uri="{FF2B5EF4-FFF2-40B4-BE49-F238E27FC236}">
                <a16:creationId xmlns:a16="http://schemas.microsoft.com/office/drawing/2014/main" id="{64882631-343E-F804-CA8A-CCAD4D7A92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1967"/>
            <a:ext cx="5296323" cy="3267776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56520ADC-858B-E0C4-BAD5-7A997D6868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5679" y="3752259"/>
            <a:ext cx="5036539" cy="3105741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58973CE6-C7B3-1024-3963-86EEB77BCC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1683" y="1003935"/>
            <a:ext cx="4494964" cy="2771783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4639C178-62F6-1096-11A9-CE43CF1974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6252" y="3752259"/>
            <a:ext cx="5036539" cy="3105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1052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>
            <a:extLst>
              <a:ext uri="{FF2B5EF4-FFF2-40B4-BE49-F238E27FC236}">
                <a16:creationId xmlns:a16="http://schemas.microsoft.com/office/drawing/2014/main" id="{68D3571A-E628-6283-A366-B34B811A5644}"/>
              </a:ext>
            </a:extLst>
          </p:cNvPr>
          <p:cNvSpPr txBox="1"/>
          <p:nvPr/>
        </p:nvSpPr>
        <p:spPr>
          <a:xfrm>
            <a:off x="2691442" y="0"/>
            <a:ext cx="13388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/>
              <a:t>Calcium</a:t>
            </a: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1F566E71-064E-7944-E17A-B8870BD276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2226" y="0"/>
            <a:ext cx="6239774" cy="1152525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AA8CD374-9516-FD37-AD23-B774A0D6F2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8166" y="1236902"/>
            <a:ext cx="4763668" cy="2937477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8FAB5ABF-6E7D-862D-9AF5-334A961F43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8166" y="4090932"/>
            <a:ext cx="4766183" cy="2767068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8889AAED-2DA4-A383-AA25-B2ED834A88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651" y="3830315"/>
            <a:ext cx="4909957" cy="3027685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7ECFB7EC-DB51-1F95-1587-93313CF2FD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523221"/>
            <a:ext cx="5322498" cy="3289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0616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10192C88-A4E9-2789-A6B1-F280CE927F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0468" y="0"/>
            <a:ext cx="6291532" cy="1171575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ECD55094-A276-5980-FE8B-1D9F89C02AF1}"/>
              </a:ext>
            </a:extLst>
          </p:cNvPr>
          <p:cNvSpPr txBox="1"/>
          <p:nvPr/>
        </p:nvSpPr>
        <p:spPr>
          <a:xfrm>
            <a:off x="2691442" y="0"/>
            <a:ext cx="13390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/>
              <a:t>Glucose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C22C46E9-4D7A-1E1F-DDAB-79F6EF5532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85787"/>
            <a:ext cx="5079967" cy="3134286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1B376D52-2DCE-52F6-E1C2-528DD1F36F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6408" y="3920523"/>
            <a:ext cx="4763667" cy="2937477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809F70F1-803A-99A3-7D24-F49C5062FD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8332" y="1171576"/>
            <a:ext cx="4461743" cy="2751298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0F209E0F-7A43-AE12-CF65-113C3479E1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169" y="3725479"/>
            <a:ext cx="5079968" cy="3132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539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380</Words>
  <Application>Microsoft Office PowerPoint</Application>
  <PresentationFormat>Breitbild</PresentationFormat>
  <Paragraphs>257</Paragraphs>
  <Slides>22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lw-r</dc:creator>
  <cp:lastModifiedBy>lw-r</cp:lastModifiedBy>
  <cp:revision>13</cp:revision>
  <dcterms:created xsi:type="dcterms:W3CDTF">2024-09-23T13:36:59Z</dcterms:created>
  <dcterms:modified xsi:type="dcterms:W3CDTF">2024-09-26T18:51:45Z</dcterms:modified>
</cp:coreProperties>
</file>