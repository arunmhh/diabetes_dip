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3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9A7D4-32AB-4DFD-8CA5-323F883D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381CCE-90CB-45CE-A638-A4FFC767B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E92FDC-779B-4D24-BD1B-EA788D93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B1158-B76E-4EA9-94FA-E593D2DA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1CC42-E915-479E-AA88-B0CA022F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64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2C84A-45AE-403B-9EA4-C4E831A3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25C84F-F5B4-4A53-B911-13DFDE13E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22E355-EC12-4D33-AE95-02794819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001AF-E458-4150-8465-A5E7C65E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81DA98-6438-4119-A740-05729F19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58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525B-8515-4487-B28D-4DA03324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B9FCC3-E2C9-4A2F-82B7-2B0F4874F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0A85B2-90D8-4E40-9B48-DB1E072A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F1EE5A-4FF0-4EF0-9AA0-DEBA088D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889DDB-1369-4D7A-99D9-73D46366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17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81726-1949-446C-8A64-389C72D1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2BD6B-81A0-43CB-AE46-9DFED5F95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731FD3-00B8-481E-BFE6-BC191854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5D1BF-6BC2-4D11-A5B5-CF5C8159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A0ABD7-FF55-4F84-816A-04C13C12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79EE20-6D02-47D9-ADBC-19AED957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349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1EB54-C9DA-4B52-A349-C292C916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A251C3-CB44-408F-8DAF-0376768C9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1C834F-EAB5-4FCD-8D6C-9EF4A28AE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587CD7-47C8-412D-96C7-FEA6FDB55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0E16F1-ADEB-494D-BA23-F934CBCB2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25DC33A-E85E-4E9B-9526-9D89289F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214E19-C39E-4562-B869-B2A23308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3750FE-44AE-4B5F-A9D7-E54EE45C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185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F1216-D853-46DA-A984-3FFD367C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E76060-BCC5-449F-AFFC-87013ABA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60CB1B-7D21-43F7-A8AD-6F95A8E1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46F34A-F5B7-42AE-8F7A-31872281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94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525593-4D6D-49B0-83DB-07974616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9E3315-7F95-4D91-B9D1-984A4F38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FA3AFF-F3E4-466B-B300-8E15D02E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84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0C374-E940-4B1F-93AC-15CC59C2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8655F-7E56-45DA-B69D-2BAC75E97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BE9FF9-FB0F-47A5-ADD8-447F35C3C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339868-4A3C-4590-8EAC-1EF8A247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E6726D-FABF-48AA-91EE-06764283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A055BC-D5AB-4040-A139-53EAA44E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4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C78F8-EB86-4E5C-AA3D-574549C1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A1AACE-3860-4742-8159-BDCADF230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DB49B8-BD52-40BF-B798-45F96E0FD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B3F6C8-9DDD-4672-BDE7-18E34785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FB4B48-16EF-4865-986C-A78E5734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913127-F102-4BC1-97AB-F3743875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73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74242-94D9-47A1-B423-1DD60CB8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A6B999-944F-49F3-989A-2BB1ECBF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D23EA-F76E-4EBF-A7E2-023BF426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BCD1F4-7552-41FE-98B4-66FB67E4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648655-B453-4F6A-A3BF-0F9FDA60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09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886B3B-A076-419B-8628-F0E6A820B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21B357-D196-42BF-959A-97A652D52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171113-FBD8-445A-9AE4-06EE1E70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05AD3F-54F3-4849-8D7F-3D082735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5A8185-316A-4DBA-B32F-6BC5A103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53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006436-6D50-461B-BAF4-9531E528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80BBB6-E167-44BB-9754-05DD8777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023C0-E1CB-4D03-9966-3BB967FA1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ADE59-953D-444A-B1EE-56AC52ACAA00}" type="datetimeFigureOut">
              <a:rPr lang="de-DE" smtClean="0"/>
              <a:t>31.08.2021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907CB2-BB00-4FD2-BDB0-BAFBCCE8F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E3375A-7C35-4452-9AE3-AD208705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9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6C6AC-85A6-4AAB-AF88-45B3BA2F2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Stevens-Johnson-Syndrom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A4710-66A9-4BC0-8671-C9746D7C4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05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3FCB8-E2C1-4462-94D0-8A2D023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Allgemeines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4C328-09DF-4951-8CFB-0543E857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Inzidenz: 1,89 Fälle pro 1 000 000 Einwohner pro Jahr in Deutschland 1996 </a:t>
            </a:r>
          </a:p>
          <a:p>
            <a:r>
              <a:rPr lang="de-DE" dirty="0"/>
              <a:t>Einteilung: SJS &lt; 10%, SJS/TEN-Übergangsform = 10-30%, TEN &gt; 30%</a:t>
            </a:r>
          </a:p>
          <a:p>
            <a:r>
              <a:rPr lang="de-DE" dirty="0"/>
              <a:t>Durchschnittliche Letalität: SJS = 1-5%, TEN = 25-35%</a:t>
            </a:r>
          </a:p>
          <a:p>
            <a:r>
              <a:rPr lang="de-DE" dirty="0"/>
              <a:t>Am häufigsten auslösende Arzneimittel: Antiepileptika (60%) &gt; Antibiotika (26,6%) &gt; sonstige (nicht steroidale </a:t>
            </a:r>
            <a:r>
              <a:rPr lang="de-DE" dirty="0" err="1"/>
              <a:t>Anirheumatika</a:t>
            </a:r>
            <a:r>
              <a:rPr lang="de-DE" dirty="0"/>
              <a:t>/ Antiphlogistika, Chemotherapeutika)</a:t>
            </a:r>
          </a:p>
          <a:p>
            <a:r>
              <a:rPr lang="de-DE" dirty="0"/>
              <a:t>SCORTEN-Skala (</a:t>
            </a:r>
            <a:r>
              <a:rPr lang="de-DE" dirty="0" err="1"/>
              <a:t>severity-of-illness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)</a:t>
            </a:r>
          </a:p>
          <a:p>
            <a:r>
              <a:rPr lang="de-DE" dirty="0"/>
              <a:t>Wichtige Parameter (krankheitsspezifische Parameter/ allgemeinmedizinische Parameter)</a:t>
            </a:r>
          </a:p>
        </p:txBody>
      </p:sp>
    </p:spTree>
    <p:extLst>
      <p:ext uri="{BB962C8B-B14F-4D97-AF65-F5344CB8AC3E}">
        <p14:creationId xmlns:p14="http://schemas.microsoft.com/office/powerpoint/2010/main" val="31282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D145ED-4774-4BC4-B46B-CAD8F228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Paracetamolinduziertes</a:t>
            </a:r>
            <a:r>
              <a:rPr lang="de-DE" dirty="0"/>
              <a:t>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4B3766-9C62-49CC-AD7D-9D70BCA70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Kontroverse Datenlage über den Zusammenhang zwischen Paracetamol und SJS/TEN</a:t>
            </a:r>
          </a:p>
          <a:p>
            <a:r>
              <a:rPr lang="de-DE" dirty="0"/>
              <a:t>Ungefähre Inzidenz für Paracetamol und Ibuprofen: 1 pro 1.000.000 neue Nutzer (Packungsbeilage: Sehr selten &lt; 1/10.000)</a:t>
            </a:r>
          </a:p>
          <a:p>
            <a:r>
              <a:rPr lang="de-DE" dirty="0"/>
              <a:t>Anteil von Paracetamol an medikamentös bedingten SJS/TEN: 6,17% - 16,56% (Anteil NSAR: 15,93%)</a:t>
            </a:r>
          </a:p>
          <a:p>
            <a:r>
              <a:rPr lang="de-DE" dirty="0"/>
              <a:t>Odds Ratio für medikamenteninduzierte SJS</a:t>
            </a:r>
          </a:p>
          <a:p>
            <a:pPr lvl="1"/>
            <a:r>
              <a:rPr lang="de-DE" dirty="0"/>
              <a:t>OR für Paracetamol: 3,2 (1,5-6,9) bis 13 (2.8-62)</a:t>
            </a:r>
          </a:p>
          <a:p>
            <a:pPr lvl="1"/>
            <a:r>
              <a:rPr lang="de-DE" dirty="0"/>
              <a:t>OR für Ibuprofen: 3,3 (0,9-11,5) bis 33 (8.6-124)</a:t>
            </a:r>
          </a:p>
          <a:p>
            <a:r>
              <a:rPr lang="de-DE" dirty="0"/>
              <a:t>Mann/Frau -Verhältnis: 51/61</a:t>
            </a:r>
          </a:p>
          <a:p>
            <a:r>
              <a:rPr lang="de-DE" dirty="0"/>
              <a:t>Durchschnittliches Alter der Betroffenen: zwischen 36,9 und 43,9</a:t>
            </a:r>
          </a:p>
          <a:p>
            <a:r>
              <a:rPr lang="de-DE" dirty="0"/>
              <a:t>In den meisten Fällen traten Symptome bereits nach ca. 2 Tagen auf</a:t>
            </a:r>
          </a:p>
          <a:p>
            <a:r>
              <a:rPr lang="de-DE" dirty="0"/>
              <a:t>Marker: IL-2R</a:t>
            </a:r>
            <a:r>
              <a:rPr lang="el-GR" dirty="0"/>
              <a:t>α-</a:t>
            </a:r>
            <a:r>
              <a:rPr lang="de-DE" dirty="0"/>
              <a:t>Level, HLA-A*02:06, HLA-B*13:01, HLA-B*44:03, HLA-C*14:03 </a:t>
            </a:r>
          </a:p>
          <a:p>
            <a:r>
              <a:rPr lang="de-DE" dirty="0"/>
              <a:t>Pathogenese: </a:t>
            </a:r>
            <a:r>
              <a:rPr lang="de-DE" dirty="0" err="1"/>
              <a:t>Paracetamolhaltige</a:t>
            </a:r>
            <a:r>
              <a:rPr lang="de-DE" dirty="0"/>
              <a:t> Arzneimittel könnten entzündungshemmende Mechanismen unterdrücken und zu der abnormalen Immunantwort mit SJS/TEN führen</a:t>
            </a:r>
          </a:p>
        </p:txBody>
      </p:sp>
    </p:spTree>
    <p:extLst>
      <p:ext uri="{BB962C8B-B14F-4D97-AF65-F5344CB8AC3E}">
        <p14:creationId xmlns:p14="http://schemas.microsoft.com/office/powerpoint/2010/main" val="331558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9488A-9E6D-41ED-B24F-7D19F5EA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Ibuprofeninduziertes</a:t>
            </a:r>
            <a:r>
              <a:rPr lang="de-DE" dirty="0"/>
              <a:t>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716BE8-165E-4735-972C-0726C52C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Ungefähre Inzidenz für Paracetamol und Ibuprofen: 1 pro 1.000.000 neue Nutzer (Packungsbeilage: Sehr selten &lt; 1/10.000)</a:t>
            </a:r>
          </a:p>
          <a:p>
            <a:r>
              <a:rPr lang="de-DE" dirty="0"/>
              <a:t>Anteil von Ibuprofen an medikamentös bedingten SJS/TEN: 4,46% - 17,2%</a:t>
            </a:r>
          </a:p>
          <a:p>
            <a:r>
              <a:rPr lang="de-DE" dirty="0"/>
              <a:t>Es traten Fälle von SJS/TEN 8 Tage bis 3 Monate nach </a:t>
            </a:r>
            <a:r>
              <a:rPr lang="de-DE" dirty="0" err="1"/>
              <a:t>Ibuprofeneinnahme</a:t>
            </a:r>
            <a:r>
              <a:rPr lang="de-DE" dirty="0"/>
              <a:t> auf (Durchschnittsalter 8,81 Jahre)</a:t>
            </a:r>
          </a:p>
          <a:p>
            <a:r>
              <a:rPr lang="de-DE" dirty="0"/>
              <a:t>Mann/Frau -Verhältnis: 5/10 Fallberichte</a:t>
            </a:r>
          </a:p>
          <a:p>
            <a:r>
              <a:rPr lang="de-DE" dirty="0"/>
              <a:t>Es traten Fälle im Alter von 7 Monaten bis 22 Jahre auf</a:t>
            </a:r>
          </a:p>
          <a:p>
            <a:r>
              <a:rPr lang="de-DE" dirty="0"/>
              <a:t>Marker: proinflammatorische Zytokine, Fas, </a:t>
            </a:r>
            <a:r>
              <a:rPr lang="de-DE" dirty="0" err="1"/>
              <a:t>Caspase</a:t>
            </a:r>
            <a:r>
              <a:rPr lang="de-DE" dirty="0"/>
              <a:t>-, M30-Antigen-Konzentration, positiver </a:t>
            </a:r>
            <a:r>
              <a:rPr lang="de-DE" dirty="0" err="1"/>
              <a:t>Lymphozytentransformationstest</a:t>
            </a:r>
            <a:r>
              <a:rPr lang="de-DE" dirty="0"/>
              <a:t> auf Ibuprofen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881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328B5-5114-4C2F-9D16-93ADCCBA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Diclofenacinduziertes</a:t>
            </a:r>
            <a:r>
              <a:rPr lang="de-DE" dirty="0"/>
              <a:t>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51BA1C-6530-415E-B731-5B8EFAB03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In einer Kohortenstudie mit 100 Patienten wurden die meisten TEN-Fälle durch </a:t>
            </a:r>
            <a:r>
              <a:rPr lang="de-DE" dirty="0" err="1"/>
              <a:t>Diclofenac</a:t>
            </a:r>
            <a:r>
              <a:rPr lang="de-DE" dirty="0"/>
              <a:t>-Injektionen ausgelöst</a:t>
            </a:r>
          </a:p>
          <a:p>
            <a:r>
              <a:rPr lang="de-DE" dirty="0"/>
              <a:t>Es traten Fälle von SJS/TEN 2 - 6 Tage nach </a:t>
            </a:r>
            <a:r>
              <a:rPr lang="de-DE" dirty="0" err="1"/>
              <a:t>Diclofenaceinnahme</a:t>
            </a:r>
            <a:r>
              <a:rPr lang="de-DE" dirty="0"/>
              <a:t> auf</a:t>
            </a:r>
          </a:p>
          <a:p>
            <a:r>
              <a:rPr lang="de-DE" dirty="0"/>
              <a:t>Mann/Frau -Verhältnis: 2/3 Fallberichte</a:t>
            </a:r>
          </a:p>
          <a:p>
            <a:r>
              <a:rPr lang="de-DE" dirty="0"/>
              <a:t>Es traten Fälle im Alter von 45 - 70 Jahre auf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896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Breitbild</PresentationFormat>
  <Paragraphs>32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Stevens-Johnson-Syndrom</vt:lpstr>
      <vt:lpstr>Allgemeines</vt:lpstr>
      <vt:lpstr>Paracetamolinduziertes SJS</vt:lpstr>
      <vt:lpstr>Ibuprofeninduziertes SJS</vt:lpstr>
      <vt:lpstr>Diclofenacinduziertes SJS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Stevens-Johnson-Syndrom</dc:title>
  <dc:creator>lw-r</dc:creator>
  <cp:lastModifiedBy>lw-r</cp:lastModifiedBy>
  <cp:revision>12</cp:revision>
  <dcterms:created xsi:type="dcterms:W3CDTF">2021-08-28T17:26:14Z</dcterms:created>
  <dcterms:modified xsi:type="dcterms:W3CDTF">2021-08-31T09:21:43Z</dcterms:modified>
</cp:coreProperties>
</file>